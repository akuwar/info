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23888"/>
            <a:ext cx="76200" cy="76200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1123950" y="533400"/>
            <a:ext cx="59249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 AI IN VIRTUAL ASSISTANT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09656" y="533400"/>
            <a:ext cx="2454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2223" y="533400"/>
            <a:ext cx="49594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01 — DISPUTE ASSIST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89226" y="533400"/>
            <a:ext cx="12605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57275"/>
            <a:ext cx="9104376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transaction confusion before it becomes a </a:t>
            </a:r>
            <a:pPr algn="l" indent="0" marL="0">
              <a:lnSpc>
                <a:spcPct val="108000"/>
              </a:lnSpc>
              <a:buNone/>
            </a:pPr>
            <a:r>
              <a:rPr lang="en-US" sz="4350" i="1" spc="-65" kern="0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914400" y="2428875"/>
            <a:ext cx="6923477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3A5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a customer doesn't recognize a charge, the assistant surfaces merchant details, contact info, and prior activity at the same merchant — turning a reflexive claim into an informed decision.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4143375"/>
            <a:ext cx="91043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OPPORTUNITIES BEYOND THE APP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6863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529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9250" y="47434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Cross-channel reuse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619250" y="51244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 intelligence in online banking, IVR, branch banker tools, and contact-center agent assist.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62600" y="46863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5" name="Text 13"/>
          <p:cNvSpPr/>
          <p:nvPr/>
        </p:nvSpPr>
        <p:spPr>
          <a:xfrm>
            <a:off x="5562600" y="47529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7450" y="47434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Call &amp; claim deflection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267450" y="51244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 unnecessary claim filings, handle time, and downstream operational processing.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37222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438900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19250" y="642937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Fraud signal uplift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19250" y="681037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Legitimate disputes get filed faster and cleaner; true fraud is isolated earlier.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62600" y="637222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23" name="Text 21"/>
          <p:cNvSpPr/>
          <p:nvPr/>
        </p:nvSpPr>
        <p:spPr>
          <a:xfrm>
            <a:off x="5562600" y="6438900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7450" y="642937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reusability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267450" y="681037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single merchant-enrichment service feeds statements, alerts, search, and servicing.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115800" y="1057275"/>
            <a:ext cx="3657600" cy="7277100"/>
          </a:xfrm>
          <a:prstGeom prst="roundRect">
            <a:avLst>
              <a:gd name="adj" fmla="val 13021"/>
            </a:avLst>
          </a:prstGeom>
          <a:solidFill>
            <a:srgbClr val="0E1B2C"/>
          </a:solidFill>
          <a:ln/>
          <a:effectLst>
            <a:outerShdw sx="100000" sy="100000" kx="0" ky="0" algn="bl" rotWithShape="0" blurRad="762000" dist="381000" dir="5400000">
              <a:srgbClr val="0E1B2C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230100" y="1171575"/>
            <a:ext cx="3429000" cy="7048500"/>
          </a:xfrm>
          <a:prstGeom prst="roundRect">
            <a:avLst>
              <a:gd name="adj" fmla="val 11667"/>
            </a:avLst>
          </a:prstGeom>
          <a:solidFill>
            <a:srgbClr val="F6F2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2230100" y="2767013"/>
            <a:ext cx="3429000" cy="723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1075" y="3033713"/>
            <a:ext cx="184547" cy="1905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690872" y="2871788"/>
            <a:ext cx="193724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PLACEHOLDER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928104" y="3681413"/>
            <a:ext cx="210904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 Assist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12809041" y="4281488"/>
            <a:ext cx="227111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 RECORDING OF THE IN-APP FEATURE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3573125" y="5881688"/>
            <a:ext cx="742950" cy="742950"/>
          </a:xfrm>
          <a:prstGeom prst="ellipse">
            <a:avLst/>
          </a:prstGeom>
          <a:solidFill>
            <a:srgbClr val="0E1B2C"/>
          </a:solidFill>
          <a:ln/>
          <a:effectLst>
            <a:outerShdw sx="100000" sy="100000" kx="0" ky="0" algn="bl" rotWithShape="0" blurRad="285750" dist="95250" dir="5400000">
              <a:srgbClr val="0E1B2C">
                <a:alpha val="50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0" y="6119813"/>
            <a:ext cx="266700" cy="2667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412730" y="8486775"/>
            <a:ext cx="706374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DEMO · VIRTUAL ASSISTANT (MOBILE)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914400" y="9267825"/>
            <a:ext cx="16459200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37" name="Text 33"/>
          <p:cNvSpPr/>
          <p:nvPr/>
        </p:nvSpPr>
        <p:spPr>
          <a:xfrm>
            <a:off x="16189375" y="94869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23888"/>
            <a:ext cx="76200" cy="76200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1123950" y="533400"/>
            <a:ext cx="59249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 AI IN VIRTUAL ASSISTANT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09656" y="533400"/>
            <a:ext cx="2454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2223" y="533400"/>
            <a:ext cx="45920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02 — DAILY DIGEST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89226" y="533400"/>
            <a:ext cx="12605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57275"/>
            <a:ext cx="9104376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customers one place to see what </a:t>
            </a:r>
            <a:pPr algn="l" indent="0" marL="0">
              <a:lnSpc>
                <a:spcPct val="108000"/>
              </a:lnSpc>
              <a:buNone/>
            </a:pPr>
            <a:r>
              <a:rPr lang="en-US" sz="4350" i="1" spc="-65" kern="0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their finances.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914400" y="2428875"/>
            <a:ext cx="692347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3A5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personalized summary of pattern changes, unusual activity, upcoming transactions, alerts, and rewards — so customers stay ahead of their money without hunting across screens.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3790950"/>
            <a:ext cx="91043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OPPORTUNITIES BEYOND THE APP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33387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00550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9250" y="439102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Cross-channel reuse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619250" y="477202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Render the same digest on web, voice ("what's new?"), branch screens, and agent desktops.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62600" y="433387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5" name="Text 13"/>
          <p:cNvSpPr/>
          <p:nvPr/>
        </p:nvSpPr>
        <p:spPr>
          <a:xfrm>
            <a:off x="5562600" y="4400550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7450" y="439102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Proactive outreach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267450" y="477202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Push, email, and SMS summaries turn a pull experience into a timely, personalized nudge.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0198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0864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19250" y="60769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Personalization &amp; cross-sell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19250" y="64579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Context (spend shifts, rewards, upcoming bills) surfaces relevant products and offers in-moment.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62600" y="60198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23" name="Text 21"/>
          <p:cNvSpPr/>
          <p:nvPr/>
        </p:nvSpPr>
        <p:spPr>
          <a:xfrm>
            <a:off x="5562600" y="6086475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7450" y="60769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CSAT &amp; engagement lift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267450" y="64579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single, clear view reduces cognitive load and deepens everyday digital engagement.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115800" y="1057275"/>
            <a:ext cx="3657600" cy="7277100"/>
          </a:xfrm>
          <a:prstGeom prst="roundRect">
            <a:avLst>
              <a:gd name="adj" fmla="val 13021"/>
            </a:avLst>
          </a:prstGeom>
          <a:solidFill>
            <a:srgbClr val="0E1B2C"/>
          </a:solidFill>
          <a:ln/>
          <a:effectLst>
            <a:outerShdw sx="100000" sy="100000" kx="0" ky="0" algn="bl" rotWithShape="0" blurRad="762000" dist="381000" dir="5400000">
              <a:srgbClr val="0E1B2C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230100" y="1171575"/>
            <a:ext cx="3429000" cy="7048500"/>
          </a:xfrm>
          <a:prstGeom prst="roundRect">
            <a:avLst>
              <a:gd name="adj" fmla="val 11667"/>
            </a:avLst>
          </a:prstGeom>
          <a:solidFill>
            <a:srgbClr val="F6F2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2230100" y="2767013"/>
            <a:ext cx="3429000" cy="723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1075" y="3033713"/>
            <a:ext cx="184547" cy="1905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690872" y="2871788"/>
            <a:ext cx="193724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PLACEHOLDER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079909" y="3681413"/>
            <a:ext cx="180543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Digest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12809041" y="4281488"/>
            <a:ext cx="227111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 RECORDING OF THE IN-APP FEATURE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3573125" y="5881688"/>
            <a:ext cx="742950" cy="742950"/>
          </a:xfrm>
          <a:prstGeom prst="ellipse">
            <a:avLst/>
          </a:prstGeom>
          <a:solidFill>
            <a:srgbClr val="0E1B2C"/>
          </a:solidFill>
          <a:ln/>
          <a:effectLst>
            <a:outerShdw sx="100000" sy="100000" kx="0" ky="0" algn="bl" rotWithShape="0" blurRad="285750" dist="95250" dir="5400000">
              <a:srgbClr val="0E1B2C">
                <a:alpha val="50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0" y="6119813"/>
            <a:ext cx="266700" cy="2667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412730" y="8486775"/>
            <a:ext cx="706374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DEMO · VIRTUAL ASSISTANT (MOBILE)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914400" y="9267825"/>
            <a:ext cx="16459200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37" name="Text 33"/>
          <p:cNvSpPr/>
          <p:nvPr/>
        </p:nvSpPr>
        <p:spPr>
          <a:xfrm>
            <a:off x="16189375" y="94869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2026-04-19T18:34:46Z</dcterms:created>
  <dcterms:modified xsi:type="dcterms:W3CDTF">2026-04-19T18:34:46Z</dcterms:modified>
</cp:coreProperties>
</file>