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44077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216" kern="0" dirty="0">
                <a:solidFill>
                  <a:srgbClr val="4A4E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 &amp; ML PLATFORM · TECHNICAL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996071" y="838200"/>
            <a:ext cx="24537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216" kern="0" dirty="0">
                <a:solidFill>
                  <a:srgbClr val="4A4E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/ DRAFT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928938"/>
            <a:ext cx="15206662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08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Validating </a:t>
            </a:r>
            <a:pPr algn="l" indent="0" marL="0">
              <a:lnSpc>
                <a:spcPct val="100000"/>
              </a:lnSpc>
              <a:buNone/>
            </a:pPr>
            <a:r>
              <a:rPr lang="en-US" sz="7200" i="1" spc="-108" kern="0" dirty="0">
                <a:solidFill>
                  <a:srgbClr val="2F4A6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LLM-generated </a:t>
            </a:r>
            <a:pPr algn="l" indent="0" marL="0">
              <a:lnSpc>
                <a:spcPct val="100000"/>
              </a:lnSpc>
              <a:buNone/>
            </a:pPr>
            <a:r>
              <a:rPr lang="en-US" sz="7200" spc="-108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merchant URLs.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5024438"/>
            <a:ext cx="1275397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850" i="1" dirty="0">
                <a:solidFill>
                  <a:srgbClr val="4A4E5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tiered technical framework to mitigate inaccurate and malicious links surfaced by our merchant-extraction model.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7943850"/>
            <a:ext cx="5130701" cy="9525"/>
          </a:xfrm>
          <a:prstGeom prst="rect">
            <a:avLst/>
          </a:prstGeom>
          <a:solidFill>
            <a:srgbClr val="C9C3B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8143875"/>
            <a:ext cx="52846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8429625"/>
            <a:ext cx="528462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spc="-27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wrong URL is worse than no URL.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8953500"/>
            <a:ext cx="528462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Hallucinated, stale, or look-alike domains can route customers into phishing, malware, or fraud.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578501" y="7943850"/>
            <a:ext cx="5130850" cy="9525"/>
          </a:xfrm>
          <a:prstGeom prst="rect">
            <a:avLst/>
          </a:prstGeom>
          <a:solidFill>
            <a:srgbClr val="C9C3B2"/>
          </a:solidFill>
          <a:ln/>
        </p:spPr>
      </p:sp>
      <p:sp>
        <p:nvSpPr>
          <p:cNvPr id="11" name="Text 9"/>
          <p:cNvSpPr/>
          <p:nvPr/>
        </p:nvSpPr>
        <p:spPr>
          <a:xfrm>
            <a:off x="6578501" y="8143875"/>
            <a:ext cx="52847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CONSTRAINT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78501" y="8429625"/>
            <a:ext cx="52847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spc="-27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Asymmetric failure cost.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578501" y="8953500"/>
            <a:ext cx="52847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bad URL dominates many missing ones. Latency, cost, and PII handling all bound the design.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2242750" y="7943850"/>
            <a:ext cx="5130701" cy="9525"/>
          </a:xfrm>
          <a:prstGeom prst="rect">
            <a:avLst/>
          </a:prstGeom>
          <a:solidFill>
            <a:srgbClr val="C9C3B2"/>
          </a:solidFill>
          <a:ln/>
        </p:spPr>
      </p:sp>
      <p:sp>
        <p:nvSpPr>
          <p:cNvPr id="15" name="Text 13"/>
          <p:cNvSpPr/>
          <p:nvPr/>
        </p:nvSpPr>
        <p:spPr>
          <a:xfrm>
            <a:off x="12242750" y="8143875"/>
            <a:ext cx="52846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RECOMMENDATION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242750" y="8429625"/>
            <a:ext cx="528462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spc="-27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Tiered defense-in-depth.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242750" y="8953500"/>
            <a:ext cx="528462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Cheap structural checks first, expensive verification only when needed, confidence routing at the seam.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9686925"/>
            <a:ext cx="3949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URL VALIDATION STRATEGY · MAY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584067" y="9686925"/>
            <a:ext cx="86573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05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19100"/>
            <a:ext cx="284833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</a:t>
            </a:r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STRATEGIES CONSIDERED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779675" y="419100"/>
            <a:ext cx="26717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URL VALIDATION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838200"/>
            <a:ext cx="169529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216" kern="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THREE VIABLE ARCHITECTURES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66825"/>
            <a:ext cx="169529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spc="-45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Compared head-to-head, the recommendation falls out.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14400" y="3095625"/>
            <a:ext cx="1975098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" name="Shape 5"/>
          <p:cNvSpPr/>
          <p:nvPr/>
        </p:nvSpPr>
        <p:spPr>
          <a:xfrm>
            <a:off x="2889498" y="3095625"/>
            <a:ext cx="4773067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" name="Text 6"/>
          <p:cNvSpPr/>
          <p:nvPr/>
        </p:nvSpPr>
        <p:spPr>
          <a:xfrm>
            <a:off x="3099048" y="2247900"/>
            <a:ext cx="44845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STRATEGY 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99048" y="2581275"/>
            <a:ext cx="23344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spc="-11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Multi-layer defense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7662565" y="3095625"/>
            <a:ext cx="4773216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Text 9"/>
          <p:cNvSpPr/>
          <p:nvPr/>
        </p:nvSpPr>
        <p:spPr>
          <a:xfrm>
            <a:off x="7872115" y="2247900"/>
            <a:ext cx="44847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STRATEGY 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72115" y="2581275"/>
            <a:ext cx="233397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spc="-11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Fast-fail + sampling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435780" y="3095625"/>
            <a:ext cx="4937820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" name="Text 12"/>
          <p:cNvSpPr/>
          <p:nvPr/>
        </p:nvSpPr>
        <p:spPr>
          <a:xfrm>
            <a:off x="12645330" y="2247900"/>
            <a:ext cx="465428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B85B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STRATEGY 03 — HYBRID · RECOMMENDED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645330" y="2581275"/>
            <a:ext cx="39084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spc="-11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Knowledge base + tiered defense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4124325"/>
            <a:ext cx="197509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17" name="Text 15"/>
          <p:cNvSpPr/>
          <p:nvPr/>
        </p:nvSpPr>
        <p:spPr>
          <a:xfrm>
            <a:off x="1123950" y="3357563"/>
            <a:ext cx="1632198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89498" y="4124325"/>
            <a:ext cx="4773067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19" name="Text 17"/>
          <p:cNvSpPr/>
          <p:nvPr/>
        </p:nvSpPr>
        <p:spPr>
          <a:xfrm>
            <a:off x="3099048" y="3319462"/>
            <a:ext cx="4497159" cy="633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Cascade structural, reputation, DNS/SSL, HTTP, and KB checks on every URL.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662565" y="4124325"/>
            <a:ext cx="4773216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21" name="Text 19"/>
          <p:cNvSpPr/>
          <p:nvPr/>
        </p:nvSpPr>
        <p:spPr>
          <a:xfrm>
            <a:off x="7872115" y="3319462"/>
            <a:ext cx="4497312" cy="633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Basic checks on 100%; deep validation on a 5–10% sample plus flagged items.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2435780" y="3109913"/>
            <a:ext cx="4937820" cy="1023938"/>
          </a:xfrm>
          <a:prstGeom prst="rect">
            <a:avLst/>
          </a:prstGeom>
          <a:solidFill>
            <a:srgbClr val="EDE9DE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780" y="4124325"/>
            <a:ext cx="493782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24" name="Text 22"/>
          <p:cNvSpPr/>
          <p:nvPr/>
        </p:nvSpPr>
        <p:spPr>
          <a:xfrm>
            <a:off x="12645330" y="3319462"/>
            <a:ext cx="4666854" cy="633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Tiered system with a growing allowlist; deep checks only when needed.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14400" y="5143500"/>
            <a:ext cx="197509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26" name="Text 24"/>
          <p:cNvSpPr/>
          <p:nvPr/>
        </p:nvSpPr>
        <p:spPr>
          <a:xfrm>
            <a:off x="1123950" y="4381500"/>
            <a:ext cx="163219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89498" y="5143500"/>
            <a:ext cx="4773067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28" name="Text 26"/>
          <p:cNvSpPr/>
          <p:nvPr/>
        </p:nvSpPr>
        <p:spPr>
          <a:xfrm>
            <a:off x="3099048" y="4343400"/>
            <a:ext cx="449715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Highest—catches multiple failure modes.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662565" y="5143500"/>
            <a:ext cx="4773216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30" name="Text 28"/>
          <p:cNvSpPr/>
          <p:nvPr/>
        </p:nvSpPr>
        <p:spPr>
          <a:xfrm>
            <a:off x="7872115" y="4343400"/>
            <a:ext cx="449731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Good on flagged items; statistical coverage on the rest.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2435780" y="4133850"/>
            <a:ext cx="4937820" cy="1019175"/>
          </a:xfrm>
          <a:prstGeom prst="rect">
            <a:avLst/>
          </a:prstGeom>
          <a:solidFill>
            <a:srgbClr val="EDE9DE"/>
          </a:solidFill>
          <a:ln/>
        </p:spPr>
      </p:sp>
      <p:sp>
        <p:nvSpPr>
          <p:cNvPr id="32" name="Shape 30"/>
          <p:cNvSpPr/>
          <p:nvPr/>
        </p:nvSpPr>
        <p:spPr>
          <a:xfrm>
            <a:off x="12435780" y="5143500"/>
            <a:ext cx="493782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33" name="Text 31"/>
          <p:cNvSpPr/>
          <p:nvPr/>
        </p:nvSpPr>
        <p:spPr>
          <a:xfrm>
            <a:off x="12645330" y="4343400"/>
            <a:ext cx="466685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High—defense-in-depth where it matters.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914400" y="6162675"/>
            <a:ext cx="197509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35" name="Text 33"/>
          <p:cNvSpPr/>
          <p:nvPr/>
        </p:nvSpPr>
        <p:spPr>
          <a:xfrm>
            <a:off x="1123950" y="5400675"/>
            <a:ext cx="163219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LATENCY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889498" y="6162675"/>
            <a:ext cx="4773067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37" name="Text 35"/>
          <p:cNvSpPr/>
          <p:nvPr/>
        </p:nvSpPr>
        <p:spPr>
          <a:xfrm>
            <a:off x="3099048" y="5362575"/>
            <a:ext cx="449715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Highest. Multiple network calls per URL.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7662565" y="6162675"/>
            <a:ext cx="4773216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39" name="Text 37"/>
          <p:cNvSpPr/>
          <p:nvPr/>
        </p:nvSpPr>
        <p:spPr>
          <a:xfrm>
            <a:off x="7872115" y="5362575"/>
            <a:ext cx="449731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Lowest on average; deep path is slow.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2435780" y="5153025"/>
            <a:ext cx="4937820" cy="1019175"/>
          </a:xfrm>
          <a:prstGeom prst="rect">
            <a:avLst/>
          </a:prstGeom>
          <a:solidFill>
            <a:srgbClr val="EDE9DE"/>
          </a:solidFill>
          <a:ln/>
        </p:spPr>
      </p:sp>
      <p:sp>
        <p:nvSpPr>
          <p:cNvPr id="41" name="Shape 39"/>
          <p:cNvSpPr/>
          <p:nvPr/>
        </p:nvSpPr>
        <p:spPr>
          <a:xfrm>
            <a:off x="12435780" y="6162675"/>
            <a:ext cx="493782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42" name="Text 40"/>
          <p:cNvSpPr/>
          <p:nvPr/>
        </p:nvSpPr>
        <p:spPr>
          <a:xfrm>
            <a:off x="12645330" y="5362575"/>
            <a:ext cx="466685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 at steady state. Allowlist hits return in &lt; 100 ms.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914400" y="6886575"/>
            <a:ext cx="197509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44" name="Text 42"/>
          <p:cNvSpPr/>
          <p:nvPr/>
        </p:nvSpPr>
        <p:spPr>
          <a:xfrm>
            <a:off x="1123950" y="6419850"/>
            <a:ext cx="16321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COST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889498" y="6886575"/>
            <a:ext cx="4773067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46" name="Text 44"/>
          <p:cNvSpPr/>
          <p:nvPr/>
        </p:nvSpPr>
        <p:spPr>
          <a:xfrm>
            <a:off x="3099048" y="6381750"/>
            <a:ext cx="44971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Highest. Many external APIs.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7662565" y="6886575"/>
            <a:ext cx="4773216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48" name="Text 46"/>
          <p:cNvSpPr/>
          <p:nvPr/>
        </p:nvSpPr>
        <p:spPr>
          <a:xfrm>
            <a:off x="7872115" y="6381750"/>
            <a:ext cx="44973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Lowest. Sampling caps external spend.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2435780" y="6172200"/>
            <a:ext cx="4937820" cy="723900"/>
          </a:xfrm>
          <a:prstGeom prst="rect">
            <a:avLst/>
          </a:prstGeom>
          <a:solidFill>
            <a:srgbClr val="EDE9DE"/>
          </a:solidFill>
          <a:ln/>
        </p:spPr>
      </p:sp>
      <p:sp>
        <p:nvSpPr>
          <p:cNvPr id="50" name="Shape 48"/>
          <p:cNvSpPr/>
          <p:nvPr/>
        </p:nvSpPr>
        <p:spPr>
          <a:xfrm>
            <a:off x="12435780" y="6886575"/>
            <a:ext cx="493782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51" name="Text 49"/>
          <p:cNvSpPr/>
          <p:nvPr/>
        </p:nvSpPr>
        <p:spPr>
          <a:xfrm>
            <a:off x="12645330" y="6381750"/>
            <a:ext cx="46668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Bounded. Cost shrinks as allowlist grows.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914400" y="7905750"/>
            <a:ext cx="197509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53" name="Text 51"/>
          <p:cNvSpPr/>
          <p:nvPr/>
        </p:nvSpPr>
        <p:spPr>
          <a:xfrm>
            <a:off x="1123950" y="7143750"/>
            <a:ext cx="163219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MATURITY CURVE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889498" y="7905750"/>
            <a:ext cx="4773067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55" name="Text 53"/>
          <p:cNvSpPr/>
          <p:nvPr/>
        </p:nvSpPr>
        <p:spPr>
          <a:xfrm>
            <a:off x="3099048" y="7105650"/>
            <a:ext cx="449715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Flat. Same cost on day 90 as day 1.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7662565" y="7905750"/>
            <a:ext cx="4773216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57" name="Text 55"/>
          <p:cNvSpPr/>
          <p:nvPr/>
        </p:nvSpPr>
        <p:spPr>
          <a:xfrm>
            <a:off x="7872115" y="7105650"/>
            <a:ext cx="449731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Flat, with sampling-strategy debt.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12435780" y="6896100"/>
            <a:ext cx="4937820" cy="1019175"/>
          </a:xfrm>
          <a:prstGeom prst="rect">
            <a:avLst/>
          </a:prstGeom>
          <a:solidFill>
            <a:srgbClr val="EDE9DE"/>
          </a:solidFill>
          <a:ln/>
        </p:spPr>
      </p:sp>
      <p:sp>
        <p:nvSpPr>
          <p:cNvPr id="59" name="Shape 57"/>
          <p:cNvSpPr/>
          <p:nvPr/>
        </p:nvSpPr>
        <p:spPr>
          <a:xfrm>
            <a:off x="12435780" y="7905750"/>
            <a:ext cx="493782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60" name="Text 58"/>
          <p:cNvSpPr/>
          <p:nvPr/>
        </p:nvSpPr>
        <p:spPr>
          <a:xfrm>
            <a:off x="12645330" y="7105650"/>
            <a:ext cx="466685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Improves over time as the merchant graph matures.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914400" y="8920163"/>
            <a:ext cx="1975098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Text 60"/>
          <p:cNvSpPr/>
          <p:nvPr/>
        </p:nvSpPr>
        <p:spPr>
          <a:xfrm>
            <a:off x="1123950" y="8162925"/>
            <a:ext cx="1632198" cy="585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RISK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889498" y="8920163"/>
            <a:ext cx="4773067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Text 62"/>
          <p:cNvSpPr/>
          <p:nvPr/>
        </p:nvSpPr>
        <p:spPr>
          <a:xfrm>
            <a:off x="3099048" y="8124825"/>
            <a:ext cx="4497159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Operational complexity; API sprawl.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7662565" y="8920163"/>
            <a:ext cx="4773216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6" name="Text 64"/>
          <p:cNvSpPr/>
          <p:nvPr/>
        </p:nvSpPr>
        <p:spPr>
          <a:xfrm>
            <a:off x="7872115" y="8124825"/>
            <a:ext cx="4497312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Misses malicious URLs in the unsampled 90%.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12435780" y="7915275"/>
            <a:ext cx="4937820" cy="1019175"/>
          </a:xfrm>
          <a:prstGeom prst="rect">
            <a:avLst/>
          </a:prstGeom>
          <a:solidFill>
            <a:srgbClr val="EDE9DE"/>
          </a:solidFill>
          <a:ln/>
        </p:spPr>
      </p:sp>
      <p:sp>
        <p:nvSpPr>
          <p:cNvPr id="68" name="Shape 66"/>
          <p:cNvSpPr/>
          <p:nvPr/>
        </p:nvSpPr>
        <p:spPr>
          <a:xfrm>
            <a:off x="12435780" y="8920163"/>
            <a:ext cx="4937820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9" name="Text 67"/>
          <p:cNvSpPr/>
          <p:nvPr/>
        </p:nvSpPr>
        <p:spPr>
          <a:xfrm>
            <a:off x="12645330" y="8124825"/>
            <a:ext cx="4666854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Cold start; mitigated by Phase 1 allowlist seeding.</a:t>
            </a:r>
            <a:endParaRPr lang="en-US" sz="1650" dirty="0"/>
          </a:p>
        </p:txBody>
      </p:sp>
      <p:sp>
        <p:nvSpPr>
          <p:cNvPr id="70" name="Text 68"/>
          <p:cNvSpPr/>
          <p:nvPr/>
        </p:nvSpPr>
        <p:spPr>
          <a:xfrm>
            <a:off x="914400" y="9686925"/>
            <a:ext cx="26717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URL VALIDATION STRATEGY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6584067" y="9686925"/>
            <a:ext cx="86573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19100"/>
            <a:ext cx="319677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</a:t>
            </a:r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RECOMMENDED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779675" y="419100"/>
            <a:ext cx="26717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URL VALIDATION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838200"/>
            <a:ext cx="169529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216" kern="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1 &amp; TIER 2 · SYNCHRONOUS 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66825"/>
            <a:ext cx="16952976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spc="-45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Cheap structural checks first; expensive verification only when needed.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14400" y="2962275"/>
            <a:ext cx="7962900" cy="1905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81350"/>
            <a:ext cx="221902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01 · IMMEDIATE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9640" y="3114675"/>
            <a:ext cx="40145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 100 ms · runs on 100% of URLs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3581400"/>
            <a:ext cx="820178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Fast structural &amp; list checks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4714875"/>
            <a:ext cx="796290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62450"/>
            <a:ext cx="1981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13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FORMAT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048000" y="4295775"/>
            <a:ext cx="60041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Schema, TLD, length, no obviously malformed input.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14400" y="5276850"/>
            <a:ext cx="796290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924425"/>
            <a:ext cx="1981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13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BLOCKLIST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3048000" y="4857750"/>
            <a:ext cx="60041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Match against threat-intel feeds (URLhaus, internal IOCs).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14400" y="6124575"/>
            <a:ext cx="796290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486400"/>
            <a:ext cx="1981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13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ALLOWLIST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3048000" y="5419725"/>
            <a:ext cx="60041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Match against verified merchant-URL database—hit returns PASS.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14400" y="6334125"/>
            <a:ext cx="1981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13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HEURISTICS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3048000" y="6267450"/>
            <a:ext cx="60041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Raw IPs, excessive subdomains, look-alike characters, suspicious TLDs.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410700" y="2962275"/>
            <a:ext cx="7962900" cy="1905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2" name="Text 20"/>
          <p:cNvSpPr/>
          <p:nvPr/>
        </p:nvSpPr>
        <p:spPr>
          <a:xfrm>
            <a:off x="9410700" y="3181350"/>
            <a:ext cx="210621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02 · VERIFIED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098661" y="3114675"/>
            <a:ext cx="44031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1–3 s · runs on the unknown subset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410700" y="3581400"/>
            <a:ext cx="820178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Automated verification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9410700" y="4714875"/>
            <a:ext cx="796290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26" name="Text 24"/>
          <p:cNvSpPr/>
          <p:nvPr/>
        </p:nvSpPr>
        <p:spPr>
          <a:xfrm>
            <a:off x="9410700" y="4362450"/>
            <a:ext cx="1981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13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REPUTATION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1544300" y="4295775"/>
            <a:ext cx="60041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 Safe Browsing, VirusTotal, URLhaus.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410700" y="5562600"/>
            <a:ext cx="796290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29" name="Text 27"/>
          <p:cNvSpPr/>
          <p:nvPr/>
        </p:nvSpPr>
        <p:spPr>
          <a:xfrm>
            <a:off x="9410700" y="4924425"/>
            <a:ext cx="1981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13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DNS &amp; SSL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1544300" y="4857750"/>
            <a:ext cx="60041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Resolves to valid IP; valid cert; cert matches domain; domain age signal.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410700" y="6124575"/>
            <a:ext cx="796290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32" name="Text 30"/>
          <p:cNvSpPr/>
          <p:nvPr/>
        </p:nvSpPr>
        <p:spPr>
          <a:xfrm>
            <a:off x="9410700" y="5772150"/>
            <a:ext cx="1981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13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 PROBE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1544300" y="5705475"/>
            <a:ext cx="60041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 OK; not parked / for-sale; basic content fetch.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9410700" y="6334125"/>
            <a:ext cx="1981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13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CONTENT MATCH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1544300" y="6267450"/>
            <a:ext cx="60041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Scraped page mentions the expected merchant name.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14400" y="9686925"/>
            <a:ext cx="26717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URL VALIDATION STRATEGY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6584067" y="9686925"/>
            <a:ext cx="86573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19100"/>
            <a:ext cx="319677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</a:t>
            </a:r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RECOMMENDED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779675" y="419100"/>
            <a:ext cx="26717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URL VALIDATION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838200"/>
            <a:ext cx="169529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216" kern="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3 &amp; TIER 4 · ROUTING, MONITORING &amp; HARDENING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66825"/>
            <a:ext cx="16952976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spc="-45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Confidence routing at the seam; monitoring underneath; mitigations end-to-end.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14400" y="3086100"/>
            <a:ext cx="16459200" cy="9525"/>
          </a:xfrm>
          <a:prstGeom prst="rect">
            <a:avLst/>
          </a:prstGeom>
          <a:solidFill>
            <a:srgbClr val="C9C3B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52725"/>
            <a:ext cx="169529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03 · CONFIDENCE-BASED ROUTING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400425"/>
            <a:ext cx="3943350" cy="19050"/>
          </a:xfrm>
          <a:prstGeom prst="rect">
            <a:avLst/>
          </a:prstGeom>
          <a:solidFill>
            <a:srgbClr val="4F6B3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71875"/>
            <a:ext cx="40616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47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 &gt; 90%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819525"/>
            <a:ext cx="40616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High confidence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200525"/>
            <a:ext cx="40616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Auto-approve. Add to allowlist with TTL.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5086350" y="3400425"/>
            <a:ext cx="3943350" cy="19050"/>
          </a:xfrm>
          <a:prstGeom prst="rect">
            <a:avLst/>
          </a:prstGeom>
          <a:solidFill>
            <a:srgbClr val="2F4A6B"/>
          </a:solidFill>
          <a:ln/>
        </p:spPr>
      </p:sp>
      <p:sp>
        <p:nvSpPr>
          <p:cNvPr id="13" name="Text 11"/>
          <p:cNvSpPr/>
          <p:nvPr/>
        </p:nvSpPr>
        <p:spPr>
          <a:xfrm>
            <a:off x="5086350" y="3571875"/>
            <a:ext cx="40616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47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 70–90%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86350" y="3819525"/>
            <a:ext cx="40616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Medium confidence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086350" y="4200525"/>
            <a:ext cx="40616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Surface with a disclaimer or secondary verification.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9258300" y="3400425"/>
            <a:ext cx="3943350" cy="19050"/>
          </a:xfrm>
          <a:prstGeom prst="rect">
            <a:avLst/>
          </a:prstGeom>
          <a:solidFill>
            <a:srgbClr val="B85B2E"/>
          </a:solidFill>
          <a:ln/>
        </p:spPr>
      </p:sp>
      <p:sp>
        <p:nvSpPr>
          <p:cNvPr id="17" name="Text 15"/>
          <p:cNvSpPr/>
          <p:nvPr/>
        </p:nvSpPr>
        <p:spPr>
          <a:xfrm>
            <a:off x="9258300" y="3571875"/>
            <a:ext cx="40616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47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 &lt; 70%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258300" y="3819525"/>
            <a:ext cx="40616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Low confidence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258300" y="4200525"/>
            <a:ext cx="40616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Suppress URL; queue for human review.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13430250" y="3400425"/>
            <a:ext cx="3943350" cy="19050"/>
          </a:xfrm>
          <a:prstGeom prst="rect">
            <a:avLst/>
          </a:prstGeom>
          <a:solidFill>
            <a:srgbClr val="8C2A1F"/>
          </a:solidFill>
          <a:ln/>
        </p:spPr>
      </p:sp>
      <p:sp>
        <p:nvSpPr>
          <p:cNvPr id="21" name="Text 19"/>
          <p:cNvSpPr/>
          <p:nvPr/>
        </p:nvSpPr>
        <p:spPr>
          <a:xfrm>
            <a:off x="13430250" y="3571875"/>
            <a:ext cx="40616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47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SECURITY FAIL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430250" y="3819525"/>
            <a:ext cx="40616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Blocked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3430250" y="4200525"/>
            <a:ext cx="40616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Hard-block, flag for investigation, feed into threat intel.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914400" y="5391150"/>
            <a:ext cx="7962900" cy="9525"/>
          </a:xfrm>
          <a:prstGeom prst="rect">
            <a:avLst/>
          </a:prstGeom>
          <a:solidFill>
            <a:srgbClr val="C9C3B2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057775"/>
            <a:ext cx="82017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04 · CONTINUOUS MONITORING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6076950"/>
            <a:ext cx="796290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686425"/>
            <a:ext cx="236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35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RE-VALIDATION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3390900" y="5686425"/>
            <a:ext cx="56509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Monthly sweep of every allowlist entry; expire stale.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14400" y="6591300"/>
            <a:ext cx="796290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6200775"/>
            <a:ext cx="236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35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LIFECYCLE WATCH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3390900" y="6200775"/>
            <a:ext cx="56509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Hijacking, expiration, cert &amp; ownership changes.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14400" y="7105650"/>
            <a:ext cx="796290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6715125"/>
            <a:ext cx="236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35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FEEDBACK LOOP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3390900" y="6715125"/>
            <a:ext cx="56509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reports + threat intel back into block / score.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" y="7229475"/>
            <a:ext cx="236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35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DRIFT TELEMETRY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3390900" y="7229475"/>
            <a:ext cx="56509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Failure rate per model version; regression alerts.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410700" y="5391150"/>
            <a:ext cx="7962900" cy="9525"/>
          </a:xfrm>
          <a:prstGeom prst="rect">
            <a:avLst/>
          </a:prstGeom>
          <a:solidFill>
            <a:srgbClr val="C9C3B2"/>
          </a:solidFill>
          <a:ln/>
        </p:spPr>
      </p:sp>
      <p:sp>
        <p:nvSpPr>
          <p:cNvPr id="38" name="Text 36"/>
          <p:cNvSpPr/>
          <p:nvPr/>
        </p:nvSpPr>
        <p:spPr>
          <a:xfrm>
            <a:off x="9410700" y="5057775"/>
            <a:ext cx="82017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COMPLEMENTARY MITIGATIONS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410700" y="6076950"/>
            <a:ext cx="796290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40" name="Text 38"/>
          <p:cNvSpPr/>
          <p:nvPr/>
        </p:nvSpPr>
        <p:spPr>
          <a:xfrm>
            <a:off x="9410700" y="5686425"/>
            <a:ext cx="236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35" kern="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· PROMPT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1887200" y="5686425"/>
            <a:ext cx="56509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 per-URL confidence + source-field citation from model.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410700" y="6591300"/>
            <a:ext cx="796290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43" name="Text 41"/>
          <p:cNvSpPr/>
          <p:nvPr/>
        </p:nvSpPr>
        <p:spPr>
          <a:xfrm>
            <a:off x="9410700" y="6200775"/>
            <a:ext cx="236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35" kern="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· DISPLAY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11887200" y="6200775"/>
            <a:ext cx="56509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auto-redirect; show full URL; interstitial warning.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410700" y="7105650"/>
            <a:ext cx="7962900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46" name="Text 44"/>
          <p:cNvSpPr/>
          <p:nvPr/>
        </p:nvSpPr>
        <p:spPr>
          <a:xfrm>
            <a:off x="9410700" y="6715125"/>
            <a:ext cx="236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35" kern="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· FALLBACK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11887200" y="6715125"/>
            <a:ext cx="56509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 → suppress URL, offer search link, surface phone.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410700" y="7229475"/>
            <a:ext cx="236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35" kern="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 · PRIVACY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11887200" y="7229475"/>
            <a:ext cx="56509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E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Scrub PII before any external API call; log all decisions.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14400" y="9686925"/>
            <a:ext cx="26717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URL VALIDATION STRATEGY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6584067" y="9686925"/>
            <a:ext cx="86573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19100"/>
            <a:ext cx="13754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1B1D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</a:t>
            </a:r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779675" y="419100"/>
            <a:ext cx="26717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URL VALIDATION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838200"/>
            <a:ext cx="169529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216" kern="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PHASED 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66825"/>
            <a:ext cx="169529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spc="-45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Four phases; each ships value on its own.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14400" y="3143250"/>
            <a:ext cx="1975098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" name="Shape 5"/>
          <p:cNvSpPr/>
          <p:nvPr/>
        </p:nvSpPr>
        <p:spPr>
          <a:xfrm>
            <a:off x="2889498" y="3143250"/>
            <a:ext cx="3620988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" name="Text 6"/>
          <p:cNvSpPr/>
          <p:nvPr/>
        </p:nvSpPr>
        <p:spPr>
          <a:xfrm>
            <a:off x="3079998" y="2305050"/>
            <a:ext cx="33371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spc="-12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Phase 01 · MVP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079998" y="2819400"/>
            <a:ext cx="333718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35" kern="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WEEKS 1–4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6510486" y="3143250"/>
            <a:ext cx="3620988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Text 9"/>
          <p:cNvSpPr/>
          <p:nvPr/>
        </p:nvSpPr>
        <p:spPr>
          <a:xfrm>
            <a:off x="6700986" y="2305050"/>
            <a:ext cx="33371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spc="-12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Phase 02 · Verify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00986" y="2819400"/>
            <a:ext cx="333718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35" kern="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WEEKS 5–8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10131475" y="3143250"/>
            <a:ext cx="3620988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" name="Text 12"/>
          <p:cNvSpPr/>
          <p:nvPr/>
        </p:nvSpPr>
        <p:spPr>
          <a:xfrm>
            <a:off x="10321975" y="2305050"/>
            <a:ext cx="33371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spc="-12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Phase 03 · Close the loop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321975" y="2819400"/>
            <a:ext cx="333718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35" kern="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WEEKS 9–12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13752463" y="3143250"/>
            <a:ext cx="3621137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" name="Text 15"/>
          <p:cNvSpPr/>
          <p:nvPr/>
        </p:nvSpPr>
        <p:spPr>
          <a:xfrm>
            <a:off x="13942963" y="2305050"/>
            <a:ext cx="333734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spc="-12" kern="0" dirty="0">
                <a:solidFill>
                  <a:srgbClr val="1B1D2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Phase 04 · Optimize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942963" y="2819400"/>
            <a:ext cx="3337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spc="135" kern="0" dirty="0">
                <a:solidFill>
                  <a:srgbClr val="2F4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 13+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914400" y="4095750"/>
            <a:ext cx="197509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" y="3328988"/>
            <a:ext cx="1670298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47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SCOPE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89498" y="4095750"/>
            <a:ext cx="362098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22" name="Text 20"/>
          <p:cNvSpPr/>
          <p:nvPr/>
        </p:nvSpPr>
        <p:spPr>
          <a:xfrm>
            <a:off x="3079998" y="3328988"/>
            <a:ext cx="3348618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Tier 1 checks + Google Safe Browsing.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510486" y="4095750"/>
            <a:ext cx="362098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24" name="Text 22"/>
          <p:cNvSpPr/>
          <p:nvPr/>
        </p:nvSpPr>
        <p:spPr>
          <a:xfrm>
            <a:off x="6700986" y="3328988"/>
            <a:ext cx="3348618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Tier 2 verification + confidence scoring.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0131475" y="4095750"/>
            <a:ext cx="362098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26" name="Text 24"/>
          <p:cNvSpPr/>
          <p:nvPr/>
        </p:nvSpPr>
        <p:spPr>
          <a:xfrm>
            <a:off x="10321975" y="3328988"/>
            <a:ext cx="3348618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Feedback loops + Tier 4 monitoring dashboards.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752463" y="4095750"/>
            <a:ext cx="3621137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28" name="Text 26"/>
          <p:cNvSpPr/>
          <p:nvPr/>
        </p:nvSpPr>
        <p:spPr>
          <a:xfrm>
            <a:off x="13942963" y="3328988"/>
            <a:ext cx="3348771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ML-based risk scoring; cost optimization.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14400" y="5334000"/>
            <a:ext cx="197509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30" name="Text 28"/>
          <p:cNvSpPr/>
          <p:nvPr/>
        </p:nvSpPr>
        <p:spPr>
          <a:xfrm>
            <a:off x="1104900" y="4276725"/>
            <a:ext cx="167029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47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889498" y="5334000"/>
            <a:ext cx="362098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32" name="Text 30"/>
          <p:cNvSpPr/>
          <p:nvPr/>
        </p:nvSpPr>
        <p:spPr>
          <a:xfrm>
            <a:off x="3079998" y="4276725"/>
            <a:ext cx="334861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Format / blocklist / allowlist; seed allowlist from existing merchant data.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6510486" y="5334000"/>
            <a:ext cx="362098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34" name="Text 32"/>
          <p:cNvSpPr/>
          <p:nvPr/>
        </p:nvSpPr>
        <p:spPr>
          <a:xfrm>
            <a:off x="6700986" y="4276725"/>
            <a:ext cx="334861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VirusTotal + URLhaus; DNS/SSL probe; HTTP probe; routing service.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0131475" y="5334000"/>
            <a:ext cx="362098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36" name="Text 34"/>
          <p:cNvSpPr/>
          <p:nvPr/>
        </p:nvSpPr>
        <p:spPr>
          <a:xfrm>
            <a:off x="10321975" y="4276725"/>
            <a:ext cx="334861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Human-review queue; user-report intake; lifecycle watch jobs.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3752463" y="5334000"/>
            <a:ext cx="3621137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38" name="Text 36"/>
          <p:cNvSpPr/>
          <p:nvPr/>
        </p:nvSpPr>
        <p:spPr>
          <a:xfrm>
            <a:off x="13942963" y="4276725"/>
            <a:ext cx="3348771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model trained on labeled history; allowlist TTL tuning.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14400" y="6276975"/>
            <a:ext cx="197509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40" name="Text 38"/>
          <p:cNvSpPr/>
          <p:nvPr/>
        </p:nvSpPr>
        <p:spPr>
          <a:xfrm>
            <a:off x="1104900" y="5514975"/>
            <a:ext cx="167029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47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SHIPPED VALUE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889498" y="6276975"/>
            <a:ext cx="362098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42" name="Text 40"/>
          <p:cNvSpPr/>
          <p:nvPr/>
        </p:nvSpPr>
        <p:spPr>
          <a:xfrm>
            <a:off x="3079998" y="5514975"/>
            <a:ext cx="334861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~80% of URLs decided in &lt; 100 ms; blocks worst offenders.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6510486" y="6276975"/>
            <a:ext cx="362098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44" name="Text 42"/>
          <p:cNvSpPr/>
          <p:nvPr/>
        </p:nvSpPr>
        <p:spPr>
          <a:xfrm>
            <a:off x="6700986" y="5514975"/>
            <a:ext cx="334861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Coverage of the long tail; explainable routing decisions.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0131475" y="6276975"/>
            <a:ext cx="3620988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46" name="Text 44"/>
          <p:cNvSpPr/>
          <p:nvPr/>
        </p:nvSpPr>
        <p:spPr>
          <a:xfrm>
            <a:off x="10321975" y="5514975"/>
            <a:ext cx="334861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Drift caught proactively; allowlist health visible.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3752463" y="6276975"/>
            <a:ext cx="3621137" cy="9525"/>
          </a:xfrm>
          <a:prstGeom prst="rect">
            <a:avLst/>
          </a:prstGeom>
          <a:solidFill>
            <a:srgbClr val="DCD7C7"/>
          </a:solidFill>
          <a:ln/>
        </p:spPr>
      </p:sp>
      <p:sp>
        <p:nvSpPr>
          <p:cNvPr id="48" name="Text 46"/>
          <p:cNvSpPr/>
          <p:nvPr/>
        </p:nvSpPr>
        <p:spPr>
          <a:xfrm>
            <a:off x="13942963" y="5514975"/>
            <a:ext cx="334877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Lower API spend per URL; better precision/recall.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914400" y="7215188"/>
            <a:ext cx="1975098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0" name="Text 48"/>
          <p:cNvSpPr/>
          <p:nvPr/>
        </p:nvSpPr>
        <p:spPr>
          <a:xfrm>
            <a:off x="1104900" y="6457950"/>
            <a:ext cx="1670298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47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GATE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889498" y="7215188"/>
            <a:ext cx="3620988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2" name="Text 50"/>
          <p:cNvSpPr/>
          <p:nvPr/>
        </p:nvSpPr>
        <p:spPr>
          <a:xfrm>
            <a:off x="3079998" y="6457950"/>
            <a:ext cx="3348618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 rate &amp; allowlist size meet target.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6510486" y="7215188"/>
            <a:ext cx="3620988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4" name="Text 52"/>
          <p:cNvSpPr/>
          <p:nvPr/>
        </p:nvSpPr>
        <p:spPr>
          <a:xfrm>
            <a:off x="6700986" y="6457950"/>
            <a:ext cx="3348618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P95 latency &amp; cost per URL within budget.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10131475" y="7215188"/>
            <a:ext cx="3620988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Text 54"/>
          <p:cNvSpPr/>
          <p:nvPr/>
        </p:nvSpPr>
        <p:spPr>
          <a:xfrm>
            <a:off x="10321975" y="6457950"/>
            <a:ext cx="3348618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time-to-detect drift &lt; 7 days.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13752463" y="7215188"/>
            <a:ext cx="3621137" cy="142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8" name="Text 56"/>
          <p:cNvSpPr/>
          <p:nvPr/>
        </p:nvSpPr>
        <p:spPr>
          <a:xfrm>
            <a:off x="13942963" y="6457950"/>
            <a:ext cx="3348771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B1D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lift over rule-based baseline measured.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914400" y="9686925"/>
            <a:ext cx="26717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URL VALIDATION STRATEGY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6584067" y="9686925"/>
            <a:ext cx="86573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168" kern="0" dirty="0">
                <a:solidFill>
                  <a:srgbClr val="7B7F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2026-05-12T20:27:02Z</dcterms:created>
  <dcterms:modified xsi:type="dcterms:W3CDTF">2026-05-12T20:27:02Z</dcterms:modified>
</cp:coreProperties>
</file>