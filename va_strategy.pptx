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274320"/>
            <a:ext cx="1645920" cy="1645920"/>
          </a:xfrm>
          <a:prstGeom prst="ellipse">
            <a:avLst/>
          </a:prstGeom>
          <a:solidFill>
            <a:srgbClr val="14A3A8">
              <a:alpha val="30000"/>
            </a:srgbClr>
          </a:solidFill>
          <a:ln w="12700">
            <a:solidFill>
              <a:srgbClr val="14A3A8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63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NLP to GenAI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Virtual Assistant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02920" y="3337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 ·  Roles  ·  Decision Frameworks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4480560"/>
            <a:ext cx="8138160" cy="36576"/>
          </a:xfrm>
          <a:prstGeom prst="rect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 vs GenAI Virtual Assistant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51460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777240"/>
            <a:ext cx="292608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777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Virtual Assistant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89320" y="777240"/>
            <a:ext cx="292608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777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Virtual Assistant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188720"/>
            <a:ext cx="86410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188720"/>
            <a:ext cx="45720" cy="4937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understands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1188720"/>
            <a:ext cx="2761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keywords to predefined intents and flows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80760" y="1188720"/>
            <a:ext cx="2761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meaning, context, and intent naturally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682496"/>
            <a:ext cx="8641080" cy="493776"/>
          </a:xfrm>
          <a:prstGeom prst="rect">
            <a:avLst/>
          </a:prstGeom>
          <a:solidFill>
            <a:srgbClr val="F7F9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682496"/>
            <a:ext cx="45720" cy="4937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682496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1682496"/>
            <a:ext cx="2761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define every flow, intent, and fallback up front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1682496"/>
            <a:ext cx="2761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shaped through prompts — faster to launch, easier to iterate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176272"/>
            <a:ext cx="86410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176272"/>
            <a:ext cx="45720" cy="4937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176272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complexity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17520" y="2176272"/>
            <a:ext cx="2761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outside trained scenarios and rigid scripts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2176272"/>
            <a:ext cx="2761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variation, ambiguity, and multi-turn conversations natively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670048"/>
            <a:ext cx="8641080" cy="493776"/>
          </a:xfrm>
          <a:prstGeom prst="rect">
            <a:avLst/>
          </a:prstGeom>
          <a:solidFill>
            <a:srgbClr val="F7F9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670048"/>
            <a:ext cx="45720" cy="4937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670048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17520" y="2670048"/>
            <a:ext cx="2761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— consistent but rigid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80760" y="2670048"/>
            <a:ext cx="2761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tone and response dynamically to context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163824"/>
            <a:ext cx="86410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163824"/>
            <a:ext cx="45720" cy="4937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163824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017520" y="3163824"/>
            <a:ext cx="2761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scenario requires engineering effort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80760" y="3163824"/>
            <a:ext cx="2761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capabilities added through prompt iteration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657600"/>
            <a:ext cx="8641080" cy="493776"/>
          </a:xfrm>
          <a:prstGeom prst="rect">
            <a:avLst/>
          </a:prstGeom>
          <a:solidFill>
            <a:srgbClr val="F7F9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657600"/>
            <a:ext cx="45720" cy="4937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657600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profile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017520" y="3657600"/>
            <a:ext cx="2761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but brittle at the edges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80760" y="3657600"/>
            <a:ext cx="2761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but requires guardrails and ongoing evaluation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315968"/>
            <a:ext cx="864108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31596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system we program to one we coach — unlocking conversations that were not possible before.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Roles &amp; Responsibilities — Building Agentic Capabilities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3310128"/>
          </a:xfrm>
          <a:prstGeom prst="rect">
            <a:avLst/>
          </a:prstGeom>
          <a:solidFill>
            <a:srgbClr val="1B2E4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38404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234440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capability — migrate, redesign, build new, or keep deterministic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700784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the virtual assistant can and cannot do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2167128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human-in-the-loop gates — when to confirm, when to act autonomously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2633472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first version of a capability, starting with a prompt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3099816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layered scorecard: business, user, AI quality, and operational health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3566160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cost-per-conversation tradeoffs — not every use case justifies a large model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777240"/>
            <a:ext cx="274320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777240"/>
            <a:ext cx="274320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777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55848" y="1234440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infrastructure to execute agent actions reliably and at scale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55848" y="1700784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guardrails, safety layers, and rollback mechanisms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55848" y="2167128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prompts into scalable, production-ready systems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55848" y="2633472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evaluation pipelines to measure quality continuously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55848" y="3099816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every agent action is logged, traceable, and auditable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55848" y="3566160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securely with backend systems and data sources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72200" y="777240"/>
            <a:ext cx="274320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777240"/>
            <a:ext cx="2743200" cy="384048"/>
          </a:xfrm>
          <a:prstGeom prst="rect">
            <a:avLst/>
          </a:prstGeom>
          <a:solidFill>
            <a:srgbClr val="14A3A8"/>
          </a:solidFill>
          <a:ln w="12700">
            <a:solidFill>
              <a:srgbClr val="14A3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777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81928" y="1234440"/>
            <a:ext cx="254203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capabilities get LLM treatment — PM brings value and risk, Technology brings feasibility and control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81928" y="1801368"/>
            <a:ext cx="254203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level — answer-only to full execution; a joint product, risk, and architecture decision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81928" y="2368296"/>
            <a:ext cx="254203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acceptable quality — good enough varies by use case and stakes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81928" y="2935224"/>
            <a:ext cx="254203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and gating strategy — who gets access first and under what conditions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81928" y="3502152"/>
            <a:ext cx="254203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— detect, roll back, communicate, and learn when something goes wrong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4315968"/>
            <a:ext cx="864108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31596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defines what the assistant should do and how far it can go. Technology ensures it does so reliably, safely, and at scale.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Rubric — Should this capability get LLM treatment?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20240" cy="384048"/>
          </a:xfrm>
          <a:prstGeom prst="rect">
            <a:avLst/>
          </a:prstGeom>
          <a:solidFill>
            <a:srgbClr val="1B2E4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40280" y="777240"/>
            <a:ext cx="1920240" cy="384048"/>
          </a:xfrm>
          <a:prstGeom prst="rect">
            <a:avLst/>
          </a:prstGeom>
          <a:solidFill>
            <a:srgbClr val="64748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777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06240" y="777240"/>
            <a:ext cx="1920240" cy="384048"/>
          </a:xfrm>
          <a:prstGeom prst="rect">
            <a:avLst/>
          </a:prstGeom>
          <a:solidFill>
            <a:srgbClr val="0D737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777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(2)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777240"/>
            <a:ext cx="1664208" cy="384048"/>
          </a:xfrm>
          <a:prstGeom prst="rect">
            <a:avLst/>
          </a:prstGeom>
          <a:solidFill>
            <a:srgbClr val="0D737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77724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(3)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882128" y="777240"/>
            <a:ext cx="969264" cy="384048"/>
          </a:xfrm>
          <a:prstGeom prst="rect">
            <a:avLst/>
          </a:prstGeom>
          <a:solidFill>
            <a:srgbClr val="1B2E4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82128" y="777240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161288"/>
            <a:ext cx="857707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161288"/>
            <a:ext cx="4572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161288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value uplift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13432" y="1161288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improvement over NLP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79392" y="1161288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Meaningfully better experience or coverage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45352" y="1161288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what is possible for the user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55280" y="1161288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1563624"/>
            <a:ext cx="8577072" cy="402336"/>
          </a:xfrm>
          <a:prstGeom prst="rect">
            <a:avLst/>
          </a:prstGeom>
          <a:solidFill>
            <a:srgbClr val="F7F9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1563624"/>
            <a:ext cx="4572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1563624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if wrong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13432" y="1563624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consequence, easily recoverable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79392" y="1563624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causes friction or rework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45352" y="1563624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Financial, legal, safety, or reputational harm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55280" y="1563624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1965960"/>
            <a:ext cx="857707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1965960"/>
            <a:ext cx="4572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1965960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13432" y="1965960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data or integration gaps exist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79392" y="1965960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 with moderate effort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45352" y="1965960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 with current stack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955280" y="1965960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2368296"/>
            <a:ext cx="8577072" cy="402336"/>
          </a:xfrm>
          <a:prstGeom prst="rect">
            <a:avLst/>
          </a:prstGeom>
          <a:solidFill>
            <a:srgbClr val="F7F9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2368296"/>
            <a:ext cx="4572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368296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burden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313432" y="2368296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works fine today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79392" y="2368296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requires frequent retraining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45352" y="2368296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is brittle and failing at scale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955280" y="2368296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2770632"/>
            <a:ext cx="857707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2770632"/>
            <a:ext cx="4572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2770632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justification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313432" y="2770632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 exceeds value delivered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279392" y="2770632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 — value and cost balanced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45352" y="2770632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positive return per conversation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955280" y="2770632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4320" y="3264408"/>
            <a:ext cx="859536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32644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74320" y="3538728"/>
            <a:ext cx="8595360" cy="246888"/>
          </a:xfrm>
          <a:prstGeom prst="rect">
            <a:avLst/>
          </a:prstGeom>
          <a:solidFill>
            <a:srgbClr val="E8F4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3538728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High value + Low risk + High feasibility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434840" y="3538728"/>
            <a:ext cx="4343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Strong migration or redesign candidate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" y="3785616"/>
            <a:ext cx="85953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" y="378561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High value + High risk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434840" y="3785616"/>
            <a:ext cx="4343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LLM with strict guardrails and phased rollout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74320" y="4032504"/>
            <a:ext cx="8595360" cy="246888"/>
          </a:xfrm>
          <a:prstGeom prst="rect">
            <a:avLst/>
          </a:prstGeom>
          <a:solidFill>
            <a:srgbClr val="E8F4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" y="4032504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Low value uplift at any risk level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434840" y="4032504"/>
            <a:ext cx="4343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Keep deterministic — LLM adds cost without gain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4320" y="4279392"/>
            <a:ext cx="85953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279392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Any High risk + compliance sensitivity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434840" y="4279392"/>
            <a:ext cx="4343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Keep deterministic regardless of value uplift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Rubric — What autonomy level is right?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High score sets the ceiling — it cannot be overridden by low scores elsewhere.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1920240" cy="384048"/>
          </a:xfrm>
          <a:prstGeom prst="rect">
            <a:avLst/>
          </a:prstGeom>
          <a:solidFill>
            <a:srgbClr val="1B2E4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24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40280" y="1024128"/>
            <a:ext cx="1920240" cy="384048"/>
          </a:xfrm>
          <a:prstGeom prst="rect">
            <a:avLst/>
          </a:prstGeom>
          <a:solidFill>
            <a:srgbClr val="64748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1024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1024128"/>
            <a:ext cx="1920240" cy="384048"/>
          </a:xfrm>
          <a:prstGeom prst="rect">
            <a:avLst/>
          </a:prstGeom>
          <a:solidFill>
            <a:srgbClr val="0D737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024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(2)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1024128"/>
            <a:ext cx="1664208" cy="384048"/>
          </a:xfrm>
          <a:prstGeom prst="rect">
            <a:avLst/>
          </a:prstGeom>
          <a:solidFill>
            <a:srgbClr val="0D737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02412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(3)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82128" y="1024128"/>
            <a:ext cx="969264" cy="384048"/>
          </a:xfrm>
          <a:prstGeom prst="rect">
            <a:avLst/>
          </a:prstGeom>
          <a:solidFill>
            <a:srgbClr val="1B2E4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82128" y="10241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408176"/>
            <a:ext cx="857707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408176"/>
            <a:ext cx="4572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408176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of error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13432" y="1408176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Inconvenient but harmless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79392" y="1408176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user frustration or rework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45352" y="1408176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loss, legal exposure, or safety risk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55280" y="1408176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1810512"/>
            <a:ext cx="8577072" cy="402336"/>
          </a:xfrm>
          <a:prstGeom prst="rect">
            <a:avLst/>
          </a:prstGeom>
          <a:solidFill>
            <a:srgbClr val="F7F9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1810512"/>
            <a:ext cx="4572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810512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Reversibility of action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313432" y="1810512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reversible at any point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79392" y="1810512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with effort or delay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45352" y="1810512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 or very difficult to unwind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55280" y="1810512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2212848"/>
            <a:ext cx="857707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2212848"/>
            <a:ext cx="4572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212848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exposure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313432" y="2212848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compliance implications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79392" y="2212848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compliance considerations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45352" y="2212848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domain — audit trail required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55280" y="2212848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2615184"/>
            <a:ext cx="8577072" cy="402336"/>
          </a:xfrm>
          <a:prstGeom prst="rect">
            <a:avLst/>
          </a:prstGeom>
          <a:solidFill>
            <a:srgbClr val="F7F9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2615184"/>
            <a:ext cx="4572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2615184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trust level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313432" y="2615184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with AI acting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279392" y="2615184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Expects transparency and confirmation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45352" y="2615184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Expects human accountability for outcomes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955280" y="2615184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3017520"/>
            <a:ext cx="857707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3017520"/>
            <a:ext cx="4572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017520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and frequency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313432" y="3017520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errors are manageable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279392" y="3017520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errors are visible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45352" y="3017520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errors compound and scale rapidly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955280" y="3017520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3511296"/>
            <a:ext cx="859536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351129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LEVEL GUIDE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3785616"/>
            <a:ext cx="8595360" cy="237744"/>
          </a:xfrm>
          <a:prstGeom prst="rect">
            <a:avLst/>
          </a:prstGeom>
          <a:solidFill>
            <a:srgbClr val="E8F4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78561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All scores Low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337560" y="378561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Full autonomous execution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989320" y="378561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acts without confirmation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" y="4023360"/>
            <a:ext cx="85953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402336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Mostly Low, one Medium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337560" y="402336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Execute with notification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989320" y="402336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acts; user informed after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4320" y="4261104"/>
            <a:ext cx="8595360" cy="237744"/>
          </a:xfrm>
          <a:prstGeom prst="rect">
            <a:avLst/>
          </a:prstGeom>
          <a:solidFill>
            <a:srgbClr val="E8F4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26110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Mix of Medium scores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337560" y="426110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Execute with confirmation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989320" y="426110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drafts action; user approves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74320" y="4498848"/>
            <a:ext cx="85953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" y="449884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Any High score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337560" y="449884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Recommend or draft only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989320" y="449884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suggests; human executes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74320" y="4736592"/>
            <a:ext cx="8595360" cy="237744"/>
          </a:xfrm>
          <a:prstGeom prst="rect">
            <a:avLst/>
          </a:prstGeom>
          <a:solidFill>
            <a:srgbClr val="E8F4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73659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Multiple High scores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337560" y="473659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Answer only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989320" y="473659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informs; no action taken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 to GenAI Virtual Assistant</dc:title>
  <dc:subject>PptxGenJS Presentation</dc:subject>
  <dc:creator>PptxGenJS</dc:creator>
  <cp:lastModifiedBy>PptxGenJS</cp:lastModifiedBy>
  <cp:revision>1</cp:revision>
  <dcterms:created xsi:type="dcterms:W3CDTF">2026-03-29T18:05:03Z</dcterms:created>
  <dcterms:modified xsi:type="dcterms:W3CDTF">2026-03-29T18:05:03Z</dcterms:modified>
</cp:coreProperties>
</file>