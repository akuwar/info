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40080"/>
            <a:ext cx="2926080" cy="502920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40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MAX: Managed Agentic eXecution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SDLC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Executive Summary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30175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AI-first engineering workflow — from Requirements to Deployment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A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Human-in-the-Loop governance at the right moments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4114800"/>
            <a:ext cx="1097280" cy="384048"/>
          </a:xfrm>
          <a:prstGeom prst="rect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41148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PLAN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28800" y="4114800"/>
            <a:ext cx="1188720" cy="384048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41148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DEVELOP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54680" y="4114800"/>
            <a:ext cx="2103120" cy="384048"/>
          </a:xfrm>
          <a:prstGeom prst="rect">
            <a:avLst/>
          </a:prstGeom>
          <a:solidFill>
            <a:srgbClr val="6B5B95"/>
          </a:solidFill>
          <a:ln w="12700">
            <a:solidFill>
              <a:srgbClr val="6B5B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41148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TEST / VERIFY / REVIEW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394960" y="4114800"/>
            <a:ext cx="201168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41148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RELEASE READINESS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740"/>
          </a:solidFill>
          <a:ln w="12700">
            <a:solidFill>
              <a:srgbClr val="0F17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96B0"/>
                </a:solidFill>
              </a:rPr>
              <a:t>CONFIDENTIAL  |  AI ENABLEMENT PROGRAM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0233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926080" y="2286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Laying the foundation through design, collaboration &amp; structured planning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097280"/>
            <a:ext cx="2697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097280"/>
            <a:ext cx="64008" cy="1234440"/>
          </a:xfrm>
          <a:prstGeom prst="rect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" y="1207008"/>
            <a:ext cx="347472" cy="274320"/>
          </a:xfrm>
          <a:prstGeom prst="rect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20700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1.1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11887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Multi-Agent Workflow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93192" y="159105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architect end-to-end multi-agent collaboration patterns across the SDLC.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63240" y="1097280"/>
            <a:ext cx="2697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063240" y="1097280"/>
            <a:ext cx="64008" cy="1234440"/>
          </a:xfrm>
          <a:prstGeom prst="rect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207008"/>
            <a:ext cx="347472" cy="274320"/>
          </a:xfrm>
          <a:prstGeom prst="rect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20700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30168" y="11887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&amp; Interaction Designs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00400" y="159105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human-centric UX and interaction designs for AI-assisted developer experiences.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70448" y="1097280"/>
            <a:ext cx="2697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70448" y="1097280"/>
            <a:ext cx="64008" cy="1234440"/>
          </a:xfrm>
          <a:prstGeom prst="rect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07608" y="1207008"/>
            <a:ext cx="347472" cy="274320"/>
          </a:xfrm>
          <a:prstGeom prst="rect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07608" y="120700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1.3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37376" y="11887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Agent Workflow Translation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007608" y="159105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Assistive Figma-to-workflow translation enabling design-to-code agentic handoffs.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" y="2496312"/>
            <a:ext cx="2697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2496312"/>
            <a:ext cx="64008" cy="1234440"/>
          </a:xfrm>
          <a:prstGeom prst="rect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3192" y="2606040"/>
            <a:ext cx="347472" cy="274320"/>
          </a:xfrm>
          <a:prstGeom prst="rect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" y="260604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1.4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" y="25877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Experimentation &amp; Iteration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93192" y="299008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prototyping cycles with feedback loops to refine agentic capabilities.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063240" y="2496312"/>
            <a:ext cx="2697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063240" y="2496312"/>
            <a:ext cx="64008" cy="1234440"/>
          </a:xfrm>
          <a:prstGeom prst="rect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2606040"/>
            <a:ext cx="347472" cy="274320"/>
          </a:xfrm>
          <a:prstGeom prst="rect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0" y="260604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1.5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30168" y="25877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Approval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200400" y="299008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governance gate ensuring executive sign-off before development begins.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870448" y="2496312"/>
            <a:ext cx="2697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870448" y="2496312"/>
            <a:ext cx="64008" cy="1234440"/>
          </a:xfrm>
          <a:prstGeom prst="rect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07608" y="2606040"/>
            <a:ext cx="347472" cy="274320"/>
          </a:xfrm>
          <a:prstGeom prst="rect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07608" y="260604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1.6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37376" y="25877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Stories &amp; Functional Specs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007608" y="299008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Jira user stories and functional specifications via StoryWeaver.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B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0233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926080" y="2286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execution with guardrails, agentic code implementation &amp; NFR ownership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8595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43000"/>
            <a:ext cx="91440" cy="1508760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80160"/>
            <a:ext cx="384048" cy="292608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8016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2.1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32688" y="125272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Focus Areas &amp; NFR Ownership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1673352"/>
            <a:ext cx="8138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take primary ownership of Non-Functional Requirements (NFRs) — performance, security, scalability, and observability — while engineers focus on business logic and domain complexity. Agentic enforcement ensures NFR compliance is embedded at the point of development, not retrofitted at review.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8595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926080"/>
            <a:ext cx="91440" cy="1508760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063240"/>
            <a:ext cx="384048" cy="292608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6324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32688" y="303580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&amp; Architecture Enforcement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456432"/>
            <a:ext cx="8138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architecture guardrails prevent drift from approved design patterns. Copilot Agent Mode implements code aligned with organizational standards, while architecture agents validate compliance in real time — reducing rework and ensuring structural integrity across every sprint.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5B95"/>
          </a:solidFill>
          <a:ln w="12700">
            <a:solidFill>
              <a:srgbClr val="6B5B9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0233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/ VERIFY / REVIEW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663440" y="2286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agentic testing, validation at scale &amp; evidence generation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078992"/>
            <a:ext cx="4206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078992"/>
            <a:ext cx="64008" cy="1371600"/>
          </a:xfrm>
          <a:prstGeom prst="rect">
            <a:avLst/>
          </a:prstGeom>
          <a:solidFill>
            <a:srgbClr val="6B5B95"/>
          </a:solidFill>
          <a:ln w="12700">
            <a:solidFill>
              <a:srgbClr val="6B5B9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2336" y="1188720"/>
            <a:ext cx="347472" cy="274320"/>
          </a:xfrm>
          <a:prstGeom prst="rect">
            <a:avLst/>
          </a:prstGeom>
          <a:solidFill>
            <a:srgbClr val="6B5B95"/>
          </a:solidFill>
          <a:ln w="12700">
            <a:solidFill>
              <a:srgbClr val="6B5B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18872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3.1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" y="1170432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&amp; Test Data Generation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02336" y="1591056"/>
            <a:ext cx="39684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auto-generate comprehensive test cases and synthetic test data from user stories and functional specs — eliminating manual test authoring.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81728" y="1078992"/>
            <a:ext cx="4206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81728" y="1078992"/>
            <a:ext cx="64008" cy="1371600"/>
          </a:xfrm>
          <a:prstGeom prst="rect">
            <a:avLst/>
          </a:prstGeom>
          <a:solidFill>
            <a:srgbClr val="6B5B95"/>
          </a:solidFill>
          <a:ln w="12700">
            <a:solidFill>
              <a:srgbClr val="6B5B9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28032" y="1188720"/>
            <a:ext cx="347472" cy="274320"/>
          </a:xfrm>
          <a:prstGeom prst="rect">
            <a:avLst/>
          </a:prstGeom>
          <a:solidFill>
            <a:srgbClr val="6B5B95"/>
          </a:solidFill>
          <a:ln w="12700">
            <a:solidFill>
              <a:srgbClr val="6B5B9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118872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66944" y="1170432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Sprint-Level, Functional &amp; Regression Testing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28032" y="1591056"/>
            <a:ext cx="39684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automated testing at every sprint cycle. Functional coverage enforced by agents; regression suites updated dynamically as code evolves.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6032" y="2633472"/>
            <a:ext cx="4206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633472"/>
            <a:ext cx="64008" cy="1371600"/>
          </a:xfrm>
          <a:prstGeom prst="rect">
            <a:avLst/>
          </a:prstGeom>
          <a:solidFill>
            <a:srgbClr val="6B5B95"/>
          </a:solidFill>
          <a:ln w="12700">
            <a:solidFill>
              <a:srgbClr val="6B5B9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2336" y="2743200"/>
            <a:ext cx="347472" cy="274320"/>
          </a:xfrm>
          <a:prstGeom prst="rect">
            <a:avLst/>
          </a:prstGeom>
          <a:solidFill>
            <a:srgbClr val="6B5B95"/>
          </a:solidFill>
          <a:ln w="12700">
            <a:solidFill>
              <a:srgbClr val="6B5B9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274320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3.3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41248" y="2724912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Testing at Scale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02336" y="3145536"/>
            <a:ext cx="39684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 of thousands of test scenarios via Karate, Playwright MCP, and HEX — providing scale and coverage impossible with manual testing alone.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81728" y="2633472"/>
            <a:ext cx="4206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81728" y="2633472"/>
            <a:ext cx="64008" cy="1371600"/>
          </a:xfrm>
          <a:prstGeom prst="rect">
            <a:avLst/>
          </a:prstGeom>
          <a:solidFill>
            <a:srgbClr val="6B5B95"/>
          </a:solidFill>
          <a:ln w="12700">
            <a:solidFill>
              <a:srgbClr val="6B5B9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28032" y="2743200"/>
            <a:ext cx="347472" cy="274320"/>
          </a:xfrm>
          <a:prstGeom prst="rect">
            <a:avLst/>
          </a:prstGeom>
          <a:solidFill>
            <a:srgbClr val="6B5B95"/>
          </a:solidFill>
          <a:ln w="12700">
            <a:solidFill>
              <a:srgbClr val="6B5B9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274320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3.4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66944" y="2724912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Documentation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28032" y="3145536"/>
            <a:ext cx="39684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generation of audit-ready evidence packages and test documentation via NFR Validation Agent and HEX Docs for compliance and release sign-off.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0233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READINESS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663440" y="2286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release pipeline with continuous production assurance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8595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91440" cy="10515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07008"/>
            <a:ext cx="384048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0700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4.1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32688" y="11887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EPL-X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560320" cy="292608"/>
          </a:xfrm>
          <a:prstGeom prst="rect">
            <a:avLst/>
          </a:prstGeom>
          <a:solidFill>
            <a:srgbClr val="EDF1FB"/>
          </a:solidFill>
          <a:ln w="12700">
            <a:solidFill>
              <a:srgbClr val="C4CC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1887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761"/>
                </a:solidFill>
              </a:rPr>
              <a:t>Copilot + EPLX MCP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57200" y="155448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EPL-X for automated security scanning, compliance validation, and policy enforcement at the point of release — replacing manual gate reviews.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8595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331720"/>
            <a:ext cx="91440" cy="10515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441448"/>
            <a:ext cx="384048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4144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4.2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32688" y="24231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P2P Release via IDP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2423160"/>
            <a:ext cx="2560320" cy="292608"/>
          </a:xfrm>
          <a:prstGeom prst="rect">
            <a:avLst/>
          </a:prstGeom>
          <a:solidFill>
            <a:srgbClr val="EDF1FB"/>
          </a:solidFill>
          <a:ln w="12700">
            <a:solidFill>
              <a:srgbClr val="C4CC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24231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761"/>
                </a:solidFill>
              </a:rPr>
              <a:t>JIRA MCP + HEX Docs MCP + Confluence MCP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57200" y="278892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push-to-production pipeline orchestrated through the Internal Developer Platform. Fully automated gating, approval workflows, and deployment sequencing.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566160"/>
            <a:ext cx="8595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566160"/>
            <a:ext cx="91440" cy="10515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675888"/>
            <a:ext cx="384048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67588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4.3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32688" y="36576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Monitoring &amp; Continuous Assurance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26480" y="3657600"/>
            <a:ext cx="2560320" cy="292608"/>
          </a:xfrm>
          <a:prstGeom prst="rect">
            <a:avLst/>
          </a:prstGeom>
          <a:solidFill>
            <a:srgbClr val="EDF1FB"/>
          </a:solidFill>
          <a:ln w="12700">
            <a:solidFill>
              <a:srgbClr val="C4CC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36576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761"/>
                </a:solidFill>
              </a:rPr>
              <a:t>HEX Docs + Confluence MCP + EPLX MCP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57200" y="402336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Post-deployment AI agents continuously monitor production health, detect regressions, and update HEX documentation and Confluence in real time — closing the feedback loop.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Taxonomy &amp; Governance Model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in the Agentic SDLC is classified by execution mode — ensuring the right level of human oversight at each stage.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8595360" cy="960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89888"/>
            <a:ext cx="91440" cy="960120"/>
          </a:xfrm>
          <a:prstGeom prst="rect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54480"/>
            <a:ext cx="777240" cy="347472"/>
          </a:xfrm>
          <a:prstGeom prst="rect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5448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AI ASSISTED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417320" y="1499616"/>
            <a:ext cx="7223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drives execution and generation. Human oversight is available but not required as a blocking gate. Examples: Requirements creation (ASTRA), Jira story generation (StoryWeaver), Test integration (Karate/Playwright).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532888"/>
            <a:ext cx="8595360" cy="960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532888"/>
            <a:ext cx="91440" cy="960120"/>
          </a:xfrm>
          <a:prstGeom prst="rect">
            <a:avLst/>
          </a:prstGeom>
          <a:solidFill>
            <a:srgbClr val="6B5B95"/>
          </a:solidFill>
          <a:ln w="12700">
            <a:solidFill>
              <a:srgbClr val="6B5B9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697480"/>
            <a:ext cx="777240" cy="347472"/>
          </a:xfrm>
          <a:prstGeom prst="rect">
            <a:avLst/>
          </a:prstGeom>
          <a:solidFill>
            <a:srgbClr val="6B5B95"/>
          </a:solidFill>
          <a:ln w="12700">
            <a:solidFill>
              <a:srgbClr val="6B5B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9748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HUMAN REVIEW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417320" y="2642616"/>
            <a:ext cx="7223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human-in-the-loop validation. AI proposes; humans verify, approve, or redirect before proceeding. Examples: Review &amp; Refine Plan, Validate Generated Tests, PR Review with Team.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675888"/>
            <a:ext cx="8595360" cy="960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675888"/>
            <a:ext cx="91440" cy="96012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840480"/>
            <a:ext cx="777240" cy="34747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84048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</a:rPr>
              <a:t>FULLY AUTONOMOUS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417320" y="3785616"/>
            <a:ext cx="7223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automated execution with no human gate required. Agents orchestrate, implement, and verify independently. Examples: Code Implementation (Copilot Agent Mode), Generate Tests.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SDLC Executive Summary</dc:title>
  <dc:subject>PptxGenJS Presentation</dc:subject>
  <dc:creator>PptxGenJS</dc:creator>
  <cp:lastModifiedBy>PptxGenJS</cp:lastModifiedBy>
  <cp:revision>1</cp:revision>
  <dcterms:created xsi:type="dcterms:W3CDTF">2026-04-07T22:26:38Z</dcterms:created>
  <dcterms:modified xsi:type="dcterms:W3CDTF">2026-04-07T22:26:38Z</dcterms:modified>
</cp:coreProperties>
</file>