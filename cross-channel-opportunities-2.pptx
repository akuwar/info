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642938"/>
            <a:ext cx="76200" cy="76200"/>
          </a:xfrm>
          <a:prstGeom prst="ellipse">
            <a:avLst/>
          </a:prstGeom>
          <a:solidFill>
            <a:srgbClr val="2E5E4E"/>
          </a:solidFill>
          <a:ln/>
        </p:spPr>
      </p:sp>
      <p:sp>
        <p:nvSpPr>
          <p:cNvPr id="3" name="Text 1"/>
          <p:cNvSpPr/>
          <p:nvPr/>
        </p:nvSpPr>
        <p:spPr>
          <a:xfrm>
            <a:off x="1123950" y="533400"/>
            <a:ext cx="592416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6A76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GENERATIVE AI IN VIRTUAL ASSISTANT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008912" y="533400"/>
            <a:ext cx="24541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6A76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1479" y="533400"/>
            <a:ext cx="495887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0E1B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FEATURE 01 — DISPUTE ASSIST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6189375" y="533400"/>
            <a:ext cx="126042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6A76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/ 02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1095375"/>
            <a:ext cx="9104376" cy="1219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350" spc="-65" kern="0" dirty="0">
                <a:solidFill>
                  <a:srgbClr val="0E1B2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Resolve transaction confusion before it becomes a </a:t>
            </a:r>
            <a:pPr algn="l" indent="0" marL="0">
              <a:lnSpc>
                <a:spcPct val="108000"/>
              </a:lnSpc>
              <a:buNone/>
            </a:pPr>
            <a:r>
              <a:rPr lang="en-US" sz="4350" i="1" spc="-65" kern="0" dirty="0">
                <a:solidFill>
                  <a:srgbClr val="2E5E4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dispute</a:t>
            </a:r>
            <a:pPr algn="l" indent="0" marL="0">
              <a:lnSpc>
                <a:spcPct val="108000"/>
              </a:lnSpc>
              <a:buNone/>
            </a:pPr>
            <a:r>
              <a:rPr lang="en-US" sz="4350" spc="-65" kern="0" dirty="0">
                <a:solidFill>
                  <a:srgbClr val="0E1B2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.</a:t>
            </a:r>
            <a:endParaRPr lang="en-US" sz="4350" dirty="0"/>
          </a:p>
        </p:txBody>
      </p:sp>
      <p:sp>
        <p:nvSpPr>
          <p:cNvPr id="8" name="Text 6"/>
          <p:cNvSpPr/>
          <p:nvPr/>
        </p:nvSpPr>
        <p:spPr>
          <a:xfrm>
            <a:off x="914400" y="2466975"/>
            <a:ext cx="6923477" cy="144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2A3A5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When a customer doesn't recognize a charge, the assistant surfaces merchant details, contact info, and prior activity at the same merchant — turning a reflexive claim into an informed decision.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914400" y="4181475"/>
            <a:ext cx="910437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6A76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OPPORTUNITIES BEYOND THE APP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14400" y="4762500"/>
            <a:ext cx="419100" cy="9525"/>
          </a:xfrm>
          <a:prstGeom prst="rect">
            <a:avLst/>
          </a:prstGeom>
          <a:solidFill>
            <a:srgbClr val="0E1B2C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829175"/>
            <a:ext cx="4953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6A76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19250" y="4819650"/>
            <a:ext cx="359073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0E1B2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Cross-channel reuse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619250" y="5200650"/>
            <a:ext cx="3590735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6A768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Same intelligence in online banking, IVR, branch banker tools, and contact-center agent assist.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562600" y="4762500"/>
            <a:ext cx="419100" cy="9525"/>
          </a:xfrm>
          <a:prstGeom prst="rect">
            <a:avLst/>
          </a:prstGeom>
          <a:solidFill>
            <a:srgbClr val="0E1B2C"/>
          </a:solidFill>
          <a:ln/>
        </p:spPr>
      </p:sp>
      <p:sp>
        <p:nvSpPr>
          <p:cNvPr id="15" name="Text 13"/>
          <p:cNvSpPr/>
          <p:nvPr/>
        </p:nvSpPr>
        <p:spPr>
          <a:xfrm>
            <a:off x="5562600" y="4829175"/>
            <a:ext cx="4953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6A76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267450" y="4819650"/>
            <a:ext cx="359073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0E1B2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Call &amp; claim deflection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6267450" y="5200650"/>
            <a:ext cx="3590735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6A768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Reduce unnecessary claim filings, handle time, and downstream operational processing.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14400" y="6448425"/>
            <a:ext cx="419100" cy="9525"/>
          </a:xfrm>
          <a:prstGeom prst="rect">
            <a:avLst/>
          </a:prstGeom>
          <a:solidFill>
            <a:srgbClr val="0E1B2C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6515100"/>
            <a:ext cx="4953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6A76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619250" y="6505575"/>
            <a:ext cx="359073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0E1B2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Fraud signal uplift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619250" y="6886575"/>
            <a:ext cx="3590735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6A768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Legitimate disputes get filed faster and cleaner; true fraud is isolated earlier.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562600" y="6448425"/>
            <a:ext cx="419100" cy="9525"/>
          </a:xfrm>
          <a:prstGeom prst="rect">
            <a:avLst/>
          </a:prstGeom>
          <a:solidFill>
            <a:srgbClr val="0E1B2C"/>
          </a:solidFill>
          <a:ln/>
        </p:spPr>
      </p:sp>
      <p:sp>
        <p:nvSpPr>
          <p:cNvPr id="23" name="Text 21"/>
          <p:cNvSpPr/>
          <p:nvPr/>
        </p:nvSpPr>
        <p:spPr>
          <a:xfrm>
            <a:off x="5562600" y="6515100"/>
            <a:ext cx="4953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6A76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267450" y="6505575"/>
            <a:ext cx="359073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0E1B2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Platform reusability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6267450" y="6886575"/>
            <a:ext cx="3590735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6A768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 single merchant-enrichment service feeds statements, alerts, search, and servicing.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2115800" y="1095375"/>
            <a:ext cx="3657600" cy="7277100"/>
          </a:xfrm>
          <a:prstGeom prst="roundRect">
            <a:avLst>
              <a:gd name="adj" fmla="val 13021"/>
            </a:avLst>
          </a:prstGeom>
          <a:solidFill>
            <a:srgbClr val="0E1B2C"/>
          </a:solidFill>
          <a:ln/>
          <a:effectLst>
            <a:outerShdw sx="100000" sy="100000" kx="0" ky="0" algn="bl" rotWithShape="0" blurRad="762000" dist="381000" dir="5400000">
              <a:srgbClr val="0E1B2C">
                <a:alpha val="4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2230100" y="1209675"/>
            <a:ext cx="3429000" cy="7048500"/>
          </a:xfrm>
          <a:prstGeom prst="roundRect">
            <a:avLst>
              <a:gd name="adj" fmla="val 11667"/>
            </a:avLst>
          </a:prstGeom>
          <a:solidFill>
            <a:srgbClr val="F6F2EB"/>
          </a:solidFill>
          <a:ln/>
        </p:spPr>
      </p:sp>
      <p:sp>
        <p:nvSpPr>
          <p:cNvPr id="28" name="Shape 26"/>
          <p:cNvSpPr/>
          <p:nvPr/>
        </p:nvSpPr>
        <p:spPr>
          <a:xfrm>
            <a:off x="12230100" y="2767013"/>
            <a:ext cx="3429000" cy="800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2C6"/>
            </a:solidFill>
            <a:prstDash val="solid"/>
          </a:ln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11075" y="3071813"/>
            <a:ext cx="184696" cy="19050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12691021" y="2871788"/>
            <a:ext cx="1937004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0E1B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VIDEO PLACEHOLDER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12928104" y="3757613"/>
            <a:ext cx="2109043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spc="-27" kern="0" dirty="0">
                <a:solidFill>
                  <a:srgbClr val="0E1B2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Dispute Assist</a:t>
            </a:r>
            <a:endParaRPr lang="en-US" sz="2700" dirty="0"/>
          </a:p>
        </p:txBody>
      </p:sp>
      <p:sp>
        <p:nvSpPr>
          <p:cNvPr id="32" name="Text 29"/>
          <p:cNvSpPr/>
          <p:nvPr/>
        </p:nvSpPr>
        <p:spPr>
          <a:xfrm>
            <a:off x="12809190" y="4357688"/>
            <a:ext cx="2270671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800" spc="144" kern="0" dirty="0">
                <a:solidFill>
                  <a:srgbClr val="6A76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DROP IN RECORDING OF THE IN-APP FEATURE</a:t>
            </a:r>
            <a:endParaRPr lang="en-US" sz="1800" dirty="0"/>
          </a:p>
        </p:txBody>
      </p:sp>
      <p:sp>
        <p:nvSpPr>
          <p:cNvPr id="33" name="Shape 30"/>
          <p:cNvSpPr/>
          <p:nvPr/>
        </p:nvSpPr>
        <p:spPr>
          <a:xfrm>
            <a:off x="13573125" y="5957888"/>
            <a:ext cx="742950" cy="742950"/>
          </a:xfrm>
          <a:prstGeom prst="ellipse">
            <a:avLst/>
          </a:prstGeom>
          <a:solidFill>
            <a:srgbClr val="0E1B2C"/>
          </a:solidFill>
          <a:ln/>
          <a:effectLst>
            <a:outerShdw sx="100000" sy="100000" kx="0" ky="0" algn="bl" rotWithShape="0" blurRad="285750" dist="95250" dir="5400000">
              <a:srgbClr val="0E1B2C">
                <a:alpha val="50000"/>
              </a:srgbClr>
            </a:outerShdw>
          </a:effectLst>
        </p:spPr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30300" y="6196013"/>
            <a:ext cx="266700" cy="266700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10412730" y="8524875"/>
            <a:ext cx="706374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spc="252" kern="0" dirty="0">
                <a:solidFill>
                  <a:srgbClr val="6A76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FEATURE DEMO · VIRTUAL ASSISTANT (MOBILE)</a:t>
            </a:r>
            <a:endParaRPr lang="en-US" sz="1800" dirty="0"/>
          </a:p>
        </p:txBody>
      </p:sp>
      <p:sp>
        <p:nvSpPr>
          <p:cNvPr id="36" name="Shape 32"/>
          <p:cNvSpPr/>
          <p:nvPr/>
        </p:nvSpPr>
        <p:spPr>
          <a:xfrm>
            <a:off x="914400" y="9382125"/>
            <a:ext cx="16459200" cy="9525"/>
          </a:xfrm>
          <a:prstGeom prst="rect">
            <a:avLst/>
          </a:prstGeom>
          <a:solidFill>
            <a:srgbClr val="D8D2C6"/>
          </a:solidFill>
          <a:ln/>
        </p:spPr>
      </p:sp>
      <p:sp>
        <p:nvSpPr>
          <p:cNvPr id="37" name="Text 33"/>
          <p:cNvSpPr/>
          <p:nvPr/>
        </p:nvSpPr>
        <p:spPr>
          <a:xfrm>
            <a:off x="16189375" y="9601200"/>
            <a:ext cx="126042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0E1B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/ 02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642938"/>
            <a:ext cx="76200" cy="76200"/>
          </a:xfrm>
          <a:prstGeom prst="ellipse">
            <a:avLst/>
          </a:prstGeom>
          <a:solidFill>
            <a:srgbClr val="2E5E4E"/>
          </a:solidFill>
          <a:ln/>
        </p:spPr>
      </p:sp>
      <p:sp>
        <p:nvSpPr>
          <p:cNvPr id="3" name="Text 1"/>
          <p:cNvSpPr/>
          <p:nvPr/>
        </p:nvSpPr>
        <p:spPr>
          <a:xfrm>
            <a:off x="1123950" y="533400"/>
            <a:ext cx="592416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6A76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GENERATIVE AI IN VIRTUAL ASSISTANT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008912" y="533400"/>
            <a:ext cx="24541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6A76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1479" y="533400"/>
            <a:ext cx="459158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0E1B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FEATURE 02 — DAILY DIGEST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6189375" y="533400"/>
            <a:ext cx="126042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6A76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/ 02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1095375"/>
            <a:ext cx="9104376" cy="1219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350" spc="-65" kern="0" dirty="0">
                <a:solidFill>
                  <a:srgbClr val="0E1B2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Give customers one place to see what </a:t>
            </a:r>
            <a:pPr algn="l" indent="0" marL="0">
              <a:lnSpc>
                <a:spcPct val="108000"/>
              </a:lnSpc>
              <a:buNone/>
            </a:pPr>
            <a:r>
              <a:rPr lang="en-US" sz="4350" i="1" spc="-65" kern="0" dirty="0">
                <a:solidFill>
                  <a:srgbClr val="2E5E4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matters </a:t>
            </a:r>
            <a:pPr algn="l" indent="0" marL="0">
              <a:lnSpc>
                <a:spcPct val="108000"/>
              </a:lnSpc>
              <a:buNone/>
            </a:pPr>
            <a:r>
              <a:rPr lang="en-US" sz="4350" spc="-65" kern="0" dirty="0">
                <a:solidFill>
                  <a:srgbClr val="0E1B2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in their finances.</a:t>
            </a:r>
            <a:endParaRPr lang="en-US" sz="4350" dirty="0"/>
          </a:p>
        </p:txBody>
      </p:sp>
      <p:sp>
        <p:nvSpPr>
          <p:cNvPr id="8" name="Text 6"/>
          <p:cNvSpPr/>
          <p:nvPr/>
        </p:nvSpPr>
        <p:spPr>
          <a:xfrm>
            <a:off x="914400" y="2466975"/>
            <a:ext cx="6923477" cy="1095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2A3A5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 personalized summary of pattern changes, unusual activity, upcoming transactions, alerts, and rewards — so customers stay ahead of their money without hunting across screens.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914400" y="3829050"/>
            <a:ext cx="910437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6A76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OPPORTUNITIES BEYOND THE APP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14400" y="4410075"/>
            <a:ext cx="419100" cy="9525"/>
          </a:xfrm>
          <a:prstGeom prst="rect">
            <a:avLst/>
          </a:prstGeom>
          <a:solidFill>
            <a:srgbClr val="0E1B2C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476750"/>
            <a:ext cx="4953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6A76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19250" y="4467225"/>
            <a:ext cx="359073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0E1B2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Cross-channel reuse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619250" y="4848225"/>
            <a:ext cx="3590735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6A768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Render the same digest on web, voice ("what's new?"), branch screens, and agent desktops.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562600" y="4410075"/>
            <a:ext cx="419100" cy="9525"/>
          </a:xfrm>
          <a:prstGeom prst="rect">
            <a:avLst/>
          </a:prstGeom>
          <a:solidFill>
            <a:srgbClr val="0E1B2C"/>
          </a:solidFill>
          <a:ln/>
        </p:spPr>
      </p:sp>
      <p:sp>
        <p:nvSpPr>
          <p:cNvPr id="15" name="Text 13"/>
          <p:cNvSpPr/>
          <p:nvPr/>
        </p:nvSpPr>
        <p:spPr>
          <a:xfrm>
            <a:off x="5562600" y="4476750"/>
            <a:ext cx="4953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6A76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267450" y="4467225"/>
            <a:ext cx="359073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0E1B2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Proactive outreach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6267450" y="4848225"/>
            <a:ext cx="3590735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6A768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Push, email, and SMS summaries turn a pull experience into a timely, personalized nudge.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14400" y="6096000"/>
            <a:ext cx="419100" cy="9525"/>
          </a:xfrm>
          <a:prstGeom prst="rect">
            <a:avLst/>
          </a:prstGeom>
          <a:solidFill>
            <a:srgbClr val="0E1B2C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6162675"/>
            <a:ext cx="4953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6A76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619250" y="6153150"/>
            <a:ext cx="359073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0E1B2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Personalization &amp; cross-sell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619250" y="6534150"/>
            <a:ext cx="3590735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6A768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Context (spend shifts, rewards, upcoming bills) surfaces relevant products and offers in-moment.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562600" y="6096000"/>
            <a:ext cx="419100" cy="9525"/>
          </a:xfrm>
          <a:prstGeom prst="rect">
            <a:avLst/>
          </a:prstGeom>
          <a:solidFill>
            <a:srgbClr val="0E1B2C"/>
          </a:solidFill>
          <a:ln/>
        </p:spPr>
      </p:sp>
      <p:sp>
        <p:nvSpPr>
          <p:cNvPr id="23" name="Text 21"/>
          <p:cNvSpPr/>
          <p:nvPr/>
        </p:nvSpPr>
        <p:spPr>
          <a:xfrm>
            <a:off x="5562600" y="6162675"/>
            <a:ext cx="4953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6A76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267450" y="6153150"/>
            <a:ext cx="359073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0E1B2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CSAT &amp; engagement lift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6267450" y="6534150"/>
            <a:ext cx="3590735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6A768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 single, clear view reduces cognitive load and deepens everyday digital engagement.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2115800" y="1095375"/>
            <a:ext cx="3657600" cy="7277100"/>
          </a:xfrm>
          <a:prstGeom prst="roundRect">
            <a:avLst>
              <a:gd name="adj" fmla="val 13021"/>
            </a:avLst>
          </a:prstGeom>
          <a:solidFill>
            <a:srgbClr val="0E1B2C"/>
          </a:solidFill>
          <a:ln/>
          <a:effectLst>
            <a:outerShdw sx="100000" sy="100000" kx="0" ky="0" algn="bl" rotWithShape="0" blurRad="762000" dist="381000" dir="5400000">
              <a:srgbClr val="0E1B2C">
                <a:alpha val="4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2230100" y="1209675"/>
            <a:ext cx="3429000" cy="7048500"/>
          </a:xfrm>
          <a:prstGeom prst="roundRect">
            <a:avLst>
              <a:gd name="adj" fmla="val 11667"/>
            </a:avLst>
          </a:prstGeom>
          <a:solidFill>
            <a:srgbClr val="F6F2EB"/>
          </a:solidFill>
          <a:ln/>
        </p:spPr>
      </p:sp>
      <p:sp>
        <p:nvSpPr>
          <p:cNvPr id="28" name="Shape 26"/>
          <p:cNvSpPr/>
          <p:nvPr/>
        </p:nvSpPr>
        <p:spPr>
          <a:xfrm>
            <a:off x="12230100" y="2767013"/>
            <a:ext cx="3429000" cy="800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2C6"/>
            </a:solidFill>
            <a:prstDash val="solid"/>
          </a:ln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11075" y="3071813"/>
            <a:ext cx="184696" cy="19050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12691021" y="2871788"/>
            <a:ext cx="1937004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0E1B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VIDEO PLACEHOLDER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13079909" y="3757613"/>
            <a:ext cx="1805434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spc="-27" kern="0" dirty="0">
                <a:solidFill>
                  <a:srgbClr val="0E1B2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Daily Digest</a:t>
            </a:r>
            <a:endParaRPr lang="en-US" sz="2700" dirty="0"/>
          </a:p>
        </p:txBody>
      </p:sp>
      <p:sp>
        <p:nvSpPr>
          <p:cNvPr id="32" name="Text 29"/>
          <p:cNvSpPr/>
          <p:nvPr/>
        </p:nvSpPr>
        <p:spPr>
          <a:xfrm>
            <a:off x="12809190" y="4357688"/>
            <a:ext cx="2270671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800" spc="144" kern="0" dirty="0">
                <a:solidFill>
                  <a:srgbClr val="6A76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DROP IN RECORDING OF THE IN-APP FEATURE</a:t>
            </a:r>
            <a:endParaRPr lang="en-US" sz="1800" dirty="0"/>
          </a:p>
        </p:txBody>
      </p:sp>
      <p:sp>
        <p:nvSpPr>
          <p:cNvPr id="33" name="Shape 30"/>
          <p:cNvSpPr/>
          <p:nvPr/>
        </p:nvSpPr>
        <p:spPr>
          <a:xfrm>
            <a:off x="13573125" y="5957888"/>
            <a:ext cx="742950" cy="742950"/>
          </a:xfrm>
          <a:prstGeom prst="ellipse">
            <a:avLst/>
          </a:prstGeom>
          <a:solidFill>
            <a:srgbClr val="0E1B2C"/>
          </a:solidFill>
          <a:ln/>
          <a:effectLst>
            <a:outerShdw sx="100000" sy="100000" kx="0" ky="0" algn="bl" rotWithShape="0" blurRad="285750" dist="95250" dir="5400000">
              <a:srgbClr val="0E1B2C">
                <a:alpha val="50000"/>
              </a:srgbClr>
            </a:outerShdw>
          </a:effectLst>
        </p:spPr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30300" y="6196013"/>
            <a:ext cx="266700" cy="266700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10412730" y="8524875"/>
            <a:ext cx="706374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spc="252" kern="0" dirty="0">
                <a:solidFill>
                  <a:srgbClr val="6A76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FEATURE DEMO · VIRTUAL ASSISTANT (MOBILE)</a:t>
            </a:r>
            <a:endParaRPr lang="en-US" sz="1800" dirty="0"/>
          </a:p>
        </p:txBody>
      </p:sp>
      <p:sp>
        <p:nvSpPr>
          <p:cNvPr id="36" name="Shape 32"/>
          <p:cNvSpPr/>
          <p:nvPr/>
        </p:nvSpPr>
        <p:spPr>
          <a:xfrm>
            <a:off x="914400" y="9382125"/>
            <a:ext cx="16459200" cy="9525"/>
          </a:xfrm>
          <a:prstGeom prst="rect">
            <a:avLst/>
          </a:prstGeom>
          <a:solidFill>
            <a:srgbClr val="D8D2C6"/>
          </a:solidFill>
          <a:ln/>
        </p:spPr>
      </p:sp>
      <p:sp>
        <p:nvSpPr>
          <p:cNvPr id="37" name="Text 33"/>
          <p:cNvSpPr/>
          <p:nvPr/>
        </p:nvSpPr>
        <p:spPr>
          <a:xfrm>
            <a:off x="16189375" y="9601200"/>
            <a:ext cx="126042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0E1B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/ 02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2026-04-19T18:35:10Z</dcterms:created>
  <dcterms:modified xsi:type="dcterms:W3CDTF">2026-04-19T18:35:10Z</dcterms:modified>
</cp:coreProperties>
</file>