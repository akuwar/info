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1B40"/>
          </a:solidFill>
          <a:ln w="12700">
            <a:solidFill>
              <a:srgbClr val="0D1B40"/>
            </a:solidFill>
            <a:prstDash val="solid"/>
          </a:ln>
        </p:spPr>
      </p:sp>
      <p:sp>
        <p:nvSpPr>
          <p:cNvPr id="3" name="Shape 1"/>
          <p:cNvSpPr/>
          <p:nvPr/>
        </p:nvSpPr>
        <p:spPr>
          <a:xfrm>
            <a:off x="0" y="0"/>
            <a:ext cx="109728" cy="5143500"/>
          </a:xfrm>
          <a:prstGeom prst="rect">
            <a:avLst/>
          </a:prstGeom>
          <a:solidFill>
            <a:srgbClr val="028090"/>
          </a:solidFill>
          <a:ln w="12700">
            <a:solidFill>
              <a:srgbClr val="028090"/>
            </a:solidFill>
            <a:prstDash val="solid"/>
          </a:ln>
        </p:spPr>
      </p:sp>
      <p:sp>
        <p:nvSpPr>
          <p:cNvPr id="4" name="Text 2"/>
          <p:cNvSpPr/>
          <p:nvPr/>
        </p:nvSpPr>
        <p:spPr>
          <a:xfrm>
            <a:off x="228600" y="411480"/>
            <a:ext cx="2514600" cy="1005840"/>
          </a:xfrm>
          <a:prstGeom prst="rect">
            <a:avLst/>
          </a:prstGeom>
          <a:noFill/>
          <a:ln/>
        </p:spPr>
        <p:txBody>
          <a:bodyPr wrap="square"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MULTILINGUAL</a:t>
            </a:r>
            <a:endParaRPr lang="en-US" sz="1500" dirty="0"/>
          </a:p>
          <a:p>
            <a:pPr algn="l" indent="0" marL="0">
              <a:buNone/>
            </a:pPr>
            <a:r>
              <a:rPr lang="en-US" sz="1500" b="1" dirty="0">
                <a:solidFill>
                  <a:srgbClr val="FFFFFF"/>
                </a:solidFill>
                <a:latin typeface="Calibri" pitchFamily="34" charset="0"/>
                <a:ea typeface="Calibri" pitchFamily="34" charset="-122"/>
                <a:cs typeface="Calibri" pitchFamily="34" charset="-120"/>
              </a:rPr>
              <a:t>VIRTUAL ASSISTANT</a:t>
            </a:r>
            <a:endParaRPr lang="en-US" sz="1500" dirty="0"/>
          </a:p>
        </p:txBody>
      </p:sp>
      <p:sp>
        <p:nvSpPr>
          <p:cNvPr id="5" name="Text 3"/>
          <p:cNvSpPr/>
          <p:nvPr/>
        </p:nvSpPr>
        <p:spPr>
          <a:xfrm>
            <a:off x="228600" y="1417320"/>
            <a:ext cx="2514600" cy="320040"/>
          </a:xfrm>
          <a:prstGeom prst="rect">
            <a:avLst/>
          </a:prstGeom>
          <a:noFill/>
          <a:ln/>
        </p:spPr>
        <p:txBody>
          <a:bodyPr wrap="square" rtlCol="0" anchor="ctr"/>
          <a:lstStyle/>
          <a:p>
            <a:pPr algn="l" indent="0" marL="0">
              <a:buNone/>
            </a:pPr>
            <a:r>
              <a:rPr lang="en-US" sz="1100" i="1" dirty="0">
                <a:solidFill>
                  <a:srgbClr val="028090"/>
                </a:solidFill>
                <a:latin typeface="Calibri" pitchFamily="34" charset="0"/>
                <a:ea typeface="Calibri" pitchFamily="34" charset="-122"/>
                <a:cs typeface="Calibri" pitchFamily="34" charset="-120"/>
              </a:rPr>
              <a:t>Analysis Summary</a:t>
            </a:r>
            <a:endParaRPr lang="en-US" sz="1100" dirty="0"/>
          </a:p>
        </p:txBody>
      </p:sp>
      <p:sp>
        <p:nvSpPr>
          <p:cNvPr id="6" name="Shape 4"/>
          <p:cNvSpPr/>
          <p:nvPr/>
        </p:nvSpPr>
        <p:spPr>
          <a:xfrm>
            <a:off x="228600" y="1828800"/>
            <a:ext cx="2286000" cy="0"/>
          </a:xfrm>
          <a:prstGeom prst="line">
            <a:avLst/>
          </a:prstGeom>
          <a:noFill/>
          <a:ln w="9525">
            <a:solidFill>
              <a:srgbClr val="028090"/>
            </a:solidFill>
            <a:prstDash val="solid"/>
          </a:ln>
        </p:spPr>
      </p:sp>
      <p:sp>
        <p:nvSpPr>
          <p:cNvPr id="7" name="Text 5"/>
          <p:cNvSpPr/>
          <p:nvPr/>
        </p:nvSpPr>
        <p:spPr>
          <a:xfrm>
            <a:off x="228600" y="2103120"/>
            <a:ext cx="2514600" cy="411480"/>
          </a:xfrm>
          <a:prstGeom prst="rect">
            <a:avLst/>
          </a:prstGeom>
          <a:noFill/>
          <a:ln/>
        </p:spPr>
        <p:txBody>
          <a:bodyPr wrap="square"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17</a:t>
            </a:r>
            <a:endParaRPr lang="en-US" sz="2600" dirty="0"/>
          </a:p>
        </p:txBody>
      </p:sp>
      <p:sp>
        <p:nvSpPr>
          <p:cNvPr id="8" name="Text 6"/>
          <p:cNvSpPr/>
          <p:nvPr/>
        </p:nvSpPr>
        <p:spPr>
          <a:xfrm>
            <a:off x="228600" y="2487168"/>
            <a:ext cx="2514600" cy="411480"/>
          </a:xfrm>
          <a:prstGeom prst="rect">
            <a:avLst/>
          </a:prstGeom>
          <a:noFill/>
          <a:ln/>
        </p:spPr>
        <p:txBody>
          <a:bodyPr wrap="square" rtlCol="0" anchor="ctr"/>
          <a:lstStyle/>
          <a:p>
            <a:pPr algn="l" indent="0" marL="0">
              <a:buNone/>
            </a:pPr>
            <a:r>
              <a:rPr lang="en-US" sz="950" dirty="0">
                <a:solidFill>
                  <a:srgbClr val="8A9BB0"/>
                </a:solidFill>
                <a:latin typeface="Calibri" pitchFamily="34" charset="0"/>
                <a:ea typeface="Calibri" pitchFamily="34" charset="-122"/>
                <a:cs typeface="Calibri" pitchFamily="34" charset="-120"/>
              </a:rPr>
              <a:t>Total languages</a:t>
            </a:r>
            <a:endParaRPr lang="en-US" sz="950" dirty="0"/>
          </a:p>
        </p:txBody>
      </p:sp>
      <p:sp>
        <p:nvSpPr>
          <p:cNvPr id="9" name="Text 7"/>
          <p:cNvSpPr/>
          <p:nvPr/>
        </p:nvSpPr>
        <p:spPr>
          <a:xfrm>
            <a:off x="228600" y="3017520"/>
            <a:ext cx="2514600" cy="411480"/>
          </a:xfrm>
          <a:prstGeom prst="rect">
            <a:avLst/>
          </a:prstGeom>
          <a:noFill/>
          <a:ln/>
        </p:spPr>
        <p:txBody>
          <a:bodyPr wrap="square"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67%</a:t>
            </a:r>
            <a:endParaRPr lang="en-US" sz="2600" dirty="0"/>
          </a:p>
        </p:txBody>
      </p:sp>
      <p:sp>
        <p:nvSpPr>
          <p:cNvPr id="10" name="Text 8"/>
          <p:cNvSpPr/>
          <p:nvPr/>
        </p:nvSpPr>
        <p:spPr>
          <a:xfrm>
            <a:off x="228600" y="3401568"/>
            <a:ext cx="2514600" cy="411480"/>
          </a:xfrm>
          <a:prstGeom prst="rect">
            <a:avLst/>
          </a:prstGeom>
          <a:noFill/>
          <a:ln/>
        </p:spPr>
        <p:txBody>
          <a:bodyPr wrap="square" rtlCol="0" anchor="ctr"/>
          <a:lstStyle/>
          <a:p>
            <a:pPr algn="l" indent="0" marL="0">
              <a:buNone/>
            </a:pPr>
            <a:r>
              <a:rPr lang="en-US" sz="950" dirty="0">
                <a:solidFill>
                  <a:srgbClr val="8A9BB0"/>
                </a:solidFill>
                <a:latin typeface="Calibri" pitchFamily="34" charset="0"/>
                <a:ea typeface="Calibri" pitchFamily="34" charset="-122"/>
                <a:cs typeface="Calibri" pitchFamily="34" charset="-120"/>
              </a:rPr>
              <a:t>Overall confidence</a:t>
            </a:r>
            <a:endParaRPr lang="en-US" sz="950" dirty="0"/>
          </a:p>
          <a:p>
            <a:pPr algn="l" indent="0" marL="0">
              <a:buNone/>
            </a:pPr>
            <a:r>
              <a:rPr lang="en-US" sz="950" dirty="0">
                <a:solidFill>
                  <a:srgbClr val="8A9BB0"/>
                </a:solidFill>
                <a:latin typeface="Calibri" pitchFamily="34" charset="0"/>
                <a:ea typeface="Calibri" pitchFamily="34" charset="-122"/>
                <a:cs typeface="Calibri" pitchFamily="34" charset="-120"/>
              </a:rPr>
              <a:t>(Gemma Translate)</a:t>
            </a:r>
            <a:endParaRPr lang="en-US" sz="950" dirty="0"/>
          </a:p>
        </p:txBody>
      </p:sp>
      <p:sp>
        <p:nvSpPr>
          <p:cNvPr id="11" name="Text 9"/>
          <p:cNvSpPr/>
          <p:nvPr/>
        </p:nvSpPr>
        <p:spPr>
          <a:xfrm>
            <a:off x="228600" y="3931920"/>
            <a:ext cx="2514600" cy="411480"/>
          </a:xfrm>
          <a:prstGeom prst="rect">
            <a:avLst/>
          </a:prstGeom>
          <a:noFill/>
          <a:ln/>
        </p:spPr>
        <p:txBody>
          <a:bodyPr wrap="square" rtlCol="0" anchor="ctr"/>
          <a:lstStyle/>
          <a:p>
            <a:pPr algn="l" indent="0" marL="0">
              <a:buNone/>
            </a:pPr>
            <a:r>
              <a:rPr lang="en-US" sz="2600" b="1" dirty="0">
                <a:solidFill>
                  <a:srgbClr val="02C39A"/>
                </a:solidFill>
                <a:latin typeface="Calibri" pitchFamily="34" charset="0"/>
                <a:ea typeface="Calibri" pitchFamily="34" charset="-122"/>
                <a:cs typeface="Calibri" pitchFamily="34" charset="-120"/>
              </a:rPr>
              <a:t>3</a:t>
            </a:r>
            <a:endParaRPr lang="en-US" sz="2600" dirty="0"/>
          </a:p>
        </p:txBody>
      </p:sp>
      <p:sp>
        <p:nvSpPr>
          <p:cNvPr id="12" name="Text 10"/>
          <p:cNvSpPr/>
          <p:nvPr/>
        </p:nvSpPr>
        <p:spPr>
          <a:xfrm>
            <a:off x="228600" y="4315968"/>
            <a:ext cx="2514600" cy="411480"/>
          </a:xfrm>
          <a:prstGeom prst="rect">
            <a:avLst/>
          </a:prstGeom>
          <a:noFill/>
          <a:ln/>
        </p:spPr>
        <p:txBody>
          <a:bodyPr wrap="square" rtlCol="0" anchor="ctr"/>
          <a:lstStyle/>
          <a:p>
            <a:pPr algn="l" indent="0" marL="0">
              <a:buNone/>
            </a:pPr>
            <a:r>
              <a:rPr lang="en-US" sz="950" dirty="0">
                <a:solidFill>
                  <a:srgbClr val="8A9BB0"/>
                </a:solidFill>
                <a:latin typeface="Calibri" pitchFamily="34" charset="0"/>
                <a:ea typeface="Calibri" pitchFamily="34" charset="-122"/>
                <a:cs typeface="Calibri" pitchFamily="34" charset="-120"/>
              </a:rPr>
              <a:t>Solution layers</a:t>
            </a:r>
            <a:endParaRPr lang="en-US" sz="950" dirty="0"/>
          </a:p>
          <a:p>
            <a:pPr algn="l" indent="0" marL="0">
              <a:buNone/>
            </a:pPr>
            <a:r>
              <a:rPr lang="en-US" sz="950" dirty="0">
                <a:solidFill>
                  <a:srgbClr val="8A9BB0"/>
                </a:solidFill>
                <a:latin typeface="Calibri" pitchFamily="34" charset="0"/>
                <a:ea typeface="Calibri" pitchFamily="34" charset="-122"/>
                <a:cs typeface="Calibri" pitchFamily="34" charset="-120"/>
              </a:rPr>
              <a:t>for coherence</a:t>
            </a:r>
            <a:endParaRPr lang="en-US" sz="950" dirty="0"/>
          </a:p>
        </p:txBody>
      </p:sp>
      <p:sp>
        <p:nvSpPr>
          <p:cNvPr id="13" name="Text 11"/>
          <p:cNvSpPr/>
          <p:nvPr/>
        </p:nvSpPr>
        <p:spPr>
          <a:xfrm>
            <a:off x="3108960" y="256032"/>
            <a:ext cx="5760720" cy="384048"/>
          </a:xfrm>
          <a:prstGeom prst="rect">
            <a:avLst/>
          </a:prstGeom>
          <a:noFill/>
          <a:ln/>
        </p:spPr>
        <p:txBody>
          <a:bodyPr wrap="square" rtlCol="0" anchor="ctr"/>
          <a:lstStyle/>
          <a:p>
            <a:pPr algn="l" indent="0" marL="0">
              <a:buNone/>
            </a:pPr>
            <a:r>
              <a:rPr lang="en-US" sz="2000" b="1" dirty="0">
                <a:solidFill>
                  <a:srgbClr val="0D1B40"/>
                </a:solidFill>
                <a:latin typeface="Calibri" pitchFamily="34" charset="0"/>
                <a:ea typeface="Calibri" pitchFamily="34" charset="-122"/>
                <a:cs typeface="Calibri" pitchFamily="34" charset="-120"/>
              </a:rPr>
              <a:t>Three-perspective analysis</a:t>
            </a:r>
            <a:endParaRPr lang="en-US" sz="2000" dirty="0"/>
          </a:p>
        </p:txBody>
      </p:sp>
      <p:sp>
        <p:nvSpPr>
          <p:cNvPr id="14" name="Text 12"/>
          <p:cNvSpPr/>
          <p:nvPr/>
        </p:nvSpPr>
        <p:spPr>
          <a:xfrm>
            <a:off x="3108960" y="658368"/>
            <a:ext cx="5760720" cy="256032"/>
          </a:xfrm>
          <a:prstGeom prst="rect">
            <a:avLst/>
          </a:prstGeom>
          <a:noFill/>
          <a:ln/>
        </p:spPr>
        <p:txBody>
          <a:bodyPr wrap="square" rtlCol="0" anchor="ctr"/>
          <a:lstStyle/>
          <a:p>
            <a:pPr algn="l" indent="0" marL="0">
              <a:buNone/>
            </a:pPr>
            <a:r>
              <a:rPr lang="en-US" sz="950" dirty="0">
                <a:solidFill>
                  <a:srgbClr val="8A9BB0"/>
                </a:solidFill>
                <a:latin typeface="Calibri" pitchFamily="34" charset="0"/>
                <a:ea typeface="Calibri" pitchFamily="34" charset="-122"/>
                <a:cs typeface="Calibri" pitchFamily="34" charset="-120"/>
              </a:rPr>
              <a:t>Leading US Bank  ·  English + Spanish → 17 languages  ·  Gemma Translate on-prem</a:t>
            </a:r>
            <a:endParaRPr lang="en-US" sz="950" dirty="0"/>
          </a:p>
        </p:txBody>
      </p:sp>
      <p:sp>
        <p:nvSpPr>
          <p:cNvPr id="15" name="Shape 13"/>
          <p:cNvSpPr/>
          <p:nvPr/>
        </p:nvSpPr>
        <p:spPr>
          <a:xfrm>
            <a:off x="3063240" y="1051560"/>
            <a:ext cx="1920240" cy="3840480"/>
          </a:xfrm>
          <a:prstGeom prst="rect">
            <a:avLst/>
          </a:prstGeom>
          <a:solidFill>
            <a:srgbClr val="FFFFFF"/>
          </a:solidFill>
          <a:ln w="6350">
            <a:solidFill>
              <a:srgbClr val="D0DAE6"/>
            </a:solidFill>
            <a:prstDash val="solid"/>
          </a:ln>
        </p:spPr>
      </p:sp>
      <p:sp>
        <p:nvSpPr>
          <p:cNvPr id="16" name="Shape 14"/>
          <p:cNvSpPr/>
          <p:nvPr/>
        </p:nvSpPr>
        <p:spPr>
          <a:xfrm>
            <a:off x="3063240" y="1051560"/>
            <a:ext cx="64008" cy="3840480"/>
          </a:xfrm>
          <a:prstGeom prst="rect">
            <a:avLst/>
          </a:prstGeom>
          <a:solidFill>
            <a:srgbClr val="028090"/>
          </a:solidFill>
          <a:ln w="12700">
            <a:solidFill>
              <a:srgbClr val="028090"/>
            </a:solidFill>
            <a:prstDash val="solid"/>
          </a:ln>
        </p:spPr>
      </p:sp>
      <p:sp>
        <p:nvSpPr>
          <p:cNvPr id="17" name="Shape 15"/>
          <p:cNvSpPr/>
          <p:nvPr/>
        </p:nvSpPr>
        <p:spPr>
          <a:xfrm>
            <a:off x="3172968" y="1179576"/>
            <a:ext cx="310896" cy="256032"/>
          </a:xfrm>
          <a:prstGeom prst="rect">
            <a:avLst/>
          </a:prstGeom>
          <a:solidFill>
            <a:srgbClr val="028090"/>
          </a:solidFill>
          <a:ln w="12700">
            <a:solidFill>
              <a:srgbClr val="028090"/>
            </a:solidFill>
            <a:prstDash val="solid"/>
          </a:ln>
        </p:spPr>
      </p:sp>
      <p:sp>
        <p:nvSpPr>
          <p:cNvPr id="18" name="Text 16"/>
          <p:cNvSpPr/>
          <p:nvPr/>
        </p:nvSpPr>
        <p:spPr>
          <a:xfrm>
            <a:off x="3172968" y="1179576"/>
            <a:ext cx="31089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01</a:t>
            </a:r>
            <a:endParaRPr lang="en-US" sz="850" dirty="0"/>
          </a:p>
        </p:txBody>
      </p:sp>
      <p:sp>
        <p:nvSpPr>
          <p:cNvPr id="19" name="Text 17"/>
          <p:cNvSpPr/>
          <p:nvPr/>
        </p:nvSpPr>
        <p:spPr>
          <a:xfrm>
            <a:off x="3566160" y="1179576"/>
            <a:ext cx="1325880" cy="274320"/>
          </a:xfrm>
          <a:prstGeom prst="rect">
            <a:avLst/>
          </a:prstGeom>
          <a:noFill/>
          <a:ln/>
        </p:spPr>
        <p:txBody>
          <a:bodyPr wrap="square" rtlCol="0" anchor="ctr"/>
          <a:lstStyle/>
          <a:p>
            <a:pPr algn="l" indent="0" marL="0">
              <a:buNone/>
            </a:pPr>
            <a:r>
              <a:rPr lang="en-US" sz="900" b="1" dirty="0">
                <a:solidFill>
                  <a:srgbClr val="0D1B40"/>
                </a:solidFill>
                <a:latin typeface="Calibri" pitchFamily="34" charset="0"/>
                <a:ea typeface="Calibri" pitchFamily="34" charset="-122"/>
                <a:cs typeface="Calibri" pitchFamily="34" charset="-120"/>
              </a:rPr>
              <a:t>Technical feasibility</a:t>
            </a:r>
            <a:endParaRPr lang="en-US" sz="900" dirty="0"/>
          </a:p>
        </p:txBody>
      </p:sp>
      <p:sp>
        <p:nvSpPr>
          <p:cNvPr id="20" name="Shape 18"/>
          <p:cNvSpPr/>
          <p:nvPr/>
        </p:nvSpPr>
        <p:spPr>
          <a:xfrm>
            <a:off x="3172968" y="1527048"/>
            <a:ext cx="1719072" cy="0"/>
          </a:xfrm>
          <a:prstGeom prst="line">
            <a:avLst/>
          </a:prstGeom>
          <a:noFill/>
          <a:ln w="6350">
            <a:solidFill>
              <a:srgbClr val="D0DAE6"/>
            </a:solidFill>
            <a:prstDash val="solid"/>
          </a:ln>
        </p:spPr>
      </p:sp>
      <p:sp>
        <p:nvSpPr>
          <p:cNvPr id="21" name="Text 19"/>
          <p:cNvSpPr/>
          <p:nvPr/>
        </p:nvSpPr>
        <p:spPr>
          <a:xfrm>
            <a:off x="3182112" y="1618488"/>
            <a:ext cx="1719072" cy="2697480"/>
          </a:xfrm>
          <a:prstGeom prst="rect">
            <a:avLst/>
          </a:prstGeom>
          <a:noFill/>
          <a:ln/>
        </p:spPr>
        <p:txBody>
          <a:bodyPr wrap="square" rtlCol="0" anchor="t"/>
          <a:lstStyle/>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Translate-in / translate-out pipeline architecture</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GPU inference required — CPU will not meet 1s SLA</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INT8 quantization + phrase caching for latency</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French, Chinese, Russian, Portuguese: high confidence (80%+)</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Telugu &amp; Haitian Creole: no published eval metrics — validate first</a:t>
            </a:r>
            <a:endParaRPr lang="en-US" sz="850" dirty="0"/>
          </a:p>
        </p:txBody>
      </p:sp>
      <p:sp>
        <p:nvSpPr>
          <p:cNvPr id="22" name="Shape 20"/>
          <p:cNvSpPr/>
          <p:nvPr/>
        </p:nvSpPr>
        <p:spPr>
          <a:xfrm>
            <a:off x="3172968" y="4453128"/>
            <a:ext cx="1719072" cy="274320"/>
          </a:xfrm>
          <a:prstGeom prst="rect">
            <a:avLst/>
          </a:prstGeom>
          <a:solidFill>
            <a:srgbClr val="02C39A">
              <a:alpha val="15000"/>
            </a:srgbClr>
          </a:solidFill>
          <a:ln w="6350">
            <a:solidFill>
              <a:srgbClr val="02C39A"/>
            </a:solidFill>
            <a:prstDash val="solid"/>
          </a:ln>
        </p:spPr>
      </p:sp>
      <p:sp>
        <p:nvSpPr>
          <p:cNvPr id="23" name="Text 21"/>
          <p:cNvSpPr/>
          <p:nvPr/>
        </p:nvSpPr>
        <p:spPr>
          <a:xfrm>
            <a:off x="3172968" y="4453128"/>
            <a:ext cx="1719072" cy="274320"/>
          </a:xfrm>
          <a:prstGeom prst="rect">
            <a:avLst/>
          </a:prstGeom>
          <a:noFill/>
          <a:ln/>
        </p:spPr>
        <p:txBody>
          <a:bodyPr wrap="square" lIns="0" tIns="0" rIns="0" bIns="0" rtlCol="0" anchor="ctr"/>
          <a:lstStyle/>
          <a:p>
            <a:pPr algn="ctr" indent="0" marL="0">
              <a:buNone/>
            </a:pPr>
            <a:r>
              <a:rPr lang="en-US" sz="800" b="1" dirty="0">
                <a:solidFill>
                  <a:srgbClr val="02C39A"/>
                </a:solidFill>
                <a:latin typeface="Calibri" pitchFamily="34" charset="0"/>
                <a:ea typeface="Calibri" pitchFamily="34" charset="-122"/>
                <a:cs typeface="Calibri" pitchFamily="34" charset="-120"/>
              </a:rPr>
              <a:t>CONDITIONAL GO</a:t>
            </a:r>
            <a:endParaRPr lang="en-US" sz="800" dirty="0"/>
          </a:p>
        </p:txBody>
      </p:sp>
      <p:sp>
        <p:nvSpPr>
          <p:cNvPr id="24" name="Shape 22"/>
          <p:cNvSpPr/>
          <p:nvPr/>
        </p:nvSpPr>
        <p:spPr>
          <a:xfrm>
            <a:off x="5074920" y="1051560"/>
            <a:ext cx="1920240" cy="3840480"/>
          </a:xfrm>
          <a:prstGeom prst="rect">
            <a:avLst/>
          </a:prstGeom>
          <a:solidFill>
            <a:srgbClr val="FFFFFF"/>
          </a:solidFill>
          <a:ln w="6350">
            <a:solidFill>
              <a:srgbClr val="D0DAE6"/>
            </a:solidFill>
            <a:prstDash val="solid"/>
          </a:ln>
        </p:spPr>
      </p:sp>
      <p:sp>
        <p:nvSpPr>
          <p:cNvPr id="25" name="Shape 23"/>
          <p:cNvSpPr/>
          <p:nvPr/>
        </p:nvSpPr>
        <p:spPr>
          <a:xfrm>
            <a:off x="5074920" y="1051560"/>
            <a:ext cx="64008" cy="3840480"/>
          </a:xfrm>
          <a:prstGeom prst="rect">
            <a:avLst/>
          </a:prstGeom>
          <a:solidFill>
            <a:srgbClr val="E8963A"/>
          </a:solidFill>
          <a:ln w="12700">
            <a:solidFill>
              <a:srgbClr val="E8963A"/>
            </a:solidFill>
            <a:prstDash val="solid"/>
          </a:ln>
        </p:spPr>
      </p:sp>
      <p:sp>
        <p:nvSpPr>
          <p:cNvPr id="26" name="Shape 24"/>
          <p:cNvSpPr/>
          <p:nvPr/>
        </p:nvSpPr>
        <p:spPr>
          <a:xfrm>
            <a:off x="5184648" y="1179576"/>
            <a:ext cx="310896" cy="256032"/>
          </a:xfrm>
          <a:prstGeom prst="rect">
            <a:avLst/>
          </a:prstGeom>
          <a:solidFill>
            <a:srgbClr val="E8963A"/>
          </a:solidFill>
          <a:ln w="12700">
            <a:solidFill>
              <a:srgbClr val="E8963A"/>
            </a:solidFill>
            <a:prstDash val="solid"/>
          </a:ln>
        </p:spPr>
      </p:sp>
      <p:sp>
        <p:nvSpPr>
          <p:cNvPr id="27" name="Text 25"/>
          <p:cNvSpPr/>
          <p:nvPr/>
        </p:nvSpPr>
        <p:spPr>
          <a:xfrm>
            <a:off x="5184648" y="1179576"/>
            <a:ext cx="31089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02</a:t>
            </a:r>
            <a:endParaRPr lang="en-US" sz="850" dirty="0"/>
          </a:p>
        </p:txBody>
      </p:sp>
      <p:sp>
        <p:nvSpPr>
          <p:cNvPr id="28" name="Text 26"/>
          <p:cNvSpPr/>
          <p:nvPr/>
        </p:nvSpPr>
        <p:spPr>
          <a:xfrm>
            <a:off x="5577840" y="1179576"/>
            <a:ext cx="1325880" cy="274320"/>
          </a:xfrm>
          <a:prstGeom prst="rect">
            <a:avLst/>
          </a:prstGeom>
          <a:noFill/>
          <a:ln/>
        </p:spPr>
        <p:txBody>
          <a:bodyPr wrap="square" rtlCol="0" anchor="ctr"/>
          <a:lstStyle/>
          <a:p>
            <a:pPr algn="l" indent="0" marL="0">
              <a:buNone/>
            </a:pPr>
            <a:r>
              <a:rPr lang="en-US" sz="900" b="1" dirty="0">
                <a:solidFill>
                  <a:srgbClr val="0D1B40"/>
                </a:solidFill>
                <a:latin typeface="Calibri" pitchFamily="34" charset="0"/>
                <a:ea typeface="Calibri" pitchFamily="34" charset="-122"/>
                <a:cs typeface="Calibri" pitchFamily="34" charset="-120"/>
              </a:rPr>
              <a:t>Business impact</a:t>
            </a:r>
            <a:endParaRPr lang="en-US" sz="900" dirty="0"/>
          </a:p>
        </p:txBody>
      </p:sp>
      <p:sp>
        <p:nvSpPr>
          <p:cNvPr id="29" name="Shape 27"/>
          <p:cNvSpPr/>
          <p:nvPr/>
        </p:nvSpPr>
        <p:spPr>
          <a:xfrm>
            <a:off x="5184648" y="1527048"/>
            <a:ext cx="1719072" cy="0"/>
          </a:xfrm>
          <a:prstGeom prst="line">
            <a:avLst/>
          </a:prstGeom>
          <a:noFill/>
          <a:ln w="6350">
            <a:solidFill>
              <a:srgbClr val="D0DAE6"/>
            </a:solidFill>
            <a:prstDash val="solid"/>
          </a:ln>
        </p:spPr>
      </p:sp>
      <p:sp>
        <p:nvSpPr>
          <p:cNvPr id="30" name="Text 28"/>
          <p:cNvSpPr/>
          <p:nvPr/>
        </p:nvSpPr>
        <p:spPr>
          <a:xfrm>
            <a:off x="5193792" y="1618488"/>
            <a:ext cx="1719072" cy="2697480"/>
          </a:xfrm>
          <a:prstGeom prst="rect">
            <a:avLst/>
          </a:prstGeom>
          <a:noFill/>
          <a:ln/>
        </p:spPr>
        <p:txBody>
          <a:bodyPr wrap="square" rtlCol="0" anchor="t"/>
          <a:lstStyle/>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Language plugin registry for future expansion (config, not code)</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Phase rollout: high-resource languages first</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Session-level English context store for multi-turn coherence</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Context-aware translation per turn (prior history in prompt)</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Clarification fallback when entity confidence is low</a:t>
            </a:r>
            <a:endParaRPr lang="en-US" sz="850" dirty="0"/>
          </a:p>
        </p:txBody>
      </p:sp>
      <p:sp>
        <p:nvSpPr>
          <p:cNvPr id="31" name="Shape 29"/>
          <p:cNvSpPr/>
          <p:nvPr/>
        </p:nvSpPr>
        <p:spPr>
          <a:xfrm>
            <a:off x="5184648" y="4453128"/>
            <a:ext cx="1719072" cy="274320"/>
          </a:xfrm>
          <a:prstGeom prst="rect">
            <a:avLst/>
          </a:prstGeom>
          <a:solidFill>
            <a:srgbClr val="E8963A">
              <a:alpha val="15000"/>
            </a:srgbClr>
          </a:solidFill>
          <a:ln w="6350">
            <a:solidFill>
              <a:srgbClr val="E8963A"/>
            </a:solidFill>
            <a:prstDash val="solid"/>
          </a:ln>
        </p:spPr>
      </p:sp>
      <p:sp>
        <p:nvSpPr>
          <p:cNvPr id="32" name="Text 30"/>
          <p:cNvSpPr/>
          <p:nvPr/>
        </p:nvSpPr>
        <p:spPr>
          <a:xfrm>
            <a:off x="5184648" y="4453128"/>
            <a:ext cx="1719072" cy="274320"/>
          </a:xfrm>
          <a:prstGeom prst="rect">
            <a:avLst/>
          </a:prstGeom>
          <a:noFill/>
          <a:ln/>
        </p:spPr>
        <p:txBody>
          <a:bodyPr wrap="square" lIns="0" tIns="0" rIns="0" bIns="0" rtlCol="0" anchor="ctr"/>
          <a:lstStyle/>
          <a:p>
            <a:pPr algn="ctr" indent="0" marL="0">
              <a:buNone/>
            </a:pPr>
            <a:r>
              <a:rPr lang="en-US" sz="800" b="1" dirty="0">
                <a:solidFill>
                  <a:srgbClr val="E8963A"/>
                </a:solidFill>
                <a:latin typeface="Calibri" pitchFamily="34" charset="0"/>
                <a:ea typeface="Calibri" pitchFamily="34" charset="-122"/>
                <a:cs typeface="Calibri" pitchFamily="34" charset="-120"/>
              </a:rPr>
              <a:t>PHASE &amp; EXPAND</a:t>
            </a:r>
            <a:endParaRPr lang="en-US" sz="800" dirty="0"/>
          </a:p>
        </p:txBody>
      </p:sp>
      <p:sp>
        <p:nvSpPr>
          <p:cNvPr id="33" name="Shape 31"/>
          <p:cNvSpPr/>
          <p:nvPr/>
        </p:nvSpPr>
        <p:spPr>
          <a:xfrm>
            <a:off x="7086600" y="1051560"/>
            <a:ext cx="1920240" cy="3840480"/>
          </a:xfrm>
          <a:prstGeom prst="rect">
            <a:avLst/>
          </a:prstGeom>
          <a:solidFill>
            <a:srgbClr val="FFFFFF"/>
          </a:solidFill>
          <a:ln w="6350">
            <a:solidFill>
              <a:srgbClr val="D0DAE6"/>
            </a:solidFill>
            <a:prstDash val="solid"/>
          </a:ln>
        </p:spPr>
      </p:sp>
      <p:sp>
        <p:nvSpPr>
          <p:cNvPr id="34" name="Shape 32"/>
          <p:cNvSpPr/>
          <p:nvPr/>
        </p:nvSpPr>
        <p:spPr>
          <a:xfrm>
            <a:off x="7086600" y="1051560"/>
            <a:ext cx="64008" cy="3840480"/>
          </a:xfrm>
          <a:prstGeom prst="rect">
            <a:avLst/>
          </a:prstGeom>
          <a:solidFill>
            <a:srgbClr val="C0392B"/>
          </a:solidFill>
          <a:ln w="12700">
            <a:solidFill>
              <a:srgbClr val="C0392B"/>
            </a:solidFill>
            <a:prstDash val="solid"/>
          </a:ln>
        </p:spPr>
      </p:sp>
      <p:sp>
        <p:nvSpPr>
          <p:cNvPr id="35" name="Shape 33"/>
          <p:cNvSpPr/>
          <p:nvPr/>
        </p:nvSpPr>
        <p:spPr>
          <a:xfrm>
            <a:off x="7196328" y="1179576"/>
            <a:ext cx="310896" cy="256032"/>
          </a:xfrm>
          <a:prstGeom prst="rect">
            <a:avLst/>
          </a:prstGeom>
          <a:solidFill>
            <a:srgbClr val="C0392B"/>
          </a:solidFill>
          <a:ln w="12700">
            <a:solidFill>
              <a:srgbClr val="C0392B"/>
            </a:solidFill>
            <a:prstDash val="solid"/>
          </a:ln>
        </p:spPr>
      </p:sp>
      <p:sp>
        <p:nvSpPr>
          <p:cNvPr id="36" name="Text 34"/>
          <p:cNvSpPr/>
          <p:nvPr/>
        </p:nvSpPr>
        <p:spPr>
          <a:xfrm>
            <a:off x="7196328" y="1179576"/>
            <a:ext cx="310896"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03</a:t>
            </a:r>
            <a:endParaRPr lang="en-US" sz="850" dirty="0"/>
          </a:p>
        </p:txBody>
      </p:sp>
      <p:sp>
        <p:nvSpPr>
          <p:cNvPr id="37" name="Text 35"/>
          <p:cNvSpPr/>
          <p:nvPr/>
        </p:nvSpPr>
        <p:spPr>
          <a:xfrm>
            <a:off x="7589520" y="1179576"/>
            <a:ext cx="1325880" cy="274320"/>
          </a:xfrm>
          <a:prstGeom prst="rect">
            <a:avLst/>
          </a:prstGeom>
          <a:noFill/>
          <a:ln/>
        </p:spPr>
        <p:txBody>
          <a:bodyPr wrap="square" rtlCol="0" anchor="ctr"/>
          <a:lstStyle/>
          <a:p>
            <a:pPr algn="l" indent="0" marL="0">
              <a:buNone/>
            </a:pPr>
            <a:r>
              <a:rPr lang="en-US" sz="900" b="1" dirty="0">
                <a:solidFill>
                  <a:srgbClr val="0D1B40"/>
                </a:solidFill>
                <a:latin typeface="Calibri" pitchFamily="34" charset="0"/>
                <a:ea typeface="Calibri" pitchFamily="34" charset="-122"/>
                <a:cs typeface="Calibri" pitchFamily="34" charset="-120"/>
              </a:rPr>
              <a:t>Compliance / risk</a:t>
            </a:r>
            <a:endParaRPr lang="en-US" sz="900" dirty="0"/>
          </a:p>
        </p:txBody>
      </p:sp>
      <p:sp>
        <p:nvSpPr>
          <p:cNvPr id="38" name="Shape 36"/>
          <p:cNvSpPr/>
          <p:nvPr/>
        </p:nvSpPr>
        <p:spPr>
          <a:xfrm>
            <a:off x="7196328" y="1527048"/>
            <a:ext cx="1719072" cy="0"/>
          </a:xfrm>
          <a:prstGeom prst="line">
            <a:avLst/>
          </a:prstGeom>
          <a:noFill/>
          <a:ln w="6350">
            <a:solidFill>
              <a:srgbClr val="D0DAE6"/>
            </a:solidFill>
            <a:prstDash val="solid"/>
          </a:ln>
        </p:spPr>
      </p:sp>
      <p:sp>
        <p:nvSpPr>
          <p:cNvPr id="39" name="Text 37"/>
          <p:cNvSpPr/>
          <p:nvPr/>
        </p:nvSpPr>
        <p:spPr>
          <a:xfrm>
            <a:off x="7205472" y="1618488"/>
            <a:ext cx="1719072" cy="2697480"/>
          </a:xfrm>
          <a:prstGeom prst="rect">
            <a:avLst/>
          </a:prstGeom>
          <a:noFill/>
          <a:ln/>
        </p:spPr>
        <p:txBody>
          <a:bodyPr wrap="square" rtlCol="0" anchor="t"/>
          <a:lstStyle/>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Compliance-approved financial glossary — injected at inference</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Back-translation QA pipeline for all 15 languages</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Version-locked model checkpoint; re-approval gate for updates</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On-prem deployment eliminates PII exposure risk ✓</a:t>
            </a:r>
            <a:endParaRPr lang="en-US" sz="850" dirty="0"/>
          </a:p>
          <a:p>
            <a:pPr algn="l" marL="342900" indent="-342900">
              <a:spcAft>
                <a:spcPts val="300"/>
              </a:spcAft>
              <a:buSzPct val="100000"/>
              <a:buChar char="•"/>
            </a:pPr>
            <a:r>
              <a:rPr lang="en-US" sz="850" dirty="0">
                <a:solidFill>
                  <a:srgbClr val="3D5068"/>
                </a:solidFill>
                <a:latin typeface="Calibri" pitchFamily="34" charset="0"/>
                <a:ea typeface="Calibri" pitchFamily="34" charset="-122"/>
                <a:cs typeface="Calibri" pitchFamily="34" charset="-120"/>
              </a:rPr>
              <a:t>Semantic drift is highest risk for legal/regulatory terms</a:t>
            </a:r>
            <a:endParaRPr lang="en-US" sz="850" dirty="0"/>
          </a:p>
        </p:txBody>
      </p:sp>
      <p:sp>
        <p:nvSpPr>
          <p:cNvPr id="40" name="Shape 38"/>
          <p:cNvSpPr/>
          <p:nvPr/>
        </p:nvSpPr>
        <p:spPr>
          <a:xfrm>
            <a:off x="7196328" y="4453128"/>
            <a:ext cx="1719072" cy="274320"/>
          </a:xfrm>
          <a:prstGeom prst="rect">
            <a:avLst/>
          </a:prstGeom>
          <a:solidFill>
            <a:srgbClr val="028090">
              <a:alpha val="15000"/>
            </a:srgbClr>
          </a:solidFill>
          <a:ln w="6350">
            <a:solidFill>
              <a:srgbClr val="028090"/>
            </a:solidFill>
            <a:prstDash val="solid"/>
          </a:ln>
        </p:spPr>
      </p:sp>
      <p:sp>
        <p:nvSpPr>
          <p:cNvPr id="41" name="Text 39"/>
          <p:cNvSpPr/>
          <p:nvPr/>
        </p:nvSpPr>
        <p:spPr>
          <a:xfrm>
            <a:off x="7196328" y="4453128"/>
            <a:ext cx="1719072" cy="274320"/>
          </a:xfrm>
          <a:prstGeom prst="rect">
            <a:avLst/>
          </a:prstGeom>
          <a:noFill/>
          <a:ln/>
        </p:spPr>
        <p:txBody>
          <a:bodyPr wrap="square" lIns="0" tIns="0" rIns="0" bIns="0" rtlCol="0" anchor="ctr"/>
          <a:lstStyle/>
          <a:p>
            <a:pPr algn="ctr" indent="0" marL="0">
              <a:buNone/>
            </a:pPr>
            <a:r>
              <a:rPr lang="en-US" sz="800" b="1" dirty="0">
                <a:solidFill>
                  <a:srgbClr val="028090"/>
                </a:solidFill>
                <a:latin typeface="Calibri" pitchFamily="34" charset="0"/>
                <a:ea typeface="Calibri" pitchFamily="34" charset="-122"/>
                <a:cs typeface="Calibri" pitchFamily="34" charset="-120"/>
              </a:rPr>
              <a:t>MITIGABLE</a:t>
            </a:r>
            <a:endParaRPr lang="en-US" sz="800" dirty="0"/>
          </a:p>
        </p:txBody>
      </p:sp>
      <p:sp>
        <p:nvSpPr>
          <p:cNvPr id="42" name="Text 40"/>
          <p:cNvSpPr/>
          <p:nvPr/>
        </p:nvSpPr>
        <p:spPr>
          <a:xfrm>
            <a:off x="3108960" y="4892040"/>
            <a:ext cx="5760720" cy="201168"/>
          </a:xfrm>
          <a:prstGeom prst="rect">
            <a:avLst/>
          </a:prstGeom>
          <a:noFill/>
          <a:ln/>
        </p:spPr>
        <p:txBody>
          <a:bodyPr wrap="square" rtlCol="0" anchor="ctr"/>
          <a:lstStyle/>
          <a:p>
            <a:pPr algn="r" indent="0" marL="0">
              <a:buNone/>
            </a:pPr>
            <a:r>
              <a:rPr lang="en-US" sz="800" i="1" dirty="0">
                <a:solidFill>
                  <a:srgbClr val="8A9BB0"/>
                </a:solidFill>
                <a:latin typeface="Calibri" pitchFamily="34" charset="0"/>
                <a:ea typeface="Calibri" pitchFamily="34" charset="-122"/>
                <a:cs typeface="Calibri" pitchFamily="34" charset="-120"/>
              </a:rPr>
              <a:t>Confidential — for internal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0"/>
          </a:solidFill>
          <a:ln w="12700">
            <a:solidFill>
              <a:srgbClr val="0D1B40"/>
            </a:solidFill>
            <a:prstDash val="solid"/>
          </a:ln>
        </p:spPr>
      </p:sp>
      <p:sp>
        <p:nvSpPr>
          <p:cNvPr id="3" name="Shape 1"/>
          <p:cNvSpPr/>
          <p:nvPr/>
        </p:nvSpPr>
        <p:spPr>
          <a:xfrm>
            <a:off x="0" y="0"/>
            <a:ext cx="9144000" cy="91440"/>
          </a:xfrm>
          <a:prstGeom prst="rect">
            <a:avLst/>
          </a:prstGeom>
          <a:solidFill>
            <a:srgbClr val="028090"/>
          </a:solidFill>
          <a:ln w="12700">
            <a:solidFill>
              <a:srgbClr val="028090"/>
            </a:solidFill>
            <a:prstDash val="solid"/>
          </a:ln>
        </p:spPr>
      </p:sp>
      <p:sp>
        <p:nvSpPr>
          <p:cNvPr id="4" name="Text 2"/>
          <p:cNvSpPr/>
          <p:nvPr/>
        </p:nvSpPr>
        <p:spPr>
          <a:xfrm>
            <a:off x="365760" y="109728"/>
            <a:ext cx="6858000" cy="45720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Conversational coherence — the three-layer solution</a:t>
            </a:r>
            <a:endParaRPr lang="en-US" sz="1800" dirty="0"/>
          </a:p>
        </p:txBody>
      </p:sp>
      <p:sp>
        <p:nvSpPr>
          <p:cNvPr id="5" name="Text 3"/>
          <p:cNvSpPr/>
          <p:nvPr/>
        </p:nvSpPr>
        <p:spPr>
          <a:xfrm>
            <a:off x="365760" y="566928"/>
            <a:ext cx="6400800" cy="256032"/>
          </a:xfrm>
          <a:prstGeom prst="rect">
            <a:avLst/>
          </a:prstGeom>
          <a:noFill/>
          <a:ln/>
        </p:spPr>
        <p:txBody>
          <a:bodyPr wrap="square" rtlCol="0" anchor="ctr"/>
          <a:lstStyle/>
          <a:p>
            <a:pPr algn="l" indent="0" marL="0">
              <a:buNone/>
            </a:pPr>
            <a:r>
              <a:rPr lang="en-US" sz="1000" i="1" dirty="0">
                <a:solidFill>
                  <a:srgbClr val="028090"/>
                </a:solidFill>
                <a:latin typeface="Calibri" pitchFamily="34" charset="0"/>
                <a:ea typeface="Calibri" pitchFamily="34" charset="-122"/>
                <a:cs typeface="Calibri" pitchFamily="34" charset="-120"/>
              </a:rPr>
              <a:t>Multilingual VA  ·  Multi-turn dialogue</a:t>
            </a:r>
            <a:endParaRPr lang="en-US" sz="1000" dirty="0"/>
          </a:p>
        </p:txBody>
      </p:sp>
      <p:sp>
        <p:nvSpPr>
          <p:cNvPr id="6" name="Text 4"/>
          <p:cNvSpPr/>
          <p:nvPr/>
        </p:nvSpPr>
        <p:spPr>
          <a:xfrm>
            <a:off x="320040" y="1051560"/>
            <a:ext cx="2743200" cy="228600"/>
          </a:xfrm>
          <a:prstGeom prst="rect">
            <a:avLst/>
          </a:prstGeom>
          <a:noFill/>
          <a:ln/>
        </p:spPr>
        <p:txBody>
          <a:bodyPr wrap="square" rtlCol="0" anchor="ctr"/>
          <a:lstStyle/>
          <a:p>
            <a:pPr indent="0" marL="0">
              <a:buNone/>
            </a:pPr>
            <a:r>
              <a:rPr lang="en-US" sz="850" b="1" spc="200" kern="0" dirty="0">
                <a:solidFill>
                  <a:srgbClr val="028090"/>
                </a:solidFill>
                <a:latin typeface="Calibri" pitchFamily="34" charset="0"/>
                <a:ea typeface="Calibri" pitchFamily="34" charset="-122"/>
                <a:cs typeface="Calibri" pitchFamily="34" charset="-120"/>
              </a:rPr>
              <a:t>THE CHALLENGE</a:t>
            </a:r>
            <a:endParaRPr lang="en-US" sz="850" dirty="0"/>
          </a:p>
        </p:txBody>
      </p:sp>
      <p:sp>
        <p:nvSpPr>
          <p:cNvPr id="7" name="Shape 5"/>
          <p:cNvSpPr/>
          <p:nvPr/>
        </p:nvSpPr>
        <p:spPr>
          <a:xfrm>
            <a:off x="320040" y="1353312"/>
            <a:ext cx="2743200" cy="475488"/>
          </a:xfrm>
          <a:prstGeom prst="rect">
            <a:avLst/>
          </a:prstGeom>
          <a:solidFill>
            <a:srgbClr val="0D1B40"/>
          </a:solidFill>
          <a:ln w="6350">
            <a:solidFill>
              <a:srgbClr val="0D1B40"/>
            </a:solidFill>
            <a:prstDash val="solid"/>
          </a:ln>
        </p:spPr>
      </p:sp>
      <p:sp>
        <p:nvSpPr>
          <p:cNvPr id="8" name="Text 6"/>
          <p:cNvSpPr/>
          <p:nvPr/>
        </p:nvSpPr>
        <p:spPr>
          <a:xfrm>
            <a:off x="411480" y="1353312"/>
            <a:ext cx="2606040" cy="475488"/>
          </a:xfrm>
          <a:prstGeom prst="rect">
            <a:avLst/>
          </a:prstGeom>
          <a:noFill/>
          <a:ln/>
        </p:spPr>
        <p:txBody>
          <a:bodyPr wrap="square" lIns="76200" tIns="76200" rIns="76200" bIns="7620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User (Korean)  </a:t>
            </a:r>
            <a:pPr indent="0" marL="0">
              <a:buNone/>
            </a:pPr>
            <a:r>
              <a:rPr lang="en-US" sz="850" dirty="0">
                <a:solidFill>
                  <a:srgbClr val="FFFFFF"/>
                </a:solidFill>
                <a:latin typeface="Calibri" pitchFamily="34" charset="0"/>
                <a:ea typeface="Calibri" pitchFamily="34" charset="-122"/>
                <a:cs typeface="Calibri" pitchFamily="34" charset="-120"/>
              </a:rPr>
              <a:t>"I lost my debit card."</a:t>
            </a:r>
            <a:endParaRPr lang="en-US" sz="750" dirty="0"/>
          </a:p>
        </p:txBody>
      </p:sp>
      <p:sp>
        <p:nvSpPr>
          <p:cNvPr id="9" name="Text 7"/>
          <p:cNvSpPr/>
          <p:nvPr/>
        </p:nvSpPr>
        <p:spPr>
          <a:xfrm>
            <a:off x="0" y="1463040"/>
            <a:ext cx="347472" cy="201168"/>
          </a:xfrm>
          <a:prstGeom prst="rect">
            <a:avLst/>
          </a:prstGeom>
          <a:noFill/>
          <a:ln/>
        </p:spPr>
        <p:txBody>
          <a:bodyPr wrap="square" rtlCol="0" anchor="ctr"/>
          <a:lstStyle/>
          <a:p>
            <a:pPr algn="r" indent="0" marL="0">
              <a:buNone/>
            </a:pPr>
            <a:r>
              <a:rPr lang="en-US" sz="700" dirty="0">
                <a:solidFill>
                  <a:srgbClr val="8A9BB0"/>
                </a:solidFill>
                <a:latin typeface="Calibri" pitchFamily="34" charset="0"/>
                <a:ea typeface="Calibri" pitchFamily="34" charset="-122"/>
                <a:cs typeface="Calibri" pitchFamily="34" charset="-120"/>
              </a:rPr>
              <a:t>Turn 1</a:t>
            </a:r>
            <a:endParaRPr lang="en-US" sz="700" dirty="0"/>
          </a:p>
        </p:txBody>
      </p:sp>
      <p:sp>
        <p:nvSpPr>
          <p:cNvPr id="10" name="Shape 8"/>
          <p:cNvSpPr/>
          <p:nvPr/>
        </p:nvSpPr>
        <p:spPr>
          <a:xfrm>
            <a:off x="914400" y="1920240"/>
            <a:ext cx="2377440" cy="475488"/>
          </a:xfrm>
          <a:prstGeom prst="rect">
            <a:avLst/>
          </a:prstGeom>
          <a:solidFill>
            <a:srgbClr val="028090">
              <a:alpha val="12000"/>
            </a:srgbClr>
          </a:solidFill>
          <a:ln w="6350">
            <a:solidFill>
              <a:srgbClr val="028090"/>
            </a:solidFill>
            <a:prstDash val="solid"/>
          </a:ln>
        </p:spPr>
      </p:sp>
      <p:sp>
        <p:nvSpPr>
          <p:cNvPr id="11" name="Text 9"/>
          <p:cNvSpPr/>
          <p:nvPr/>
        </p:nvSpPr>
        <p:spPr>
          <a:xfrm>
            <a:off x="1005840" y="1920240"/>
            <a:ext cx="2240280" cy="475488"/>
          </a:xfrm>
          <a:prstGeom prst="rect">
            <a:avLst/>
          </a:prstGeom>
          <a:noFill/>
          <a:ln/>
        </p:spPr>
        <p:txBody>
          <a:bodyPr wrap="square" lIns="76200" tIns="76200" rIns="76200" bIns="76200" rtlCol="0" anchor="ctr"/>
          <a:lstStyle/>
          <a:p>
            <a:pPr indent="0" marL="0">
              <a:buNone/>
            </a:pPr>
            <a:r>
              <a:rPr lang="en-US" sz="750" b="1" dirty="0">
                <a:solidFill>
                  <a:srgbClr val="028090"/>
                </a:solidFill>
                <a:latin typeface="Calibri" pitchFamily="34" charset="0"/>
                <a:ea typeface="Calibri" pitchFamily="34" charset="-122"/>
                <a:cs typeface="Calibri" pitchFamily="34" charset="-120"/>
              </a:rPr>
              <a:t>VA (English core)  </a:t>
            </a:r>
            <a:pPr indent="0" marL="0">
              <a:buNone/>
            </a:pPr>
            <a:r>
              <a:rPr lang="en-US" sz="850" dirty="0">
                <a:solidFill>
                  <a:srgbClr val="0D1B40"/>
                </a:solidFill>
                <a:latin typeface="Calibri" pitchFamily="34" charset="0"/>
                <a:ea typeface="Calibri" pitchFamily="34" charset="-122"/>
                <a:cs typeface="Calibri" pitchFamily="34" charset="-120"/>
              </a:rPr>
              <a:t>"Which card — debit or credit?"</a:t>
            </a:r>
            <a:endParaRPr lang="en-US" sz="750" dirty="0"/>
          </a:p>
        </p:txBody>
      </p:sp>
      <p:sp>
        <p:nvSpPr>
          <p:cNvPr id="12" name="Shape 10"/>
          <p:cNvSpPr/>
          <p:nvPr/>
        </p:nvSpPr>
        <p:spPr>
          <a:xfrm>
            <a:off x="320040" y="2487168"/>
            <a:ext cx="2743200" cy="475488"/>
          </a:xfrm>
          <a:prstGeom prst="rect">
            <a:avLst/>
          </a:prstGeom>
          <a:solidFill>
            <a:srgbClr val="0D1B40"/>
          </a:solidFill>
          <a:ln w="6350">
            <a:solidFill>
              <a:srgbClr val="0D1B40"/>
            </a:solidFill>
            <a:prstDash val="solid"/>
          </a:ln>
        </p:spPr>
      </p:sp>
      <p:sp>
        <p:nvSpPr>
          <p:cNvPr id="13" name="Text 11"/>
          <p:cNvSpPr/>
          <p:nvPr/>
        </p:nvSpPr>
        <p:spPr>
          <a:xfrm>
            <a:off x="411480" y="2487168"/>
            <a:ext cx="2606040" cy="475488"/>
          </a:xfrm>
          <a:prstGeom prst="rect">
            <a:avLst/>
          </a:prstGeom>
          <a:noFill/>
          <a:ln/>
        </p:spPr>
        <p:txBody>
          <a:bodyPr wrap="square" lIns="76200" tIns="76200" rIns="76200" bIns="7620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User (Korean)  </a:t>
            </a:r>
            <a:pPr indent="0" marL="0">
              <a:buNone/>
            </a:pPr>
            <a:r>
              <a:rPr lang="en-US" sz="850" dirty="0">
                <a:solidFill>
                  <a:srgbClr val="FFFFFF"/>
                </a:solidFill>
                <a:latin typeface="Calibri" pitchFamily="34" charset="0"/>
                <a:ea typeface="Calibri" pitchFamily="34" charset="-122"/>
                <a:cs typeface="Calibri" pitchFamily="34" charset="-120"/>
              </a:rPr>
              <a:t>"The one I use for groceries."</a:t>
            </a:r>
            <a:endParaRPr lang="en-US" sz="750" dirty="0"/>
          </a:p>
        </p:txBody>
      </p:sp>
      <p:sp>
        <p:nvSpPr>
          <p:cNvPr id="14" name="Text 12"/>
          <p:cNvSpPr/>
          <p:nvPr/>
        </p:nvSpPr>
        <p:spPr>
          <a:xfrm>
            <a:off x="0" y="2596896"/>
            <a:ext cx="347472" cy="201168"/>
          </a:xfrm>
          <a:prstGeom prst="rect">
            <a:avLst/>
          </a:prstGeom>
          <a:noFill/>
          <a:ln/>
        </p:spPr>
        <p:txBody>
          <a:bodyPr wrap="square" rtlCol="0" anchor="ctr"/>
          <a:lstStyle/>
          <a:p>
            <a:pPr algn="r" indent="0" marL="0">
              <a:buNone/>
            </a:pPr>
            <a:r>
              <a:rPr lang="en-US" sz="700" dirty="0">
                <a:solidFill>
                  <a:srgbClr val="8A9BB0"/>
                </a:solidFill>
                <a:latin typeface="Calibri" pitchFamily="34" charset="0"/>
                <a:ea typeface="Calibri" pitchFamily="34" charset="-122"/>
                <a:cs typeface="Calibri" pitchFamily="34" charset="-120"/>
              </a:rPr>
              <a:t>Turn 2</a:t>
            </a:r>
            <a:endParaRPr lang="en-US" sz="700" dirty="0"/>
          </a:p>
        </p:txBody>
      </p:sp>
      <p:sp>
        <p:nvSpPr>
          <p:cNvPr id="15" name="Shape 13"/>
          <p:cNvSpPr/>
          <p:nvPr/>
        </p:nvSpPr>
        <p:spPr>
          <a:xfrm>
            <a:off x="320040" y="3090672"/>
            <a:ext cx="3017520" cy="658368"/>
          </a:xfrm>
          <a:prstGeom prst="rect">
            <a:avLst/>
          </a:prstGeom>
          <a:solidFill>
            <a:srgbClr val="C0392B">
              <a:alpha val="10000"/>
            </a:srgbClr>
          </a:solidFill>
          <a:ln w="7620">
            <a:solidFill>
              <a:srgbClr val="C0392B"/>
            </a:solidFill>
            <a:prstDash val="solid"/>
          </a:ln>
        </p:spPr>
      </p:sp>
      <p:sp>
        <p:nvSpPr>
          <p:cNvPr id="16" name="Text 14"/>
          <p:cNvSpPr/>
          <p:nvPr/>
        </p:nvSpPr>
        <p:spPr>
          <a:xfrm>
            <a:off x="411480" y="3090672"/>
            <a:ext cx="2834640" cy="658368"/>
          </a:xfrm>
          <a:prstGeom prst="rect">
            <a:avLst/>
          </a:prstGeom>
          <a:noFill/>
          <a:ln/>
        </p:spPr>
        <p:txBody>
          <a:bodyPr wrap="square" rtlCol="0" anchor="ctr"/>
          <a:lstStyle/>
          <a:p>
            <a:pPr indent="0" marL="0">
              <a:buNone/>
            </a:pPr>
            <a:r>
              <a:rPr lang="en-US" sz="800" b="1" dirty="0">
                <a:solidFill>
                  <a:srgbClr val="C0392B"/>
                </a:solidFill>
                <a:latin typeface="Calibri" pitchFamily="34" charset="0"/>
                <a:ea typeface="Calibri" pitchFamily="34" charset="-122"/>
                <a:cs typeface="Calibri" pitchFamily="34" charset="-120"/>
              </a:rPr>
              <a:t>Risk:  </a:t>
            </a:r>
            <a:pPr indent="0" marL="0">
              <a:buNone/>
            </a:pPr>
            <a:r>
              <a:rPr lang="en-US" sz="800" dirty="0">
                <a:solidFill>
                  <a:srgbClr val="5A1A1A"/>
                </a:solidFill>
                <a:latin typeface="Calibri" pitchFamily="34" charset="0"/>
                <a:ea typeface="Calibri" pitchFamily="34" charset="-122"/>
                <a:cs typeface="Calibri" pitchFamily="34" charset="-120"/>
              </a:rPr>
              <a:t>"The one" may arrive as "credit card" after translation — context store alone cannot recover from a corrupted input.</a:t>
            </a:r>
            <a:endParaRPr lang="en-US" sz="800" dirty="0"/>
          </a:p>
        </p:txBody>
      </p:sp>
      <p:sp>
        <p:nvSpPr>
          <p:cNvPr id="17" name="Shape 15"/>
          <p:cNvSpPr/>
          <p:nvPr/>
        </p:nvSpPr>
        <p:spPr>
          <a:xfrm>
            <a:off x="3520440" y="1005840"/>
            <a:ext cx="0" cy="3931920"/>
          </a:xfrm>
          <a:prstGeom prst="line">
            <a:avLst/>
          </a:prstGeom>
          <a:noFill/>
          <a:ln w="9525">
            <a:solidFill>
              <a:srgbClr val="D0DAE6"/>
            </a:solidFill>
            <a:prstDash val="solid"/>
          </a:ln>
        </p:spPr>
      </p:sp>
      <p:sp>
        <p:nvSpPr>
          <p:cNvPr id="18" name="Text 16"/>
          <p:cNvSpPr/>
          <p:nvPr/>
        </p:nvSpPr>
        <p:spPr>
          <a:xfrm>
            <a:off x="3703320" y="1051560"/>
            <a:ext cx="5120640" cy="228600"/>
          </a:xfrm>
          <a:prstGeom prst="rect">
            <a:avLst/>
          </a:prstGeom>
          <a:noFill/>
          <a:ln/>
        </p:spPr>
        <p:txBody>
          <a:bodyPr wrap="square" rtlCol="0" anchor="ctr"/>
          <a:lstStyle/>
          <a:p>
            <a:pPr indent="0" marL="0">
              <a:buNone/>
            </a:pPr>
            <a:r>
              <a:rPr lang="en-US" sz="850" b="1" spc="200" kern="0" dirty="0">
                <a:solidFill>
                  <a:srgbClr val="028090"/>
                </a:solidFill>
                <a:latin typeface="Calibri" pitchFamily="34" charset="0"/>
                <a:ea typeface="Calibri" pitchFamily="34" charset="-122"/>
                <a:cs typeface="Calibri" pitchFamily="34" charset="-120"/>
              </a:rPr>
              <a:t>THE SOLUTION — 3 LAYERS</a:t>
            </a:r>
            <a:endParaRPr lang="en-US" sz="850" dirty="0"/>
          </a:p>
        </p:txBody>
      </p:sp>
      <p:sp>
        <p:nvSpPr>
          <p:cNvPr id="19" name="Shape 17"/>
          <p:cNvSpPr/>
          <p:nvPr/>
        </p:nvSpPr>
        <p:spPr>
          <a:xfrm>
            <a:off x="3703320" y="1371600"/>
            <a:ext cx="5212080" cy="1078992"/>
          </a:xfrm>
          <a:prstGeom prst="rect">
            <a:avLst/>
          </a:prstGeom>
          <a:solidFill>
            <a:srgbClr val="FFFFFF"/>
          </a:solidFill>
          <a:ln w="6350">
            <a:solidFill>
              <a:srgbClr val="D0DAE6"/>
            </a:solidFill>
            <a:prstDash val="solid"/>
          </a:ln>
        </p:spPr>
      </p:sp>
      <p:sp>
        <p:nvSpPr>
          <p:cNvPr id="20" name="Shape 18"/>
          <p:cNvSpPr/>
          <p:nvPr/>
        </p:nvSpPr>
        <p:spPr>
          <a:xfrm>
            <a:off x="3703320" y="1371600"/>
            <a:ext cx="64008" cy="1078992"/>
          </a:xfrm>
          <a:prstGeom prst="rect">
            <a:avLst/>
          </a:prstGeom>
          <a:solidFill>
            <a:srgbClr val="028090"/>
          </a:solidFill>
          <a:ln w="12700">
            <a:solidFill>
              <a:srgbClr val="028090"/>
            </a:solidFill>
            <a:prstDash val="solid"/>
          </a:ln>
        </p:spPr>
      </p:sp>
      <p:sp>
        <p:nvSpPr>
          <p:cNvPr id="21" name="Shape 19"/>
          <p:cNvSpPr/>
          <p:nvPr/>
        </p:nvSpPr>
        <p:spPr>
          <a:xfrm>
            <a:off x="3813048" y="1499616"/>
            <a:ext cx="274320" cy="274320"/>
          </a:xfrm>
          <a:prstGeom prst="ellipse">
            <a:avLst/>
          </a:prstGeom>
          <a:solidFill>
            <a:srgbClr val="028090"/>
          </a:solidFill>
          <a:ln w="12700">
            <a:solidFill>
              <a:srgbClr val="028090"/>
            </a:solidFill>
            <a:prstDash val="solid"/>
          </a:ln>
        </p:spPr>
      </p:sp>
      <p:sp>
        <p:nvSpPr>
          <p:cNvPr id="22" name="Text 20"/>
          <p:cNvSpPr/>
          <p:nvPr/>
        </p:nvSpPr>
        <p:spPr>
          <a:xfrm>
            <a:off x="3813048" y="149961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3" name="Text 21"/>
          <p:cNvSpPr/>
          <p:nvPr/>
        </p:nvSpPr>
        <p:spPr>
          <a:xfrm>
            <a:off x="4178808" y="1490472"/>
            <a:ext cx="2926080" cy="256032"/>
          </a:xfrm>
          <a:prstGeom prst="rect">
            <a:avLst/>
          </a:prstGeom>
          <a:noFill/>
          <a:ln/>
        </p:spPr>
        <p:txBody>
          <a:bodyPr wrap="square" rtlCol="0" anchor="ctr"/>
          <a:lstStyle/>
          <a:p>
            <a:pPr indent="0" marL="0">
              <a:buNone/>
            </a:pPr>
            <a:r>
              <a:rPr lang="en-US" sz="1050" b="1" dirty="0">
                <a:solidFill>
                  <a:srgbClr val="0D1B40"/>
                </a:solidFill>
                <a:latin typeface="Calibri" pitchFamily="34" charset="0"/>
                <a:ea typeface="Calibri" pitchFamily="34" charset="-122"/>
                <a:cs typeface="Calibri" pitchFamily="34" charset="-120"/>
              </a:rPr>
              <a:t>English context store</a:t>
            </a:r>
            <a:endParaRPr lang="en-US" sz="1050" dirty="0"/>
          </a:p>
        </p:txBody>
      </p:sp>
      <p:sp>
        <p:nvSpPr>
          <p:cNvPr id="24" name="Text 22"/>
          <p:cNvSpPr/>
          <p:nvPr/>
        </p:nvSpPr>
        <p:spPr>
          <a:xfrm>
            <a:off x="4178808" y="1737360"/>
            <a:ext cx="4645152" cy="182880"/>
          </a:xfrm>
          <a:prstGeom prst="rect">
            <a:avLst/>
          </a:prstGeom>
          <a:noFill/>
          <a:ln/>
        </p:spPr>
        <p:txBody>
          <a:bodyPr wrap="square" rtlCol="0" anchor="ctr"/>
          <a:lstStyle/>
          <a:p>
            <a:pPr indent="0" marL="0">
              <a:buNone/>
            </a:pPr>
            <a:r>
              <a:rPr lang="en-US" sz="800" i="1" dirty="0">
                <a:solidFill>
                  <a:srgbClr val="028090"/>
                </a:solidFill>
                <a:latin typeface="Calibri" pitchFamily="34" charset="0"/>
                <a:ea typeface="Calibri" pitchFamily="34" charset="-122"/>
                <a:cs typeface="Calibri" pitchFamily="34" charset="-120"/>
              </a:rPr>
              <a:t>Solves: VA has no memory across turns</a:t>
            </a:r>
            <a:endParaRPr lang="en-US" sz="800" dirty="0"/>
          </a:p>
        </p:txBody>
      </p:sp>
      <p:sp>
        <p:nvSpPr>
          <p:cNvPr id="25" name="Text 23"/>
          <p:cNvSpPr/>
          <p:nvPr/>
        </p:nvSpPr>
        <p:spPr>
          <a:xfrm>
            <a:off x="3813048" y="1920240"/>
            <a:ext cx="5010912" cy="347472"/>
          </a:xfrm>
          <a:prstGeom prst="rect">
            <a:avLst/>
          </a:prstGeom>
          <a:noFill/>
          <a:ln/>
        </p:spPr>
        <p:txBody>
          <a:bodyPr wrap="square" rtlCol="0" anchor="ctr"/>
          <a:lstStyle/>
          <a:p>
            <a:pPr indent="0" marL="0">
              <a:buNone/>
            </a:pPr>
            <a:r>
              <a:rPr lang="en-US" sz="850" dirty="0">
                <a:solidFill>
                  <a:srgbClr val="3D5068"/>
                </a:solidFill>
                <a:latin typeface="Calibri" pitchFamily="34" charset="0"/>
                <a:ea typeface="Calibri" pitchFamily="34" charset="-122"/>
                <a:cs typeface="Calibri" pitchFamily="34" charset="-120"/>
              </a:rPr>
              <a:t>All dialogue history is kept in English inside the VA session. Each new turn arrives with the full prior exchange, so the VA can resolve references across turns — not just within a single utterance.</a:t>
            </a:r>
            <a:endParaRPr lang="en-US" sz="850" dirty="0"/>
          </a:p>
        </p:txBody>
      </p:sp>
      <p:sp>
        <p:nvSpPr>
          <p:cNvPr id="26" name="Text 24"/>
          <p:cNvSpPr/>
          <p:nvPr/>
        </p:nvSpPr>
        <p:spPr>
          <a:xfrm>
            <a:off x="3813048" y="2267712"/>
            <a:ext cx="5010912" cy="155448"/>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Note: Upstream of translation. Does NOT fix a bad translation.</a:t>
            </a:r>
            <a:endParaRPr lang="en-US" sz="750" dirty="0"/>
          </a:p>
        </p:txBody>
      </p:sp>
      <p:sp>
        <p:nvSpPr>
          <p:cNvPr id="27" name="Shape 25"/>
          <p:cNvSpPr/>
          <p:nvPr/>
        </p:nvSpPr>
        <p:spPr>
          <a:xfrm>
            <a:off x="3703320" y="2560320"/>
            <a:ext cx="5212080" cy="1078992"/>
          </a:xfrm>
          <a:prstGeom prst="rect">
            <a:avLst/>
          </a:prstGeom>
          <a:solidFill>
            <a:srgbClr val="FFFFFF"/>
          </a:solidFill>
          <a:ln w="6350">
            <a:solidFill>
              <a:srgbClr val="D0DAE6"/>
            </a:solidFill>
            <a:prstDash val="solid"/>
          </a:ln>
        </p:spPr>
      </p:sp>
      <p:sp>
        <p:nvSpPr>
          <p:cNvPr id="28" name="Shape 26"/>
          <p:cNvSpPr/>
          <p:nvPr/>
        </p:nvSpPr>
        <p:spPr>
          <a:xfrm>
            <a:off x="3703320" y="2560320"/>
            <a:ext cx="64008" cy="1078992"/>
          </a:xfrm>
          <a:prstGeom prst="rect">
            <a:avLst/>
          </a:prstGeom>
          <a:solidFill>
            <a:srgbClr val="E8963A"/>
          </a:solidFill>
          <a:ln w="12700">
            <a:solidFill>
              <a:srgbClr val="E8963A"/>
            </a:solidFill>
            <a:prstDash val="solid"/>
          </a:ln>
        </p:spPr>
      </p:sp>
      <p:sp>
        <p:nvSpPr>
          <p:cNvPr id="29" name="Shape 27"/>
          <p:cNvSpPr/>
          <p:nvPr/>
        </p:nvSpPr>
        <p:spPr>
          <a:xfrm>
            <a:off x="3813048" y="2688336"/>
            <a:ext cx="274320" cy="274320"/>
          </a:xfrm>
          <a:prstGeom prst="ellipse">
            <a:avLst/>
          </a:prstGeom>
          <a:solidFill>
            <a:srgbClr val="E8963A"/>
          </a:solidFill>
          <a:ln w="12700">
            <a:solidFill>
              <a:srgbClr val="E8963A"/>
            </a:solidFill>
            <a:prstDash val="solid"/>
          </a:ln>
        </p:spPr>
      </p:sp>
      <p:sp>
        <p:nvSpPr>
          <p:cNvPr id="30" name="Text 28"/>
          <p:cNvSpPr/>
          <p:nvPr/>
        </p:nvSpPr>
        <p:spPr>
          <a:xfrm>
            <a:off x="3813048" y="268833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1" name="Text 29"/>
          <p:cNvSpPr/>
          <p:nvPr/>
        </p:nvSpPr>
        <p:spPr>
          <a:xfrm>
            <a:off x="4178808" y="2679192"/>
            <a:ext cx="2926080" cy="256032"/>
          </a:xfrm>
          <a:prstGeom prst="rect">
            <a:avLst/>
          </a:prstGeom>
          <a:noFill/>
          <a:ln/>
        </p:spPr>
        <p:txBody>
          <a:bodyPr wrap="square" rtlCol="0" anchor="ctr"/>
          <a:lstStyle/>
          <a:p>
            <a:pPr indent="0" marL="0">
              <a:buNone/>
            </a:pPr>
            <a:r>
              <a:rPr lang="en-US" sz="1050" b="1" dirty="0">
                <a:solidFill>
                  <a:srgbClr val="0D1B40"/>
                </a:solidFill>
                <a:latin typeface="Calibri" pitchFamily="34" charset="0"/>
                <a:ea typeface="Calibri" pitchFamily="34" charset="-122"/>
                <a:cs typeface="Calibri" pitchFamily="34" charset="-120"/>
              </a:rPr>
              <a:t>Context-aware translation</a:t>
            </a:r>
            <a:endParaRPr lang="en-US" sz="1050" dirty="0"/>
          </a:p>
        </p:txBody>
      </p:sp>
      <p:sp>
        <p:nvSpPr>
          <p:cNvPr id="32" name="Text 30"/>
          <p:cNvSpPr/>
          <p:nvPr/>
        </p:nvSpPr>
        <p:spPr>
          <a:xfrm>
            <a:off x="4178808" y="2926080"/>
            <a:ext cx="4645152" cy="182880"/>
          </a:xfrm>
          <a:prstGeom prst="rect">
            <a:avLst/>
          </a:prstGeom>
          <a:noFill/>
          <a:ln/>
        </p:spPr>
        <p:txBody>
          <a:bodyPr wrap="square" rtlCol="0" anchor="ctr"/>
          <a:lstStyle/>
          <a:p>
            <a:pPr indent="0" marL="0">
              <a:buNone/>
            </a:pPr>
            <a:r>
              <a:rPr lang="en-US" sz="800" i="1" dirty="0">
                <a:solidFill>
                  <a:srgbClr val="E8963A"/>
                </a:solidFill>
                <a:latin typeface="Calibri" pitchFamily="34" charset="0"/>
                <a:ea typeface="Calibri" pitchFamily="34" charset="-122"/>
                <a:cs typeface="Calibri" pitchFamily="34" charset="-120"/>
              </a:rPr>
              <a:t>Solves: Translation loses referential meaning</a:t>
            </a:r>
            <a:endParaRPr lang="en-US" sz="800" dirty="0"/>
          </a:p>
        </p:txBody>
      </p:sp>
      <p:sp>
        <p:nvSpPr>
          <p:cNvPr id="33" name="Text 31"/>
          <p:cNvSpPr/>
          <p:nvPr/>
        </p:nvSpPr>
        <p:spPr>
          <a:xfrm>
            <a:off x="3813048" y="3108960"/>
            <a:ext cx="5010912" cy="347472"/>
          </a:xfrm>
          <a:prstGeom prst="rect">
            <a:avLst/>
          </a:prstGeom>
          <a:noFill/>
          <a:ln/>
        </p:spPr>
        <p:txBody>
          <a:bodyPr wrap="square" rtlCol="0" anchor="ctr"/>
          <a:lstStyle/>
          <a:p>
            <a:pPr indent="0" marL="0">
              <a:buNone/>
            </a:pPr>
            <a:r>
              <a:rPr lang="en-US" sz="850" dirty="0">
                <a:solidFill>
                  <a:srgbClr val="3D5068"/>
                </a:solidFill>
                <a:latin typeface="Calibri" pitchFamily="34" charset="0"/>
                <a:ea typeface="Calibri" pitchFamily="34" charset="-122"/>
                <a:cs typeface="Calibri" pitchFamily="34" charset="-120"/>
              </a:rPr>
              <a:t>Gemma receives Turn 1's English history as part of its translation prompt for Turn 2. Seeing "I lost my debit card" before translating "그거요," it renders "the debit card" not an ambiguous pronoun — resolving reference before it enters the VA.</a:t>
            </a:r>
            <a:endParaRPr lang="en-US" sz="850" dirty="0"/>
          </a:p>
        </p:txBody>
      </p:sp>
      <p:sp>
        <p:nvSpPr>
          <p:cNvPr id="34" name="Text 32"/>
          <p:cNvSpPr/>
          <p:nvPr/>
        </p:nvSpPr>
        <p:spPr>
          <a:xfrm>
            <a:off x="3813048" y="3456432"/>
            <a:ext cx="5010912" cy="155448"/>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Note: This is the layer missing from the original proposal.</a:t>
            </a:r>
            <a:endParaRPr lang="en-US" sz="750" dirty="0"/>
          </a:p>
        </p:txBody>
      </p:sp>
      <p:sp>
        <p:nvSpPr>
          <p:cNvPr id="35" name="Shape 33"/>
          <p:cNvSpPr/>
          <p:nvPr/>
        </p:nvSpPr>
        <p:spPr>
          <a:xfrm>
            <a:off x="3703320" y="3749040"/>
            <a:ext cx="5212080" cy="1078992"/>
          </a:xfrm>
          <a:prstGeom prst="rect">
            <a:avLst/>
          </a:prstGeom>
          <a:solidFill>
            <a:srgbClr val="FFFFFF"/>
          </a:solidFill>
          <a:ln w="6350">
            <a:solidFill>
              <a:srgbClr val="D0DAE6"/>
            </a:solidFill>
            <a:prstDash val="solid"/>
          </a:ln>
        </p:spPr>
      </p:sp>
      <p:sp>
        <p:nvSpPr>
          <p:cNvPr id="36" name="Shape 34"/>
          <p:cNvSpPr/>
          <p:nvPr/>
        </p:nvSpPr>
        <p:spPr>
          <a:xfrm>
            <a:off x="3703320" y="3749040"/>
            <a:ext cx="64008" cy="1078992"/>
          </a:xfrm>
          <a:prstGeom prst="rect">
            <a:avLst/>
          </a:prstGeom>
          <a:solidFill>
            <a:srgbClr val="02C39A"/>
          </a:solidFill>
          <a:ln w="12700">
            <a:solidFill>
              <a:srgbClr val="02C39A"/>
            </a:solidFill>
            <a:prstDash val="solid"/>
          </a:ln>
        </p:spPr>
      </p:sp>
      <p:sp>
        <p:nvSpPr>
          <p:cNvPr id="37" name="Shape 35"/>
          <p:cNvSpPr/>
          <p:nvPr/>
        </p:nvSpPr>
        <p:spPr>
          <a:xfrm>
            <a:off x="3813048" y="3877056"/>
            <a:ext cx="274320" cy="274320"/>
          </a:xfrm>
          <a:prstGeom prst="ellipse">
            <a:avLst/>
          </a:prstGeom>
          <a:solidFill>
            <a:srgbClr val="02C39A"/>
          </a:solidFill>
          <a:ln w="12700">
            <a:solidFill>
              <a:srgbClr val="02C39A"/>
            </a:solidFill>
            <a:prstDash val="solid"/>
          </a:ln>
        </p:spPr>
      </p:sp>
      <p:sp>
        <p:nvSpPr>
          <p:cNvPr id="38" name="Text 36"/>
          <p:cNvSpPr/>
          <p:nvPr/>
        </p:nvSpPr>
        <p:spPr>
          <a:xfrm>
            <a:off x="3813048" y="387705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9" name="Text 37"/>
          <p:cNvSpPr/>
          <p:nvPr/>
        </p:nvSpPr>
        <p:spPr>
          <a:xfrm>
            <a:off x="4178808" y="3867912"/>
            <a:ext cx="2926080" cy="256032"/>
          </a:xfrm>
          <a:prstGeom prst="rect">
            <a:avLst/>
          </a:prstGeom>
          <a:noFill/>
          <a:ln/>
        </p:spPr>
        <p:txBody>
          <a:bodyPr wrap="square" rtlCol="0" anchor="ctr"/>
          <a:lstStyle/>
          <a:p>
            <a:pPr indent="0" marL="0">
              <a:buNone/>
            </a:pPr>
            <a:r>
              <a:rPr lang="en-US" sz="1050" b="1" dirty="0">
                <a:solidFill>
                  <a:srgbClr val="0D1B40"/>
                </a:solidFill>
                <a:latin typeface="Calibri" pitchFamily="34" charset="0"/>
                <a:ea typeface="Calibri" pitchFamily="34" charset="-122"/>
                <a:cs typeface="Calibri" pitchFamily="34" charset="-120"/>
              </a:rPr>
              <a:t>Clarification fallback</a:t>
            </a:r>
            <a:endParaRPr lang="en-US" sz="1050" dirty="0"/>
          </a:p>
        </p:txBody>
      </p:sp>
      <p:sp>
        <p:nvSpPr>
          <p:cNvPr id="40" name="Text 38"/>
          <p:cNvSpPr/>
          <p:nvPr/>
        </p:nvSpPr>
        <p:spPr>
          <a:xfrm>
            <a:off x="4178808" y="4114800"/>
            <a:ext cx="4645152" cy="182880"/>
          </a:xfrm>
          <a:prstGeom prst="rect">
            <a:avLst/>
          </a:prstGeom>
          <a:noFill/>
          <a:ln/>
        </p:spPr>
        <p:txBody>
          <a:bodyPr wrap="square" rtlCol="0" anchor="ctr"/>
          <a:lstStyle/>
          <a:p>
            <a:pPr indent="0" marL="0">
              <a:buNone/>
            </a:pPr>
            <a:r>
              <a:rPr lang="en-US" sz="800" i="1" dirty="0">
                <a:solidFill>
                  <a:srgbClr val="02C39A"/>
                </a:solidFill>
                <a:latin typeface="Calibri" pitchFamily="34" charset="0"/>
                <a:ea typeface="Calibri" pitchFamily="34" charset="-122"/>
                <a:cs typeface="Calibri" pitchFamily="34" charset="-120"/>
              </a:rPr>
              <a:t>Solves: Residual drift for low-resource languages</a:t>
            </a:r>
            <a:endParaRPr lang="en-US" sz="800" dirty="0"/>
          </a:p>
        </p:txBody>
      </p:sp>
      <p:sp>
        <p:nvSpPr>
          <p:cNvPr id="41" name="Text 39"/>
          <p:cNvSpPr/>
          <p:nvPr/>
        </p:nvSpPr>
        <p:spPr>
          <a:xfrm>
            <a:off x="3813048" y="4297680"/>
            <a:ext cx="5010912" cy="347472"/>
          </a:xfrm>
          <a:prstGeom prst="rect">
            <a:avLst/>
          </a:prstGeom>
          <a:noFill/>
          <a:ln/>
        </p:spPr>
        <p:txBody>
          <a:bodyPr wrap="square" rtlCol="0" anchor="ctr"/>
          <a:lstStyle/>
          <a:p>
            <a:pPr indent="0" marL="0">
              <a:buNone/>
            </a:pPr>
            <a:r>
              <a:rPr lang="en-US" sz="850" dirty="0">
                <a:solidFill>
                  <a:srgbClr val="3D5068"/>
                </a:solidFill>
                <a:latin typeface="Calibri" pitchFamily="34" charset="0"/>
                <a:ea typeface="Calibri" pitchFamily="34" charset="-122"/>
                <a:cs typeface="Calibri" pitchFamily="34" charset="-120"/>
              </a:rPr>
              <a:t>When entity resolution confidence is below threshold, the VA asks: "Just to confirm — are you referring to your debit card ending in 4521?" Mandatory safety net for Haitian Creole and Telugu where translation drift is highest.</a:t>
            </a:r>
            <a:endParaRPr lang="en-US" sz="850" dirty="0"/>
          </a:p>
        </p:txBody>
      </p:sp>
      <p:sp>
        <p:nvSpPr>
          <p:cNvPr id="42" name="Text 40"/>
          <p:cNvSpPr/>
          <p:nvPr/>
        </p:nvSpPr>
        <p:spPr>
          <a:xfrm>
            <a:off x="3813048" y="4645152"/>
            <a:ext cx="5010912" cy="155448"/>
          </a:xfrm>
          <a:prstGeom prst="rect">
            <a:avLst/>
          </a:prstGeom>
          <a:noFill/>
          <a:ln/>
        </p:spPr>
        <p:txBody>
          <a:bodyPr wrap="square" rtlCol="0" anchor="ctr"/>
          <a:lstStyle/>
          <a:p>
            <a:pPr indent="0" marL="0">
              <a:buNone/>
            </a:pPr>
            <a:r>
              <a:rPr lang="en-US" sz="750" i="1" dirty="0">
                <a:solidFill>
                  <a:srgbClr val="8A9BB0"/>
                </a:solidFill>
                <a:latin typeface="Calibri" pitchFamily="34" charset="0"/>
                <a:ea typeface="Calibri" pitchFamily="34" charset="-122"/>
                <a:cs typeface="Calibri" pitchFamily="34" charset="-120"/>
              </a:rPr>
              <a:t>Note: Banking-standard practice regardless of language.</a:t>
            </a:r>
            <a:endParaRPr lang="en-US" sz="750" dirty="0"/>
          </a:p>
        </p:txBody>
      </p:sp>
      <p:sp>
        <p:nvSpPr>
          <p:cNvPr id="43" name="Text 41"/>
          <p:cNvSpPr/>
          <p:nvPr/>
        </p:nvSpPr>
        <p:spPr>
          <a:xfrm>
            <a:off x="320040" y="4919472"/>
            <a:ext cx="8503920" cy="182880"/>
          </a:xfrm>
          <a:prstGeom prst="rect">
            <a:avLst/>
          </a:prstGeom>
          <a:noFill/>
          <a:ln/>
        </p:spPr>
        <p:txBody>
          <a:bodyPr wrap="square" rtlCol="0" anchor="ctr"/>
          <a:lstStyle/>
          <a:p>
            <a:pPr algn="r" indent="0" marL="0">
              <a:buNone/>
            </a:pPr>
            <a:r>
              <a:rPr lang="en-US" sz="800" i="1" dirty="0">
                <a:solidFill>
                  <a:srgbClr val="8A9BB0"/>
                </a:solidFill>
                <a:latin typeface="Calibri" pitchFamily="34" charset="0"/>
                <a:ea typeface="Calibri" pitchFamily="34" charset="-122"/>
                <a:cs typeface="Calibri" pitchFamily="34" charset="-120"/>
              </a:rPr>
              <a:t>Confidential — for internal review</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40"/>
          </a:solidFill>
          <a:ln w="12700">
            <a:solidFill>
              <a:srgbClr val="0D1B40"/>
            </a:solidFill>
            <a:prstDash val="solid"/>
          </a:ln>
        </p:spPr>
      </p:sp>
      <p:sp>
        <p:nvSpPr>
          <p:cNvPr id="3" name="Shape 1"/>
          <p:cNvSpPr/>
          <p:nvPr/>
        </p:nvSpPr>
        <p:spPr>
          <a:xfrm>
            <a:off x="0" y="0"/>
            <a:ext cx="9144000" cy="91440"/>
          </a:xfrm>
          <a:prstGeom prst="rect">
            <a:avLst/>
          </a:prstGeom>
          <a:solidFill>
            <a:srgbClr val="028090"/>
          </a:solidFill>
          <a:ln w="12700">
            <a:solidFill>
              <a:srgbClr val="028090"/>
            </a:solidFill>
            <a:prstDash val="solid"/>
          </a:ln>
        </p:spPr>
      </p:sp>
      <p:sp>
        <p:nvSpPr>
          <p:cNvPr id="4" name="Text 2"/>
          <p:cNvSpPr/>
          <p:nvPr/>
        </p:nvSpPr>
        <p:spPr>
          <a:xfrm>
            <a:off x="365760" y="109728"/>
            <a:ext cx="6400800" cy="45720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Gemma Translate — confidence assessment</a:t>
            </a:r>
            <a:endParaRPr lang="en-US" sz="1800" dirty="0"/>
          </a:p>
        </p:txBody>
      </p:sp>
      <p:sp>
        <p:nvSpPr>
          <p:cNvPr id="5" name="Text 3"/>
          <p:cNvSpPr/>
          <p:nvPr/>
        </p:nvSpPr>
        <p:spPr>
          <a:xfrm>
            <a:off x="365760" y="585216"/>
            <a:ext cx="8412480" cy="237744"/>
          </a:xfrm>
          <a:prstGeom prst="rect">
            <a:avLst/>
          </a:prstGeom>
          <a:noFill/>
          <a:ln/>
        </p:spPr>
        <p:txBody>
          <a:bodyPr wrap="square" rtlCol="0" anchor="ctr"/>
          <a:lstStyle/>
          <a:p>
            <a:pPr algn="l" indent="0" marL="0">
              <a:buNone/>
            </a:pPr>
            <a:r>
              <a:rPr lang="en-US" sz="900" i="1" dirty="0">
                <a:solidFill>
                  <a:srgbClr val="028090"/>
                </a:solidFill>
                <a:latin typeface="Calibri" pitchFamily="34" charset="0"/>
                <a:ea typeface="Calibri" pitchFamily="34" charset="-122"/>
                <a:cs typeface="Calibri" pitchFamily="34" charset="-120"/>
              </a:rPr>
              <a:t>TranslateGemma technical report (Jan 2026)  ·  WMT24++ benchmark  ·  MQM human evaluation</a:t>
            </a:r>
            <a:endParaRPr lang="en-US" sz="900" dirty="0"/>
          </a:p>
        </p:txBody>
      </p:sp>
      <p:sp>
        <p:nvSpPr>
          <p:cNvPr id="6" name="Text 4"/>
          <p:cNvSpPr/>
          <p:nvPr/>
        </p:nvSpPr>
        <p:spPr>
          <a:xfrm>
            <a:off x="274320" y="1024128"/>
            <a:ext cx="3200400" cy="201168"/>
          </a:xfrm>
          <a:prstGeom prst="rect">
            <a:avLst/>
          </a:prstGeom>
          <a:noFill/>
          <a:ln/>
        </p:spPr>
        <p:txBody>
          <a:bodyPr wrap="square" rtlCol="0" anchor="ctr"/>
          <a:lstStyle/>
          <a:p>
            <a:pPr indent="0" marL="0">
              <a:buNone/>
            </a:pPr>
            <a:r>
              <a:rPr lang="en-US" sz="750" b="1" spc="200" kern="0" dirty="0">
                <a:solidFill>
                  <a:srgbClr val="028090"/>
                </a:solidFill>
                <a:latin typeface="Calibri" pitchFamily="34" charset="0"/>
                <a:ea typeface="Calibri" pitchFamily="34" charset="-122"/>
                <a:cs typeface="Calibri" pitchFamily="34" charset="-120"/>
              </a:rPr>
              <a:t>BENCHMARK METRICS</a:t>
            </a:r>
            <a:endParaRPr lang="en-US" sz="750" dirty="0"/>
          </a:p>
        </p:txBody>
      </p:sp>
      <p:sp>
        <p:nvSpPr>
          <p:cNvPr id="7" name="Shape 5"/>
          <p:cNvSpPr/>
          <p:nvPr/>
        </p:nvSpPr>
        <p:spPr>
          <a:xfrm>
            <a:off x="274320" y="1261872"/>
            <a:ext cx="3200400" cy="896112"/>
          </a:xfrm>
          <a:prstGeom prst="rect">
            <a:avLst/>
          </a:prstGeom>
          <a:solidFill>
            <a:srgbClr val="0D1B40"/>
          </a:solidFill>
          <a:ln w="12700">
            <a:solidFill>
              <a:srgbClr val="0D1B40"/>
            </a:solidFill>
            <a:prstDash val="solid"/>
          </a:ln>
        </p:spPr>
      </p:sp>
      <p:sp>
        <p:nvSpPr>
          <p:cNvPr id="8" name="Text 6"/>
          <p:cNvSpPr/>
          <p:nvPr/>
        </p:nvSpPr>
        <p:spPr>
          <a:xfrm>
            <a:off x="274320" y="1316736"/>
            <a:ext cx="1554480" cy="502920"/>
          </a:xfrm>
          <a:prstGeom prst="rect">
            <a:avLst/>
          </a:prstGeom>
          <a:noFill/>
          <a:ln/>
        </p:spPr>
        <p:txBody>
          <a:bodyPr wrap="square" rtlCol="0" anchor="ctr"/>
          <a:lstStyle/>
          <a:p>
            <a:pPr algn="ctr" indent="0" marL="0">
              <a:buNone/>
            </a:pPr>
            <a:r>
              <a:rPr lang="en-US" sz="3200" b="1" dirty="0">
                <a:solidFill>
                  <a:srgbClr val="02C39A"/>
                </a:solidFill>
                <a:latin typeface="Calibri" pitchFamily="34" charset="0"/>
                <a:ea typeface="Calibri" pitchFamily="34" charset="-122"/>
                <a:cs typeface="Calibri" pitchFamily="34" charset="-120"/>
              </a:rPr>
              <a:t>23.5%</a:t>
            </a:r>
            <a:endParaRPr lang="en-US" sz="3200" dirty="0"/>
          </a:p>
        </p:txBody>
      </p:sp>
      <p:sp>
        <p:nvSpPr>
          <p:cNvPr id="9" name="Text 7"/>
          <p:cNvSpPr/>
          <p:nvPr/>
        </p:nvSpPr>
        <p:spPr>
          <a:xfrm>
            <a:off x="1828800" y="1316736"/>
            <a:ext cx="1554480" cy="502920"/>
          </a:xfrm>
          <a:prstGeom prst="rect">
            <a:avLst/>
          </a:prstGeom>
          <a:noFill/>
          <a:ln/>
        </p:spPr>
        <p:txBody>
          <a:bodyPr wrap="square"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27B model</a:t>
            </a:r>
            <a:endParaRPr lang="en-US" sz="800" dirty="0"/>
          </a:p>
          <a:p>
            <a:pPr algn="l" indent="0" marL="0">
              <a:buNone/>
            </a:pPr>
            <a:r>
              <a:rPr lang="en-US" sz="800" dirty="0">
                <a:solidFill>
                  <a:srgbClr val="FFFFFF"/>
                </a:solidFill>
                <a:latin typeface="Calibri" pitchFamily="34" charset="0"/>
                <a:ea typeface="Calibri" pitchFamily="34" charset="-122"/>
                <a:cs typeface="Calibri" pitchFamily="34" charset="-120"/>
              </a:rPr>
              <a:t>MetricX error reduction</a:t>
            </a:r>
            <a:endParaRPr lang="en-US" sz="800" dirty="0"/>
          </a:p>
          <a:p>
            <a:pPr algn="l" indent="0" marL="0">
              <a:buNone/>
            </a:pPr>
            <a:r>
              <a:rPr lang="en-US" sz="800" dirty="0">
                <a:solidFill>
                  <a:srgbClr val="FFFFFF"/>
                </a:solidFill>
                <a:latin typeface="Calibri" pitchFamily="34" charset="0"/>
                <a:ea typeface="Calibri" pitchFamily="34" charset="-122"/>
                <a:cs typeface="Calibri" pitchFamily="34" charset="-120"/>
              </a:rPr>
              <a:t>vs Gemma 3 baseline</a:t>
            </a:r>
            <a:endParaRPr lang="en-US" sz="800" dirty="0"/>
          </a:p>
        </p:txBody>
      </p:sp>
      <p:sp>
        <p:nvSpPr>
          <p:cNvPr id="10" name="Shape 8"/>
          <p:cNvSpPr/>
          <p:nvPr/>
        </p:nvSpPr>
        <p:spPr>
          <a:xfrm>
            <a:off x="274320" y="1828800"/>
            <a:ext cx="3200400" cy="0"/>
          </a:xfrm>
          <a:prstGeom prst="line">
            <a:avLst/>
          </a:prstGeom>
          <a:noFill/>
          <a:ln w="6350">
            <a:solidFill>
              <a:srgbClr val="028090"/>
            </a:solidFill>
            <a:prstDash val="solid"/>
          </a:ln>
        </p:spPr>
      </p:sp>
      <p:sp>
        <p:nvSpPr>
          <p:cNvPr id="11" name="Text 9"/>
          <p:cNvSpPr/>
          <p:nvPr/>
        </p:nvSpPr>
        <p:spPr>
          <a:xfrm>
            <a:off x="274320" y="1865376"/>
            <a:ext cx="1554480" cy="256032"/>
          </a:xfrm>
          <a:prstGeom prst="rect">
            <a:avLst/>
          </a:prstGeom>
          <a:noFill/>
          <a:ln/>
        </p:spPr>
        <p:txBody>
          <a:bodyPr wrap="square" rtlCol="0" anchor="ctr"/>
          <a:lstStyle/>
          <a:p>
            <a:pPr algn="ctr" indent="0" marL="0">
              <a:buNone/>
            </a:pPr>
            <a:r>
              <a:rPr lang="en-US" sz="2000" b="1" dirty="0">
                <a:solidFill>
                  <a:srgbClr val="E8963A"/>
                </a:solidFill>
                <a:latin typeface="Calibri" pitchFamily="34" charset="0"/>
                <a:ea typeface="Calibri" pitchFamily="34" charset="-122"/>
                <a:cs typeface="Calibri" pitchFamily="34" charset="-120"/>
              </a:rPr>
              <a:t>25.9%</a:t>
            </a:r>
            <a:endParaRPr lang="en-US" sz="2000" dirty="0"/>
          </a:p>
        </p:txBody>
      </p:sp>
      <p:sp>
        <p:nvSpPr>
          <p:cNvPr id="12" name="Text 10"/>
          <p:cNvSpPr/>
          <p:nvPr/>
        </p:nvSpPr>
        <p:spPr>
          <a:xfrm>
            <a:off x="1828800" y="1865376"/>
            <a:ext cx="1554480" cy="256032"/>
          </a:xfrm>
          <a:prstGeom prst="rect">
            <a:avLst/>
          </a:prstGeom>
          <a:noFill/>
          <a:ln/>
        </p:spPr>
        <p:txBody>
          <a:bodyPr wrap="square" rtlCol="0" anchor="ctr"/>
          <a:lstStyle/>
          <a:p>
            <a:pPr algn="l" indent="0" marL="0">
              <a:buNone/>
            </a:pPr>
            <a:r>
              <a:rPr lang="en-US" sz="750" dirty="0">
                <a:solidFill>
                  <a:srgbClr val="FFFFFF"/>
                </a:solidFill>
                <a:latin typeface="Calibri" pitchFamily="34" charset="0"/>
                <a:ea typeface="Calibri" pitchFamily="34" charset="-122"/>
                <a:cs typeface="Calibri" pitchFamily="34" charset="-120"/>
              </a:rPr>
              <a:t>12B model — same reduction</a:t>
            </a:r>
            <a:endParaRPr lang="en-US" sz="750" dirty="0"/>
          </a:p>
          <a:p>
            <a:pPr algn="l" indent="0" marL="0">
              <a:buNone/>
            </a:pPr>
            <a:r>
              <a:rPr lang="en-US" sz="750" dirty="0">
                <a:solidFill>
                  <a:srgbClr val="FFFFFF"/>
                </a:solidFill>
                <a:latin typeface="Calibri" pitchFamily="34" charset="0"/>
                <a:ea typeface="Calibri" pitchFamily="34" charset="-122"/>
                <a:cs typeface="Calibri" pitchFamily="34" charset="-120"/>
              </a:rPr>
              <a:t>with half the parameters</a:t>
            </a:r>
            <a:endParaRPr lang="en-US" sz="750" dirty="0"/>
          </a:p>
        </p:txBody>
      </p:sp>
      <p:sp>
        <p:nvSpPr>
          <p:cNvPr id="13" name="Shape 11"/>
          <p:cNvSpPr/>
          <p:nvPr/>
        </p:nvSpPr>
        <p:spPr>
          <a:xfrm>
            <a:off x="274320" y="2240280"/>
            <a:ext cx="3200400" cy="822960"/>
          </a:xfrm>
          <a:prstGeom prst="rect">
            <a:avLst/>
          </a:prstGeom>
          <a:solidFill>
            <a:srgbClr val="FFFFFF"/>
          </a:solidFill>
          <a:ln w="6350">
            <a:solidFill>
              <a:srgbClr val="D0DAE6"/>
            </a:solidFill>
            <a:prstDash val="solid"/>
          </a:ln>
        </p:spPr>
      </p:sp>
      <p:sp>
        <p:nvSpPr>
          <p:cNvPr id="14" name="Text 12"/>
          <p:cNvSpPr/>
          <p:nvPr/>
        </p:nvSpPr>
        <p:spPr>
          <a:xfrm>
            <a:off x="384048" y="2286000"/>
            <a:ext cx="2980944" cy="201168"/>
          </a:xfrm>
          <a:prstGeom prst="rect">
            <a:avLst/>
          </a:prstGeom>
          <a:noFill/>
          <a:ln/>
        </p:spPr>
        <p:txBody>
          <a:bodyPr wrap="square" rtlCol="0" anchor="ctr"/>
          <a:lstStyle/>
          <a:p>
            <a:pPr indent="0" marL="0">
              <a:buNone/>
            </a:pPr>
            <a:r>
              <a:rPr lang="en-US" sz="750" b="1" dirty="0">
                <a:solidFill>
                  <a:srgbClr val="0D1B40"/>
                </a:solidFill>
                <a:latin typeface="Calibri" pitchFamily="34" charset="0"/>
                <a:ea typeface="Calibri" pitchFamily="34" charset="-122"/>
                <a:cs typeface="Calibri" pitchFamily="34" charset="-120"/>
              </a:rPr>
              <a:t>MetricX error score — WMT24++ (55 language pairs)</a:t>
            </a:r>
            <a:endParaRPr lang="en-US" sz="750" dirty="0"/>
          </a:p>
        </p:txBody>
      </p:sp>
      <p:sp>
        <p:nvSpPr>
          <p:cNvPr id="15" name="Text 13"/>
          <p:cNvSpPr/>
          <p:nvPr/>
        </p:nvSpPr>
        <p:spPr>
          <a:xfrm>
            <a:off x="384048" y="2523744"/>
            <a:ext cx="1508760" cy="128016"/>
          </a:xfrm>
          <a:prstGeom prst="rect">
            <a:avLst/>
          </a:prstGeom>
          <a:noFill/>
          <a:ln/>
        </p:spPr>
        <p:txBody>
          <a:bodyPr wrap="square" rtlCol="0" anchor="ctr"/>
          <a:lstStyle/>
          <a:p>
            <a:pPr indent="0" marL="0">
              <a:buNone/>
            </a:pPr>
            <a:r>
              <a:rPr lang="en-US" sz="650" dirty="0">
                <a:solidFill>
                  <a:srgbClr val="3D5068"/>
                </a:solidFill>
                <a:latin typeface="Calibri" pitchFamily="34" charset="0"/>
                <a:ea typeface="Calibri" pitchFamily="34" charset="-122"/>
                <a:cs typeface="Calibri" pitchFamily="34" charset="-120"/>
              </a:rPr>
              <a:t>Gemma 3 27B baseline</a:t>
            </a:r>
            <a:endParaRPr lang="en-US" sz="650" dirty="0"/>
          </a:p>
        </p:txBody>
      </p:sp>
      <p:sp>
        <p:nvSpPr>
          <p:cNvPr id="16" name="Shape 14"/>
          <p:cNvSpPr/>
          <p:nvPr/>
        </p:nvSpPr>
        <p:spPr>
          <a:xfrm>
            <a:off x="1920240" y="2546604"/>
            <a:ext cx="822960" cy="82296"/>
          </a:xfrm>
          <a:prstGeom prst="rect">
            <a:avLst/>
          </a:prstGeom>
          <a:solidFill>
            <a:srgbClr val="C0392B">
              <a:alpha val="30000"/>
            </a:srgbClr>
          </a:solidFill>
          <a:ln w="12700">
            <a:solidFill>
              <a:srgbClr val="C0392B"/>
            </a:solidFill>
            <a:prstDash val="solid"/>
          </a:ln>
        </p:spPr>
      </p:sp>
      <p:sp>
        <p:nvSpPr>
          <p:cNvPr id="17" name="Text 15"/>
          <p:cNvSpPr/>
          <p:nvPr/>
        </p:nvSpPr>
        <p:spPr>
          <a:xfrm>
            <a:off x="2788920" y="2523744"/>
            <a:ext cx="347472" cy="128016"/>
          </a:xfrm>
          <a:prstGeom prst="rect">
            <a:avLst/>
          </a:prstGeom>
          <a:noFill/>
          <a:ln/>
        </p:spPr>
        <p:txBody>
          <a:bodyPr wrap="square" rtlCol="0" anchor="ctr"/>
          <a:lstStyle/>
          <a:p>
            <a:pPr algn="r" indent="0" marL="0">
              <a:buNone/>
            </a:pPr>
            <a:r>
              <a:rPr lang="en-US" sz="650" b="1" dirty="0">
                <a:solidFill>
                  <a:srgbClr val="C0392B"/>
                </a:solidFill>
                <a:latin typeface="Calibri" pitchFamily="34" charset="0"/>
                <a:ea typeface="Calibri" pitchFamily="34" charset="-122"/>
                <a:cs typeface="Calibri" pitchFamily="34" charset="-120"/>
              </a:rPr>
              <a:t>4.04</a:t>
            </a:r>
            <a:endParaRPr lang="en-US" sz="650" dirty="0"/>
          </a:p>
        </p:txBody>
      </p:sp>
      <p:sp>
        <p:nvSpPr>
          <p:cNvPr id="18" name="Text 16"/>
          <p:cNvSpPr/>
          <p:nvPr/>
        </p:nvSpPr>
        <p:spPr>
          <a:xfrm>
            <a:off x="384048" y="2656332"/>
            <a:ext cx="1508760" cy="128016"/>
          </a:xfrm>
          <a:prstGeom prst="rect">
            <a:avLst/>
          </a:prstGeom>
          <a:noFill/>
          <a:ln/>
        </p:spPr>
        <p:txBody>
          <a:bodyPr wrap="square" rtlCol="0" anchor="ctr"/>
          <a:lstStyle/>
          <a:p>
            <a:pPr indent="0" marL="0">
              <a:buNone/>
            </a:pPr>
            <a:r>
              <a:rPr lang="en-US" sz="650" dirty="0">
                <a:solidFill>
                  <a:srgbClr val="3D5068"/>
                </a:solidFill>
                <a:latin typeface="Calibri" pitchFamily="34" charset="0"/>
                <a:ea typeface="Calibri" pitchFamily="34" charset="-122"/>
                <a:cs typeface="Calibri" pitchFamily="34" charset="-120"/>
              </a:rPr>
              <a:t>TranslateGemma 27B</a:t>
            </a:r>
            <a:endParaRPr lang="en-US" sz="650" dirty="0"/>
          </a:p>
        </p:txBody>
      </p:sp>
      <p:sp>
        <p:nvSpPr>
          <p:cNvPr id="19" name="Shape 17"/>
          <p:cNvSpPr/>
          <p:nvPr/>
        </p:nvSpPr>
        <p:spPr>
          <a:xfrm>
            <a:off x="1920240" y="2679192"/>
            <a:ext cx="625450" cy="82296"/>
          </a:xfrm>
          <a:prstGeom prst="rect">
            <a:avLst/>
          </a:prstGeom>
          <a:solidFill>
            <a:srgbClr val="02C39A"/>
          </a:solidFill>
          <a:ln w="12700">
            <a:solidFill>
              <a:srgbClr val="02C39A"/>
            </a:solidFill>
            <a:prstDash val="solid"/>
          </a:ln>
        </p:spPr>
      </p:sp>
      <p:sp>
        <p:nvSpPr>
          <p:cNvPr id="20" name="Text 18"/>
          <p:cNvSpPr/>
          <p:nvPr/>
        </p:nvSpPr>
        <p:spPr>
          <a:xfrm>
            <a:off x="2788920" y="2656332"/>
            <a:ext cx="347472" cy="128016"/>
          </a:xfrm>
          <a:prstGeom prst="rect">
            <a:avLst/>
          </a:prstGeom>
          <a:noFill/>
          <a:ln/>
        </p:spPr>
        <p:txBody>
          <a:bodyPr wrap="square" rtlCol="0" anchor="ctr"/>
          <a:lstStyle/>
          <a:p>
            <a:pPr algn="r" indent="0" marL="0">
              <a:buNone/>
            </a:pPr>
            <a:r>
              <a:rPr lang="en-US" sz="650" b="1" dirty="0">
                <a:solidFill>
                  <a:srgbClr val="02C39A"/>
                </a:solidFill>
                <a:latin typeface="Calibri" pitchFamily="34" charset="0"/>
                <a:ea typeface="Calibri" pitchFamily="34" charset="-122"/>
                <a:cs typeface="Calibri" pitchFamily="34" charset="-120"/>
              </a:rPr>
              <a:t>3.09</a:t>
            </a:r>
            <a:endParaRPr lang="en-US" sz="650" dirty="0"/>
          </a:p>
        </p:txBody>
      </p:sp>
      <p:sp>
        <p:nvSpPr>
          <p:cNvPr id="21" name="Text 19"/>
          <p:cNvSpPr/>
          <p:nvPr/>
        </p:nvSpPr>
        <p:spPr>
          <a:xfrm>
            <a:off x="384048" y="2788920"/>
            <a:ext cx="1508760" cy="128016"/>
          </a:xfrm>
          <a:prstGeom prst="rect">
            <a:avLst/>
          </a:prstGeom>
          <a:noFill/>
          <a:ln/>
        </p:spPr>
        <p:txBody>
          <a:bodyPr wrap="square" rtlCol="0" anchor="ctr"/>
          <a:lstStyle/>
          <a:p>
            <a:pPr indent="0" marL="0">
              <a:buNone/>
            </a:pPr>
            <a:r>
              <a:rPr lang="en-US" sz="650" dirty="0">
                <a:solidFill>
                  <a:srgbClr val="3D5068"/>
                </a:solidFill>
                <a:latin typeface="Calibri" pitchFamily="34" charset="0"/>
                <a:ea typeface="Calibri" pitchFamily="34" charset="-122"/>
                <a:cs typeface="Calibri" pitchFamily="34" charset="-120"/>
              </a:rPr>
              <a:t>Gemma 3 (12B equiv.)</a:t>
            </a:r>
            <a:endParaRPr lang="en-US" sz="650" dirty="0"/>
          </a:p>
        </p:txBody>
      </p:sp>
      <p:sp>
        <p:nvSpPr>
          <p:cNvPr id="22" name="Shape 20"/>
          <p:cNvSpPr/>
          <p:nvPr/>
        </p:nvSpPr>
        <p:spPr>
          <a:xfrm>
            <a:off x="1920240" y="2811780"/>
            <a:ext cx="822960" cy="82296"/>
          </a:xfrm>
          <a:prstGeom prst="rect">
            <a:avLst/>
          </a:prstGeom>
          <a:solidFill>
            <a:srgbClr val="C0392B">
              <a:alpha val="30000"/>
            </a:srgbClr>
          </a:solidFill>
          <a:ln w="12700">
            <a:solidFill>
              <a:srgbClr val="C0392B"/>
            </a:solidFill>
            <a:prstDash val="solid"/>
          </a:ln>
        </p:spPr>
      </p:sp>
      <p:sp>
        <p:nvSpPr>
          <p:cNvPr id="23" name="Text 21"/>
          <p:cNvSpPr/>
          <p:nvPr/>
        </p:nvSpPr>
        <p:spPr>
          <a:xfrm>
            <a:off x="2788920" y="2788920"/>
            <a:ext cx="347472" cy="128016"/>
          </a:xfrm>
          <a:prstGeom prst="rect">
            <a:avLst/>
          </a:prstGeom>
          <a:noFill/>
          <a:ln/>
        </p:spPr>
        <p:txBody>
          <a:bodyPr wrap="square" rtlCol="0" anchor="ctr"/>
          <a:lstStyle/>
          <a:p>
            <a:pPr algn="r" indent="0" marL="0">
              <a:buNone/>
            </a:pPr>
            <a:r>
              <a:rPr lang="en-US" sz="650" b="1" dirty="0">
                <a:solidFill>
                  <a:srgbClr val="C0392B"/>
                </a:solidFill>
                <a:latin typeface="Calibri" pitchFamily="34" charset="0"/>
                <a:ea typeface="Calibri" pitchFamily="34" charset="-122"/>
                <a:cs typeface="Calibri" pitchFamily="34" charset="-120"/>
              </a:rPr>
              <a:t>4.86</a:t>
            </a:r>
            <a:endParaRPr lang="en-US" sz="650" dirty="0"/>
          </a:p>
        </p:txBody>
      </p:sp>
      <p:sp>
        <p:nvSpPr>
          <p:cNvPr id="24" name="Text 22"/>
          <p:cNvSpPr/>
          <p:nvPr/>
        </p:nvSpPr>
        <p:spPr>
          <a:xfrm>
            <a:off x="384048" y="2921508"/>
            <a:ext cx="1508760" cy="128016"/>
          </a:xfrm>
          <a:prstGeom prst="rect">
            <a:avLst/>
          </a:prstGeom>
          <a:noFill/>
          <a:ln/>
        </p:spPr>
        <p:txBody>
          <a:bodyPr wrap="square" rtlCol="0" anchor="ctr"/>
          <a:lstStyle/>
          <a:p>
            <a:pPr indent="0" marL="0">
              <a:buNone/>
            </a:pPr>
            <a:r>
              <a:rPr lang="en-US" sz="650" dirty="0">
                <a:solidFill>
                  <a:srgbClr val="3D5068"/>
                </a:solidFill>
                <a:latin typeface="Calibri" pitchFamily="34" charset="0"/>
                <a:ea typeface="Calibri" pitchFamily="34" charset="-122"/>
                <a:cs typeface="Calibri" pitchFamily="34" charset="-120"/>
              </a:rPr>
              <a:t>TranslateGemma 12B</a:t>
            </a:r>
            <a:endParaRPr lang="en-US" sz="650" dirty="0"/>
          </a:p>
        </p:txBody>
      </p:sp>
      <p:sp>
        <p:nvSpPr>
          <p:cNvPr id="25" name="Shape 23"/>
          <p:cNvSpPr/>
          <p:nvPr/>
        </p:nvSpPr>
        <p:spPr>
          <a:xfrm>
            <a:off x="1920240" y="2944368"/>
            <a:ext cx="608990" cy="82296"/>
          </a:xfrm>
          <a:prstGeom prst="rect">
            <a:avLst/>
          </a:prstGeom>
          <a:solidFill>
            <a:srgbClr val="028090"/>
          </a:solidFill>
          <a:ln w="12700">
            <a:solidFill>
              <a:srgbClr val="028090"/>
            </a:solidFill>
            <a:prstDash val="solid"/>
          </a:ln>
        </p:spPr>
      </p:sp>
      <p:sp>
        <p:nvSpPr>
          <p:cNvPr id="26" name="Text 24"/>
          <p:cNvSpPr/>
          <p:nvPr/>
        </p:nvSpPr>
        <p:spPr>
          <a:xfrm>
            <a:off x="2788920" y="2921508"/>
            <a:ext cx="347472" cy="128016"/>
          </a:xfrm>
          <a:prstGeom prst="rect">
            <a:avLst/>
          </a:prstGeom>
          <a:noFill/>
          <a:ln/>
        </p:spPr>
        <p:txBody>
          <a:bodyPr wrap="square" rtlCol="0" anchor="ctr"/>
          <a:lstStyle/>
          <a:p>
            <a:pPr algn="r" indent="0" marL="0">
              <a:buNone/>
            </a:pPr>
            <a:r>
              <a:rPr lang="en-US" sz="650" b="1" dirty="0">
                <a:solidFill>
                  <a:srgbClr val="02C39A"/>
                </a:solidFill>
                <a:latin typeface="Calibri" pitchFamily="34" charset="0"/>
                <a:ea typeface="Calibri" pitchFamily="34" charset="-122"/>
                <a:cs typeface="Calibri" pitchFamily="34" charset="-120"/>
              </a:rPr>
              <a:t>3.60</a:t>
            </a:r>
            <a:endParaRPr lang="en-US" sz="650" dirty="0"/>
          </a:p>
        </p:txBody>
      </p:sp>
      <p:sp>
        <p:nvSpPr>
          <p:cNvPr id="27" name="Shape 25"/>
          <p:cNvSpPr/>
          <p:nvPr/>
        </p:nvSpPr>
        <p:spPr>
          <a:xfrm>
            <a:off x="274320" y="3145536"/>
            <a:ext cx="3200400" cy="502920"/>
          </a:xfrm>
          <a:prstGeom prst="rect">
            <a:avLst/>
          </a:prstGeom>
          <a:solidFill>
            <a:srgbClr val="028090">
              <a:alpha val="10000"/>
            </a:srgbClr>
          </a:solidFill>
          <a:ln w="6350">
            <a:solidFill>
              <a:srgbClr val="028090"/>
            </a:solidFill>
            <a:prstDash val="solid"/>
          </a:ln>
        </p:spPr>
      </p:sp>
      <p:sp>
        <p:nvSpPr>
          <p:cNvPr id="28" name="Text 26"/>
          <p:cNvSpPr/>
          <p:nvPr/>
        </p:nvSpPr>
        <p:spPr>
          <a:xfrm>
            <a:off x="384048" y="3182112"/>
            <a:ext cx="2980944" cy="164592"/>
          </a:xfrm>
          <a:prstGeom prst="rect">
            <a:avLst/>
          </a:prstGeom>
          <a:noFill/>
          <a:ln/>
        </p:spPr>
        <p:txBody>
          <a:bodyPr wrap="square" rtlCol="0" anchor="ctr"/>
          <a:lstStyle/>
          <a:p>
            <a:pPr indent="0" marL="0">
              <a:buNone/>
            </a:pPr>
            <a:r>
              <a:rPr lang="en-US" sz="800" b="1" dirty="0">
                <a:solidFill>
                  <a:srgbClr val="028090"/>
                </a:solidFill>
                <a:latin typeface="Calibri" pitchFamily="34" charset="0"/>
                <a:ea typeface="Calibri" pitchFamily="34" charset="-122"/>
                <a:cs typeface="Calibri" pitchFamily="34" charset="-120"/>
              </a:rPr>
              <a:t>MQM human evaluation</a:t>
            </a:r>
            <a:endParaRPr lang="en-US" sz="800" dirty="0"/>
          </a:p>
        </p:txBody>
      </p:sp>
      <p:sp>
        <p:nvSpPr>
          <p:cNvPr id="29" name="Text 27"/>
          <p:cNvSpPr/>
          <p:nvPr/>
        </p:nvSpPr>
        <p:spPr>
          <a:xfrm>
            <a:off x="384048" y="3346704"/>
            <a:ext cx="2980944" cy="256032"/>
          </a:xfrm>
          <a:prstGeom prst="rect">
            <a:avLst/>
          </a:prstGeom>
          <a:noFill/>
          <a:ln/>
        </p:spPr>
        <p:txBody>
          <a:bodyPr wrap="square" rtlCol="0" anchor="ctr"/>
          <a:lstStyle/>
          <a:p>
            <a:pPr indent="0" marL="0">
              <a:buNone/>
            </a:pPr>
            <a:r>
              <a:rPr lang="en-US" sz="750" dirty="0">
                <a:solidFill>
                  <a:srgbClr val="3D5068"/>
                </a:solidFill>
                <a:latin typeface="Calibri" pitchFamily="34" charset="0"/>
                <a:ea typeface="Calibri" pitchFamily="34" charset="-122"/>
                <a:cs typeface="Calibri" pitchFamily="34" charset="-120"/>
              </a:rPr>
              <a:t>Professional translators confirmed MetricX trends across 10 language pairs from 3 source languages (English, Czech, Japanese). Korean &amp; Chinese simplified explicitly validated.</a:t>
            </a:r>
            <a:endParaRPr lang="en-US" sz="750" dirty="0"/>
          </a:p>
        </p:txBody>
      </p:sp>
      <p:sp>
        <p:nvSpPr>
          <p:cNvPr id="30" name="Shape 28"/>
          <p:cNvSpPr/>
          <p:nvPr/>
        </p:nvSpPr>
        <p:spPr>
          <a:xfrm>
            <a:off x="274320" y="3730752"/>
            <a:ext cx="3200400" cy="384048"/>
          </a:xfrm>
          <a:prstGeom prst="rect">
            <a:avLst/>
          </a:prstGeom>
          <a:solidFill>
            <a:srgbClr val="E8963A">
              <a:alpha val="12000"/>
            </a:srgbClr>
          </a:solidFill>
          <a:ln w="6350">
            <a:solidFill>
              <a:srgbClr val="E8963A"/>
            </a:solidFill>
            <a:prstDash val="solid"/>
          </a:ln>
        </p:spPr>
      </p:sp>
      <p:sp>
        <p:nvSpPr>
          <p:cNvPr id="31" name="Text 29"/>
          <p:cNvSpPr/>
          <p:nvPr/>
        </p:nvSpPr>
        <p:spPr>
          <a:xfrm>
            <a:off x="384048" y="3730752"/>
            <a:ext cx="2980944" cy="384048"/>
          </a:xfrm>
          <a:prstGeom prst="rect">
            <a:avLst/>
          </a:prstGeom>
          <a:noFill/>
          <a:ln/>
        </p:spPr>
        <p:txBody>
          <a:bodyPr wrap="square" rtlCol="0" anchor="ctr"/>
          <a:lstStyle/>
          <a:p>
            <a:pPr indent="0" marL="0">
              <a:buNone/>
            </a:pPr>
            <a:r>
              <a:rPr lang="en-US" sz="750" b="1" dirty="0">
                <a:solidFill>
                  <a:srgbClr val="E8963A"/>
                </a:solidFill>
                <a:latin typeface="Calibri" pitchFamily="34" charset="0"/>
                <a:ea typeface="Calibri" pitchFamily="34" charset="-122"/>
                <a:cs typeface="Calibri" pitchFamily="34" charset="-120"/>
              </a:rPr>
              <a:t>Coverage note:  </a:t>
            </a:r>
            <a:pPr indent="0" marL="0">
              <a:buNone/>
            </a:pPr>
            <a:r>
              <a:rPr lang="en-US" sz="750" dirty="0">
                <a:solidFill>
                  <a:srgbClr val="4A3000"/>
                </a:solidFill>
                <a:latin typeface="Calibri" pitchFamily="34" charset="0"/>
                <a:ea typeface="Calibri" pitchFamily="34" charset="-122"/>
                <a:cs typeface="Calibri" pitchFamily="34" charset="-120"/>
              </a:rPr>
              <a:t>55 languages rigorously benchmarked (WMT24++). Extended set claims ~160 base languages but with no published evaluation metrics — Telugu &amp; Haitian Creole fall here.</a:t>
            </a:r>
            <a:endParaRPr lang="en-US" sz="750" dirty="0"/>
          </a:p>
        </p:txBody>
      </p:sp>
      <p:sp>
        <p:nvSpPr>
          <p:cNvPr id="32" name="Text 30"/>
          <p:cNvSpPr/>
          <p:nvPr/>
        </p:nvSpPr>
        <p:spPr>
          <a:xfrm>
            <a:off x="3703320" y="1024128"/>
            <a:ext cx="2743200" cy="201168"/>
          </a:xfrm>
          <a:prstGeom prst="rect">
            <a:avLst/>
          </a:prstGeom>
          <a:noFill/>
          <a:ln/>
        </p:spPr>
        <p:txBody>
          <a:bodyPr wrap="square" rtlCol="0" anchor="ctr"/>
          <a:lstStyle/>
          <a:p>
            <a:pPr indent="0" marL="0">
              <a:buNone/>
            </a:pPr>
            <a:r>
              <a:rPr lang="en-US" sz="750" b="1" spc="200" kern="0" dirty="0">
                <a:solidFill>
                  <a:srgbClr val="028090"/>
                </a:solidFill>
                <a:latin typeface="Calibri" pitchFamily="34" charset="0"/>
                <a:ea typeface="Calibri" pitchFamily="34" charset="-122"/>
                <a:cs typeface="Calibri" pitchFamily="34" charset="-120"/>
              </a:rPr>
              <a:t>CONFIDENCE BY LANGUAGE</a:t>
            </a:r>
            <a:endParaRPr lang="en-US" sz="750" dirty="0"/>
          </a:p>
        </p:txBody>
      </p:sp>
      <p:sp>
        <p:nvSpPr>
          <p:cNvPr id="33" name="Shape 31"/>
          <p:cNvSpPr/>
          <p:nvPr/>
        </p:nvSpPr>
        <p:spPr>
          <a:xfrm>
            <a:off x="3703320" y="1243584"/>
            <a:ext cx="5120640" cy="224028"/>
          </a:xfrm>
          <a:prstGeom prst="rect">
            <a:avLst/>
          </a:prstGeom>
          <a:solidFill>
            <a:srgbClr val="FFFFFF"/>
          </a:solidFill>
          <a:ln w="3810">
            <a:solidFill>
              <a:srgbClr val="D0DAE6"/>
            </a:solidFill>
            <a:prstDash val="solid"/>
          </a:ln>
        </p:spPr>
      </p:sp>
      <p:sp>
        <p:nvSpPr>
          <p:cNvPr id="34" name="Text 32"/>
          <p:cNvSpPr/>
          <p:nvPr/>
        </p:nvSpPr>
        <p:spPr>
          <a:xfrm>
            <a:off x="3749040" y="1271016"/>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French (fr-FR)</a:t>
            </a:r>
            <a:endParaRPr lang="en-US" sz="720" dirty="0"/>
          </a:p>
        </p:txBody>
      </p:sp>
      <p:sp>
        <p:nvSpPr>
          <p:cNvPr id="35" name="Shape 33"/>
          <p:cNvSpPr/>
          <p:nvPr/>
        </p:nvSpPr>
        <p:spPr>
          <a:xfrm>
            <a:off x="5394960" y="1316736"/>
            <a:ext cx="1920240" cy="91440"/>
          </a:xfrm>
          <a:prstGeom prst="rect">
            <a:avLst/>
          </a:prstGeom>
          <a:solidFill>
            <a:srgbClr val="E8EDF2"/>
          </a:solidFill>
          <a:ln w="12700">
            <a:solidFill>
              <a:srgbClr val="D0DAE6"/>
            </a:solidFill>
            <a:prstDash val="solid"/>
          </a:ln>
        </p:spPr>
      </p:sp>
      <p:sp>
        <p:nvSpPr>
          <p:cNvPr id="36" name="Shape 34"/>
          <p:cNvSpPr/>
          <p:nvPr/>
        </p:nvSpPr>
        <p:spPr>
          <a:xfrm>
            <a:off x="5394960" y="1316736"/>
            <a:ext cx="1689811" cy="91440"/>
          </a:xfrm>
          <a:prstGeom prst="rect">
            <a:avLst/>
          </a:prstGeom>
          <a:solidFill>
            <a:srgbClr val="02C39A"/>
          </a:solidFill>
          <a:ln w="12700">
            <a:solidFill>
              <a:srgbClr val="02C39A"/>
            </a:solidFill>
            <a:prstDash val="solid"/>
          </a:ln>
        </p:spPr>
      </p:sp>
      <p:sp>
        <p:nvSpPr>
          <p:cNvPr id="37" name="Text 35"/>
          <p:cNvSpPr/>
          <p:nvPr/>
        </p:nvSpPr>
        <p:spPr>
          <a:xfrm>
            <a:off x="7360920" y="1271016"/>
            <a:ext cx="320040" cy="187452"/>
          </a:xfrm>
          <a:prstGeom prst="rect">
            <a:avLst/>
          </a:prstGeom>
          <a:noFill/>
          <a:ln/>
        </p:spPr>
        <p:txBody>
          <a:bodyPr wrap="square" rtlCol="0" anchor="ctr"/>
          <a:lstStyle/>
          <a:p>
            <a:pPr algn="r" indent="0" marL="0">
              <a:buNone/>
            </a:pPr>
            <a:r>
              <a:rPr lang="en-US" sz="720" b="1" dirty="0">
                <a:solidFill>
                  <a:srgbClr val="02C39A"/>
                </a:solidFill>
                <a:latin typeface="Calibri" pitchFamily="34" charset="0"/>
                <a:ea typeface="Calibri" pitchFamily="34" charset="-122"/>
                <a:cs typeface="Calibri" pitchFamily="34" charset="-120"/>
              </a:rPr>
              <a:t>88%</a:t>
            </a:r>
            <a:endParaRPr lang="en-US" sz="720" dirty="0"/>
          </a:p>
        </p:txBody>
      </p:sp>
      <p:sp>
        <p:nvSpPr>
          <p:cNvPr id="38" name="Text 36"/>
          <p:cNvSpPr/>
          <p:nvPr/>
        </p:nvSpPr>
        <p:spPr>
          <a:xfrm>
            <a:off x="7708392" y="1271016"/>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WMT24++ benchmarked</a:t>
            </a:r>
            <a:endParaRPr lang="en-US" sz="620" dirty="0"/>
          </a:p>
        </p:txBody>
      </p:sp>
      <p:sp>
        <p:nvSpPr>
          <p:cNvPr id="39" name="Text 37"/>
          <p:cNvSpPr/>
          <p:nvPr/>
        </p:nvSpPr>
        <p:spPr>
          <a:xfrm>
            <a:off x="3749040" y="1495044"/>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Chinese simplified (zh-CN)</a:t>
            </a:r>
            <a:endParaRPr lang="en-US" sz="720" dirty="0"/>
          </a:p>
        </p:txBody>
      </p:sp>
      <p:sp>
        <p:nvSpPr>
          <p:cNvPr id="40" name="Shape 38"/>
          <p:cNvSpPr/>
          <p:nvPr/>
        </p:nvSpPr>
        <p:spPr>
          <a:xfrm>
            <a:off x="5394960" y="1540764"/>
            <a:ext cx="1920240" cy="91440"/>
          </a:xfrm>
          <a:prstGeom prst="rect">
            <a:avLst/>
          </a:prstGeom>
          <a:solidFill>
            <a:srgbClr val="E8EDF2"/>
          </a:solidFill>
          <a:ln w="12700">
            <a:solidFill>
              <a:srgbClr val="D0DAE6"/>
            </a:solidFill>
            <a:prstDash val="solid"/>
          </a:ln>
        </p:spPr>
      </p:sp>
      <p:sp>
        <p:nvSpPr>
          <p:cNvPr id="41" name="Shape 39"/>
          <p:cNvSpPr/>
          <p:nvPr/>
        </p:nvSpPr>
        <p:spPr>
          <a:xfrm>
            <a:off x="5394960" y="1540764"/>
            <a:ext cx="1632204" cy="91440"/>
          </a:xfrm>
          <a:prstGeom prst="rect">
            <a:avLst/>
          </a:prstGeom>
          <a:solidFill>
            <a:srgbClr val="02C39A"/>
          </a:solidFill>
          <a:ln w="12700">
            <a:solidFill>
              <a:srgbClr val="02C39A"/>
            </a:solidFill>
            <a:prstDash val="solid"/>
          </a:ln>
        </p:spPr>
      </p:sp>
      <p:sp>
        <p:nvSpPr>
          <p:cNvPr id="42" name="Text 40"/>
          <p:cNvSpPr/>
          <p:nvPr/>
        </p:nvSpPr>
        <p:spPr>
          <a:xfrm>
            <a:off x="7360920" y="1495044"/>
            <a:ext cx="320040" cy="187452"/>
          </a:xfrm>
          <a:prstGeom prst="rect">
            <a:avLst/>
          </a:prstGeom>
          <a:noFill/>
          <a:ln/>
        </p:spPr>
        <p:txBody>
          <a:bodyPr wrap="square" rtlCol="0" anchor="ctr"/>
          <a:lstStyle/>
          <a:p>
            <a:pPr algn="r" indent="0" marL="0">
              <a:buNone/>
            </a:pPr>
            <a:r>
              <a:rPr lang="en-US" sz="720" b="1" dirty="0">
                <a:solidFill>
                  <a:srgbClr val="02C39A"/>
                </a:solidFill>
                <a:latin typeface="Calibri" pitchFamily="34" charset="0"/>
                <a:ea typeface="Calibri" pitchFamily="34" charset="-122"/>
                <a:cs typeface="Calibri" pitchFamily="34" charset="-120"/>
              </a:rPr>
              <a:t>85%</a:t>
            </a:r>
            <a:endParaRPr lang="en-US" sz="720" dirty="0"/>
          </a:p>
        </p:txBody>
      </p:sp>
      <p:sp>
        <p:nvSpPr>
          <p:cNvPr id="43" name="Text 41"/>
          <p:cNvSpPr/>
          <p:nvPr/>
        </p:nvSpPr>
        <p:spPr>
          <a:xfrm>
            <a:off x="7708392" y="1495044"/>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MQM confirmed</a:t>
            </a:r>
            <a:endParaRPr lang="en-US" sz="620" dirty="0"/>
          </a:p>
        </p:txBody>
      </p:sp>
      <p:sp>
        <p:nvSpPr>
          <p:cNvPr id="44" name="Shape 42"/>
          <p:cNvSpPr/>
          <p:nvPr/>
        </p:nvSpPr>
        <p:spPr>
          <a:xfrm>
            <a:off x="3703320" y="1691640"/>
            <a:ext cx="5120640" cy="224028"/>
          </a:xfrm>
          <a:prstGeom prst="rect">
            <a:avLst/>
          </a:prstGeom>
          <a:solidFill>
            <a:srgbClr val="FFFFFF"/>
          </a:solidFill>
          <a:ln w="3810">
            <a:solidFill>
              <a:srgbClr val="D0DAE6"/>
            </a:solidFill>
            <a:prstDash val="solid"/>
          </a:ln>
        </p:spPr>
      </p:sp>
      <p:sp>
        <p:nvSpPr>
          <p:cNvPr id="45" name="Text 43"/>
          <p:cNvSpPr/>
          <p:nvPr/>
        </p:nvSpPr>
        <p:spPr>
          <a:xfrm>
            <a:off x="3749040" y="1719072"/>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Russian (ru-RU)</a:t>
            </a:r>
            <a:endParaRPr lang="en-US" sz="720" dirty="0"/>
          </a:p>
        </p:txBody>
      </p:sp>
      <p:sp>
        <p:nvSpPr>
          <p:cNvPr id="46" name="Shape 44"/>
          <p:cNvSpPr/>
          <p:nvPr/>
        </p:nvSpPr>
        <p:spPr>
          <a:xfrm>
            <a:off x="5394960" y="1764792"/>
            <a:ext cx="1920240" cy="91440"/>
          </a:xfrm>
          <a:prstGeom prst="rect">
            <a:avLst/>
          </a:prstGeom>
          <a:solidFill>
            <a:srgbClr val="E8EDF2"/>
          </a:solidFill>
          <a:ln w="12700">
            <a:solidFill>
              <a:srgbClr val="D0DAE6"/>
            </a:solidFill>
            <a:prstDash val="solid"/>
          </a:ln>
        </p:spPr>
      </p:sp>
      <p:sp>
        <p:nvSpPr>
          <p:cNvPr id="47" name="Shape 45"/>
          <p:cNvSpPr/>
          <p:nvPr/>
        </p:nvSpPr>
        <p:spPr>
          <a:xfrm>
            <a:off x="5394960" y="1764792"/>
            <a:ext cx="1593799" cy="91440"/>
          </a:xfrm>
          <a:prstGeom prst="rect">
            <a:avLst/>
          </a:prstGeom>
          <a:solidFill>
            <a:srgbClr val="02C39A"/>
          </a:solidFill>
          <a:ln w="12700">
            <a:solidFill>
              <a:srgbClr val="02C39A"/>
            </a:solidFill>
            <a:prstDash val="solid"/>
          </a:ln>
        </p:spPr>
      </p:sp>
      <p:sp>
        <p:nvSpPr>
          <p:cNvPr id="48" name="Text 46"/>
          <p:cNvSpPr/>
          <p:nvPr/>
        </p:nvSpPr>
        <p:spPr>
          <a:xfrm>
            <a:off x="7360920" y="1719072"/>
            <a:ext cx="320040" cy="187452"/>
          </a:xfrm>
          <a:prstGeom prst="rect">
            <a:avLst/>
          </a:prstGeom>
          <a:noFill/>
          <a:ln/>
        </p:spPr>
        <p:txBody>
          <a:bodyPr wrap="square" rtlCol="0" anchor="ctr"/>
          <a:lstStyle/>
          <a:p>
            <a:pPr algn="r" indent="0" marL="0">
              <a:buNone/>
            </a:pPr>
            <a:r>
              <a:rPr lang="en-US" sz="720" b="1" dirty="0">
                <a:solidFill>
                  <a:srgbClr val="02C39A"/>
                </a:solidFill>
                <a:latin typeface="Calibri" pitchFamily="34" charset="0"/>
                <a:ea typeface="Calibri" pitchFamily="34" charset="-122"/>
                <a:cs typeface="Calibri" pitchFamily="34" charset="-120"/>
              </a:rPr>
              <a:t>83%</a:t>
            </a:r>
            <a:endParaRPr lang="en-US" sz="720" dirty="0"/>
          </a:p>
        </p:txBody>
      </p:sp>
      <p:sp>
        <p:nvSpPr>
          <p:cNvPr id="49" name="Text 47"/>
          <p:cNvSpPr/>
          <p:nvPr/>
        </p:nvSpPr>
        <p:spPr>
          <a:xfrm>
            <a:off x="7708392" y="1719072"/>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WMT24++ benchmarked</a:t>
            </a:r>
            <a:endParaRPr lang="en-US" sz="620" dirty="0"/>
          </a:p>
        </p:txBody>
      </p:sp>
      <p:sp>
        <p:nvSpPr>
          <p:cNvPr id="50" name="Text 48"/>
          <p:cNvSpPr/>
          <p:nvPr/>
        </p:nvSpPr>
        <p:spPr>
          <a:xfrm>
            <a:off x="3749040" y="1943100"/>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Portuguese (pt-PT)</a:t>
            </a:r>
            <a:endParaRPr lang="en-US" sz="720" dirty="0"/>
          </a:p>
        </p:txBody>
      </p:sp>
      <p:sp>
        <p:nvSpPr>
          <p:cNvPr id="51" name="Shape 49"/>
          <p:cNvSpPr/>
          <p:nvPr/>
        </p:nvSpPr>
        <p:spPr>
          <a:xfrm>
            <a:off x="5394960" y="1988820"/>
            <a:ext cx="1920240" cy="91440"/>
          </a:xfrm>
          <a:prstGeom prst="rect">
            <a:avLst/>
          </a:prstGeom>
          <a:solidFill>
            <a:srgbClr val="E8EDF2"/>
          </a:solidFill>
          <a:ln w="12700">
            <a:solidFill>
              <a:srgbClr val="D0DAE6"/>
            </a:solidFill>
            <a:prstDash val="solid"/>
          </a:ln>
        </p:spPr>
      </p:sp>
      <p:sp>
        <p:nvSpPr>
          <p:cNvPr id="52" name="Shape 50"/>
          <p:cNvSpPr/>
          <p:nvPr/>
        </p:nvSpPr>
        <p:spPr>
          <a:xfrm>
            <a:off x="5394960" y="1988820"/>
            <a:ext cx="1593799" cy="91440"/>
          </a:xfrm>
          <a:prstGeom prst="rect">
            <a:avLst/>
          </a:prstGeom>
          <a:solidFill>
            <a:srgbClr val="02C39A"/>
          </a:solidFill>
          <a:ln w="12700">
            <a:solidFill>
              <a:srgbClr val="02C39A"/>
            </a:solidFill>
            <a:prstDash val="solid"/>
          </a:ln>
        </p:spPr>
      </p:sp>
      <p:sp>
        <p:nvSpPr>
          <p:cNvPr id="53" name="Text 51"/>
          <p:cNvSpPr/>
          <p:nvPr/>
        </p:nvSpPr>
        <p:spPr>
          <a:xfrm>
            <a:off x="7360920" y="1943100"/>
            <a:ext cx="320040" cy="187452"/>
          </a:xfrm>
          <a:prstGeom prst="rect">
            <a:avLst/>
          </a:prstGeom>
          <a:noFill/>
          <a:ln/>
        </p:spPr>
        <p:txBody>
          <a:bodyPr wrap="square" rtlCol="0" anchor="ctr"/>
          <a:lstStyle/>
          <a:p>
            <a:pPr algn="r" indent="0" marL="0">
              <a:buNone/>
            </a:pPr>
            <a:r>
              <a:rPr lang="en-US" sz="720" b="1" dirty="0">
                <a:solidFill>
                  <a:srgbClr val="02C39A"/>
                </a:solidFill>
                <a:latin typeface="Calibri" pitchFamily="34" charset="0"/>
                <a:ea typeface="Calibri" pitchFamily="34" charset="-122"/>
                <a:cs typeface="Calibri" pitchFamily="34" charset="-120"/>
              </a:rPr>
              <a:t>83%</a:t>
            </a:r>
            <a:endParaRPr lang="en-US" sz="720" dirty="0"/>
          </a:p>
        </p:txBody>
      </p:sp>
      <p:sp>
        <p:nvSpPr>
          <p:cNvPr id="54" name="Text 52"/>
          <p:cNvSpPr/>
          <p:nvPr/>
        </p:nvSpPr>
        <p:spPr>
          <a:xfrm>
            <a:off x="7708392" y="1943100"/>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WMT24++ benchmarked</a:t>
            </a:r>
            <a:endParaRPr lang="en-US" sz="620" dirty="0"/>
          </a:p>
        </p:txBody>
      </p:sp>
      <p:sp>
        <p:nvSpPr>
          <p:cNvPr id="55" name="Shape 53"/>
          <p:cNvSpPr/>
          <p:nvPr/>
        </p:nvSpPr>
        <p:spPr>
          <a:xfrm>
            <a:off x="3703320" y="2139696"/>
            <a:ext cx="5120640" cy="224028"/>
          </a:xfrm>
          <a:prstGeom prst="rect">
            <a:avLst/>
          </a:prstGeom>
          <a:solidFill>
            <a:srgbClr val="FFFFFF"/>
          </a:solidFill>
          <a:ln w="3810">
            <a:solidFill>
              <a:srgbClr val="D0DAE6"/>
            </a:solidFill>
            <a:prstDash val="solid"/>
          </a:ln>
        </p:spPr>
      </p:sp>
      <p:sp>
        <p:nvSpPr>
          <p:cNvPr id="56" name="Text 54"/>
          <p:cNvSpPr/>
          <p:nvPr/>
        </p:nvSpPr>
        <p:spPr>
          <a:xfrm>
            <a:off x="3749040" y="2167128"/>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Korean (ko-KR)</a:t>
            </a:r>
            <a:endParaRPr lang="en-US" sz="720" dirty="0"/>
          </a:p>
        </p:txBody>
      </p:sp>
      <p:sp>
        <p:nvSpPr>
          <p:cNvPr id="57" name="Shape 55"/>
          <p:cNvSpPr/>
          <p:nvPr/>
        </p:nvSpPr>
        <p:spPr>
          <a:xfrm>
            <a:off x="5394960" y="2212848"/>
            <a:ext cx="1920240" cy="91440"/>
          </a:xfrm>
          <a:prstGeom prst="rect">
            <a:avLst/>
          </a:prstGeom>
          <a:solidFill>
            <a:srgbClr val="E8EDF2"/>
          </a:solidFill>
          <a:ln w="12700">
            <a:solidFill>
              <a:srgbClr val="D0DAE6"/>
            </a:solidFill>
            <a:prstDash val="solid"/>
          </a:ln>
        </p:spPr>
      </p:sp>
      <p:sp>
        <p:nvSpPr>
          <p:cNvPr id="58" name="Shape 56"/>
          <p:cNvSpPr/>
          <p:nvPr/>
        </p:nvSpPr>
        <p:spPr>
          <a:xfrm>
            <a:off x="5394960" y="2212848"/>
            <a:ext cx="1536192" cy="91440"/>
          </a:xfrm>
          <a:prstGeom prst="rect">
            <a:avLst/>
          </a:prstGeom>
          <a:solidFill>
            <a:srgbClr val="02C39A"/>
          </a:solidFill>
          <a:ln w="12700">
            <a:solidFill>
              <a:srgbClr val="02C39A"/>
            </a:solidFill>
            <a:prstDash val="solid"/>
          </a:ln>
        </p:spPr>
      </p:sp>
      <p:sp>
        <p:nvSpPr>
          <p:cNvPr id="59" name="Text 57"/>
          <p:cNvSpPr/>
          <p:nvPr/>
        </p:nvSpPr>
        <p:spPr>
          <a:xfrm>
            <a:off x="7360920" y="2167128"/>
            <a:ext cx="320040" cy="187452"/>
          </a:xfrm>
          <a:prstGeom prst="rect">
            <a:avLst/>
          </a:prstGeom>
          <a:noFill/>
          <a:ln/>
        </p:spPr>
        <p:txBody>
          <a:bodyPr wrap="square" rtlCol="0" anchor="ctr"/>
          <a:lstStyle/>
          <a:p>
            <a:pPr algn="r" indent="0" marL="0">
              <a:buNone/>
            </a:pPr>
            <a:r>
              <a:rPr lang="en-US" sz="720" b="1" dirty="0">
                <a:solidFill>
                  <a:srgbClr val="02C39A"/>
                </a:solidFill>
                <a:latin typeface="Calibri" pitchFamily="34" charset="0"/>
                <a:ea typeface="Calibri" pitchFamily="34" charset="-122"/>
                <a:cs typeface="Calibri" pitchFamily="34" charset="-120"/>
              </a:rPr>
              <a:t>80%</a:t>
            </a:r>
            <a:endParaRPr lang="en-US" sz="720" dirty="0"/>
          </a:p>
        </p:txBody>
      </p:sp>
      <p:sp>
        <p:nvSpPr>
          <p:cNvPr id="60" name="Text 58"/>
          <p:cNvSpPr/>
          <p:nvPr/>
        </p:nvSpPr>
        <p:spPr>
          <a:xfrm>
            <a:off x="7708392" y="2167128"/>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MQM confirmed</a:t>
            </a:r>
            <a:endParaRPr lang="en-US" sz="620" dirty="0"/>
          </a:p>
        </p:txBody>
      </p:sp>
      <p:sp>
        <p:nvSpPr>
          <p:cNvPr id="61" name="Text 59"/>
          <p:cNvSpPr/>
          <p:nvPr/>
        </p:nvSpPr>
        <p:spPr>
          <a:xfrm>
            <a:off x="3749040" y="2391156"/>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Hindi (hi-IN)</a:t>
            </a:r>
            <a:endParaRPr lang="en-US" sz="720" dirty="0"/>
          </a:p>
        </p:txBody>
      </p:sp>
      <p:sp>
        <p:nvSpPr>
          <p:cNvPr id="62" name="Shape 60"/>
          <p:cNvSpPr/>
          <p:nvPr/>
        </p:nvSpPr>
        <p:spPr>
          <a:xfrm>
            <a:off x="5394960" y="2436876"/>
            <a:ext cx="1920240" cy="91440"/>
          </a:xfrm>
          <a:prstGeom prst="rect">
            <a:avLst/>
          </a:prstGeom>
          <a:solidFill>
            <a:srgbClr val="E8EDF2"/>
          </a:solidFill>
          <a:ln w="12700">
            <a:solidFill>
              <a:srgbClr val="D0DAE6"/>
            </a:solidFill>
            <a:prstDash val="solid"/>
          </a:ln>
        </p:spPr>
      </p:sp>
      <p:sp>
        <p:nvSpPr>
          <p:cNvPr id="63" name="Shape 61"/>
          <p:cNvSpPr/>
          <p:nvPr/>
        </p:nvSpPr>
        <p:spPr>
          <a:xfrm>
            <a:off x="5394960" y="2436876"/>
            <a:ext cx="1497787" cy="91440"/>
          </a:xfrm>
          <a:prstGeom prst="rect">
            <a:avLst/>
          </a:prstGeom>
          <a:solidFill>
            <a:srgbClr val="028090"/>
          </a:solidFill>
          <a:ln w="12700">
            <a:solidFill>
              <a:srgbClr val="028090"/>
            </a:solidFill>
            <a:prstDash val="solid"/>
          </a:ln>
        </p:spPr>
      </p:sp>
      <p:sp>
        <p:nvSpPr>
          <p:cNvPr id="64" name="Text 62"/>
          <p:cNvSpPr/>
          <p:nvPr/>
        </p:nvSpPr>
        <p:spPr>
          <a:xfrm>
            <a:off x="7360920" y="2391156"/>
            <a:ext cx="320040" cy="187452"/>
          </a:xfrm>
          <a:prstGeom prst="rect">
            <a:avLst/>
          </a:prstGeom>
          <a:noFill/>
          <a:ln/>
        </p:spPr>
        <p:txBody>
          <a:bodyPr wrap="square" rtlCol="0" anchor="ctr"/>
          <a:lstStyle/>
          <a:p>
            <a:pPr algn="r" indent="0" marL="0">
              <a:buNone/>
            </a:pPr>
            <a:r>
              <a:rPr lang="en-US" sz="720" b="1" dirty="0">
                <a:solidFill>
                  <a:srgbClr val="028090"/>
                </a:solidFill>
                <a:latin typeface="Calibri" pitchFamily="34" charset="0"/>
                <a:ea typeface="Calibri" pitchFamily="34" charset="-122"/>
                <a:cs typeface="Calibri" pitchFamily="34" charset="-120"/>
              </a:rPr>
              <a:t>78%</a:t>
            </a:r>
            <a:endParaRPr lang="en-US" sz="720" dirty="0"/>
          </a:p>
        </p:txBody>
      </p:sp>
      <p:sp>
        <p:nvSpPr>
          <p:cNvPr id="65" name="Text 63"/>
          <p:cNvSpPr/>
          <p:nvPr/>
        </p:nvSpPr>
        <p:spPr>
          <a:xfrm>
            <a:off x="7708392" y="2391156"/>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WMT24++ mid-resource</a:t>
            </a:r>
            <a:endParaRPr lang="en-US" sz="620" dirty="0"/>
          </a:p>
        </p:txBody>
      </p:sp>
      <p:sp>
        <p:nvSpPr>
          <p:cNvPr id="66" name="Shape 64"/>
          <p:cNvSpPr/>
          <p:nvPr/>
        </p:nvSpPr>
        <p:spPr>
          <a:xfrm>
            <a:off x="3703320" y="2587752"/>
            <a:ext cx="5120640" cy="224028"/>
          </a:xfrm>
          <a:prstGeom prst="rect">
            <a:avLst/>
          </a:prstGeom>
          <a:solidFill>
            <a:srgbClr val="FFFFFF"/>
          </a:solidFill>
          <a:ln w="3810">
            <a:solidFill>
              <a:srgbClr val="D0DAE6"/>
            </a:solidFill>
            <a:prstDash val="solid"/>
          </a:ln>
        </p:spPr>
      </p:sp>
      <p:sp>
        <p:nvSpPr>
          <p:cNvPr id="67" name="Text 65"/>
          <p:cNvSpPr/>
          <p:nvPr/>
        </p:nvSpPr>
        <p:spPr>
          <a:xfrm>
            <a:off x="3749040" y="2615184"/>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Arabic (ar-SA)</a:t>
            </a:r>
            <a:endParaRPr lang="en-US" sz="720" dirty="0"/>
          </a:p>
        </p:txBody>
      </p:sp>
      <p:sp>
        <p:nvSpPr>
          <p:cNvPr id="68" name="Shape 66"/>
          <p:cNvSpPr/>
          <p:nvPr/>
        </p:nvSpPr>
        <p:spPr>
          <a:xfrm>
            <a:off x="5394960" y="2660904"/>
            <a:ext cx="1920240" cy="91440"/>
          </a:xfrm>
          <a:prstGeom prst="rect">
            <a:avLst/>
          </a:prstGeom>
          <a:solidFill>
            <a:srgbClr val="E8EDF2"/>
          </a:solidFill>
          <a:ln w="12700">
            <a:solidFill>
              <a:srgbClr val="D0DAE6"/>
            </a:solidFill>
            <a:prstDash val="solid"/>
          </a:ln>
        </p:spPr>
      </p:sp>
      <p:sp>
        <p:nvSpPr>
          <p:cNvPr id="69" name="Shape 67"/>
          <p:cNvSpPr/>
          <p:nvPr/>
        </p:nvSpPr>
        <p:spPr>
          <a:xfrm>
            <a:off x="5394960" y="2660904"/>
            <a:ext cx="1440180" cy="91440"/>
          </a:xfrm>
          <a:prstGeom prst="rect">
            <a:avLst/>
          </a:prstGeom>
          <a:solidFill>
            <a:srgbClr val="028090"/>
          </a:solidFill>
          <a:ln w="12700">
            <a:solidFill>
              <a:srgbClr val="028090"/>
            </a:solidFill>
            <a:prstDash val="solid"/>
          </a:ln>
        </p:spPr>
      </p:sp>
      <p:sp>
        <p:nvSpPr>
          <p:cNvPr id="70" name="Text 68"/>
          <p:cNvSpPr/>
          <p:nvPr/>
        </p:nvSpPr>
        <p:spPr>
          <a:xfrm>
            <a:off x="7360920" y="2615184"/>
            <a:ext cx="320040" cy="187452"/>
          </a:xfrm>
          <a:prstGeom prst="rect">
            <a:avLst/>
          </a:prstGeom>
          <a:noFill/>
          <a:ln/>
        </p:spPr>
        <p:txBody>
          <a:bodyPr wrap="square" rtlCol="0" anchor="ctr"/>
          <a:lstStyle/>
          <a:p>
            <a:pPr algn="r" indent="0" marL="0">
              <a:buNone/>
            </a:pPr>
            <a:r>
              <a:rPr lang="en-US" sz="720" b="1" dirty="0">
                <a:solidFill>
                  <a:srgbClr val="028090"/>
                </a:solidFill>
                <a:latin typeface="Calibri" pitchFamily="34" charset="0"/>
                <a:ea typeface="Calibri" pitchFamily="34" charset="-122"/>
                <a:cs typeface="Calibri" pitchFamily="34" charset="-120"/>
              </a:rPr>
              <a:t>75%</a:t>
            </a:r>
            <a:endParaRPr lang="en-US" sz="720" dirty="0"/>
          </a:p>
        </p:txBody>
      </p:sp>
      <p:sp>
        <p:nvSpPr>
          <p:cNvPr id="71" name="Text 69"/>
          <p:cNvSpPr/>
          <p:nvPr/>
        </p:nvSpPr>
        <p:spPr>
          <a:xfrm>
            <a:off x="7708392" y="2615184"/>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WMT24++ + RTL risk</a:t>
            </a:r>
            <a:endParaRPr lang="en-US" sz="620" dirty="0"/>
          </a:p>
        </p:txBody>
      </p:sp>
      <p:sp>
        <p:nvSpPr>
          <p:cNvPr id="72" name="Text 70"/>
          <p:cNvSpPr/>
          <p:nvPr/>
        </p:nvSpPr>
        <p:spPr>
          <a:xfrm>
            <a:off x="3749040" y="2839212"/>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Japanese (ja-JP)</a:t>
            </a:r>
            <a:endParaRPr lang="en-US" sz="720" dirty="0"/>
          </a:p>
        </p:txBody>
      </p:sp>
      <p:sp>
        <p:nvSpPr>
          <p:cNvPr id="73" name="Shape 71"/>
          <p:cNvSpPr/>
          <p:nvPr/>
        </p:nvSpPr>
        <p:spPr>
          <a:xfrm>
            <a:off x="5394960" y="2884932"/>
            <a:ext cx="1920240" cy="91440"/>
          </a:xfrm>
          <a:prstGeom prst="rect">
            <a:avLst/>
          </a:prstGeom>
          <a:solidFill>
            <a:srgbClr val="E8EDF2"/>
          </a:solidFill>
          <a:ln w="12700">
            <a:solidFill>
              <a:srgbClr val="D0DAE6"/>
            </a:solidFill>
            <a:prstDash val="solid"/>
          </a:ln>
        </p:spPr>
      </p:sp>
      <p:sp>
        <p:nvSpPr>
          <p:cNvPr id="74" name="Shape 72"/>
          <p:cNvSpPr/>
          <p:nvPr/>
        </p:nvSpPr>
        <p:spPr>
          <a:xfrm>
            <a:off x="5394960" y="2884932"/>
            <a:ext cx="1382573" cy="91440"/>
          </a:xfrm>
          <a:prstGeom prst="rect">
            <a:avLst/>
          </a:prstGeom>
          <a:solidFill>
            <a:srgbClr val="028090"/>
          </a:solidFill>
          <a:ln w="12700">
            <a:solidFill>
              <a:srgbClr val="028090"/>
            </a:solidFill>
            <a:prstDash val="solid"/>
          </a:ln>
        </p:spPr>
      </p:sp>
      <p:sp>
        <p:nvSpPr>
          <p:cNvPr id="75" name="Text 73"/>
          <p:cNvSpPr/>
          <p:nvPr/>
        </p:nvSpPr>
        <p:spPr>
          <a:xfrm>
            <a:off x="7360920" y="2839212"/>
            <a:ext cx="320040" cy="187452"/>
          </a:xfrm>
          <a:prstGeom prst="rect">
            <a:avLst/>
          </a:prstGeom>
          <a:noFill/>
          <a:ln/>
        </p:spPr>
        <p:txBody>
          <a:bodyPr wrap="square" rtlCol="0" anchor="ctr"/>
          <a:lstStyle/>
          <a:p>
            <a:pPr algn="r" indent="0" marL="0">
              <a:buNone/>
            </a:pPr>
            <a:r>
              <a:rPr lang="en-US" sz="720" b="1" dirty="0">
                <a:solidFill>
                  <a:srgbClr val="028090"/>
                </a:solidFill>
                <a:latin typeface="Calibri" pitchFamily="34" charset="0"/>
                <a:ea typeface="Calibri" pitchFamily="34" charset="-122"/>
                <a:cs typeface="Calibri" pitchFamily="34" charset="-120"/>
              </a:rPr>
              <a:t>72%</a:t>
            </a:r>
            <a:endParaRPr lang="en-US" sz="720" dirty="0"/>
          </a:p>
        </p:txBody>
      </p:sp>
      <p:sp>
        <p:nvSpPr>
          <p:cNvPr id="76" name="Text 74"/>
          <p:cNvSpPr/>
          <p:nvPr/>
        </p:nvSpPr>
        <p:spPr>
          <a:xfrm>
            <a:off x="7708392" y="2839212"/>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MQM — honorifics gap</a:t>
            </a:r>
            <a:endParaRPr lang="en-US" sz="620" dirty="0"/>
          </a:p>
        </p:txBody>
      </p:sp>
      <p:sp>
        <p:nvSpPr>
          <p:cNvPr id="77" name="Shape 75"/>
          <p:cNvSpPr/>
          <p:nvPr/>
        </p:nvSpPr>
        <p:spPr>
          <a:xfrm>
            <a:off x="3703320" y="3035808"/>
            <a:ext cx="5120640" cy="224028"/>
          </a:xfrm>
          <a:prstGeom prst="rect">
            <a:avLst/>
          </a:prstGeom>
          <a:solidFill>
            <a:srgbClr val="FFFFFF"/>
          </a:solidFill>
          <a:ln w="3810">
            <a:solidFill>
              <a:srgbClr val="D0DAE6"/>
            </a:solidFill>
            <a:prstDash val="solid"/>
          </a:ln>
        </p:spPr>
      </p:sp>
      <p:sp>
        <p:nvSpPr>
          <p:cNvPr id="78" name="Text 76"/>
          <p:cNvSpPr/>
          <p:nvPr/>
        </p:nvSpPr>
        <p:spPr>
          <a:xfrm>
            <a:off x="3749040" y="3063240"/>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Chinese traditional (zh-TW)</a:t>
            </a:r>
            <a:endParaRPr lang="en-US" sz="720" dirty="0"/>
          </a:p>
        </p:txBody>
      </p:sp>
      <p:sp>
        <p:nvSpPr>
          <p:cNvPr id="79" name="Shape 77"/>
          <p:cNvSpPr/>
          <p:nvPr/>
        </p:nvSpPr>
        <p:spPr>
          <a:xfrm>
            <a:off x="5394960" y="3108960"/>
            <a:ext cx="1920240" cy="91440"/>
          </a:xfrm>
          <a:prstGeom prst="rect">
            <a:avLst/>
          </a:prstGeom>
          <a:solidFill>
            <a:srgbClr val="E8EDF2"/>
          </a:solidFill>
          <a:ln w="12700">
            <a:solidFill>
              <a:srgbClr val="D0DAE6"/>
            </a:solidFill>
            <a:prstDash val="solid"/>
          </a:ln>
        </p:spPr>
      </p:sp>
      <p:sp>
        <p:nvSpPr>
          <p:cNvPr id="80" name="Shape 78"/>
          <p:cNvSpPr/>
          <p:nvPr/>
        </p:nvSpPr>
        <p:spPr>
          <a:xfrm>
            <a:off x="5394960" y="3108960"/>
            <a:ext cx="1382573" cy="91440"/>
          </a:xfrm>
          <a:prstGeom prst="rect">
            <a:avLst/>
          </a:prstGeom>
          <a:solidFill>
            <a:srgbClr val="028090"/>
          </a:solidFill>
          <a:ln w="12700">
            <a:solidFill>
              <a:srgbClr val="028090"/>
            </a:solidFill>
            <a:prstDash val="solid"/>
          </a:ln>
        </p:spPr>
      </p:sp>
      <p:sp>
        <p:nvSpPr>
          <p:cNvPr id="81" name="Text 79"/>
          <p:cNvSpPr/>
          <p:nvPr/>
        </p:nvSpPr>
        <p:spPr>
          <a:xfrm>
            <a:off x="7360920" y="3063240"/>
            <a:ext cx="320040" cy="187452"/>
          </a:xfrm>
          <a:prstGeom prst="rect">
            <a:avLst/>
          </a:prstGeom>
          <a:noFill/>
          <a:ln/>
        </p:spPr>
        <p:txBody>
          <a:bodyPr wrap="square" rtlCol="0" anchor="ctr"/>
          <a:lstStyle/>
          <a:p>
            <a:pPr algn="r" indent="0" marL="0">
              <a:buNone/>
            </a:pPr>
            <a:r>
              <a:rPr lang="en-US" sz="720" b="1" dirty="0">
                <a:solidFill>
                  <a:srgbClr val="028090"/>
                </a:solidFill>
                <a:latin typeface="Calibri" pitchFamily="34" charset="0"/>
                <a:ea typeface="Calibri" pitchFamily="34" charset="-122"/>
                <a:cs typeface="Calibri" pitchFamily="34" charset="-120"/>
              </a:rPr>
              <a:t>72%</a:t>
            </a:r>
            <a:endParaRPr lang="en-US" sz="720" dirty="0"/>
          </a:p>
        </p:txBody>
      </p:sp>
      <p:sp>
        <p:nvSpPr>
          <p:cNvPr id="82" name="Text 80"/>
          <p:cNvSpPr/>
          <p:nvPr/>
        </p:nvSpPr>
        <p:spPr>
          <a:xfrm>
            <a:off x="7708392" y="3063240"/>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TW variant untested</a:t>
            </a:r>
            <a:endParaRPr lang="en-US" sz="620" dirty="0"/>
          </a:p>
        </p:txBody>
      </p:sp>
      <p:sp>
        <p:nvSpPr>
          <p:cNvPr id="83" name="Text 81"/>
          <p:cNvSpPr/>
          <p:nvPr/>
        </p:nvSpPr>
        <p:spPr>
          <a:xfrm>
            <a:off x="3749040" y="3287268"/>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Vietnamese (vi-VN)</a:t>
            </a:r>
            <a:endParaRPr lang="en-US" sz="720" dirty="0"/>
          </a:p>
        </p:txBody>
      </p:sp>
      <p:sp>
        <p:nvSpPr>
          <p:cNvPr id="84" name="Shape 82"/>
          <p:cNvSpPr/>
          <p:nvPr/>
        </p:nvSpPr>
        <p:spPr>
          <a:xfrm>
            <a:off x="5394960" y="3332988"/>
            <a:ext cx="1920240" cy="91440"/>
          </a:xfrm>
          <a:prstGeom prst="rect">
            <a:avLst/>
          </a:prstGeom>
          <a:solidFill>
            <a:srgbClr val="E8EDF2"/>
          </a:solidFill>
          <a:ln w="12700">
            <a:solidFill>
              <a:srgbClr val="D0DAE6"/>
            </a:solidFill>
            <a:prstDash val="solid"/>
          </a:ln>
        </p:spPr>
      </p:sp>
      <p:sp>
        <p:nvSpPr>
          <p:cNvPr id="85" name="Shape 83"/>
          <p:cNvSpPr/>
          <p:nvPr/>
        </p:nvSpPr>
        <p:spPr>
          <a:xfrm>
            <a:off x="5394960" y="3332988"/>
            <a:ext cx="1344168" cy="91440"/>
          </a:xfrm>
          <a:prstGeom prst="rect">
            <a:avLst/>
          </a:prstGeom>
          <a:solidFill>
            <a:srgbClr val="E8963A"/>
          </a:solidFill>
          <a:ln w="12700">
            <a:solidFill>
              <a:srgbClr val="E8963A"/>
            </a:solidFill>
            <a:prstDash val="solid"/>
          </a:ln>
        </p:spPr>
      </p:sp>
      <p:sp>
        <p:nvSpPr>
          <p:cNvPr id="86" name="Text 84"/>
          <p:cNvSpPr/>
          <p:nvPr/>
        </p:nvSpPr>
        <p:spPr>
          <a:xfrm>
            <a:off x="7360920" y="3287268"/>
            <a:ext cx="320040" cy="187452"/>
          </a:xfrm>
          <a:prstGeom prst="rect">
            <a:avLst/>
          </a:prstGeom>
          <a:noFill/>
          <a:ln/>
        </p:spPr>
        <p:txBody>
          <a:bodyPr wrap="square" rtlCol="0" anchor="ctr"/>
          <a:lstStyle/>
          <a:p>
            <a:pPr algn="r" indent="0" marL="0">
              <a:buNone/>
            </a:pPr>
            <a:r>
              <a:rPr lang="en-US" sz="720" b="1" dirty="0">
                <a:solidFill>
                  <a:srgbClr val="E8963A"/>
                </a:solidFill>
                <a:latin typeface="Calibri" pitchFamily="34" charset="0"/>
                <a:ea typeface="Calibri" pitchFamily="34" charset="-122"/>
                <a:cs typeface="Calibri" pitchFamily="34" charset="-120"/>
              </a:rPr>
              <a:t>70%</a:t>
            </a:r>
            <a:endParaRPr lang="en-US" sz="720" dirty="0"/>
          </a:p>
        </p:txBody>
      </p:sp>
      <p:sp>
        <p:nvSpPr>
          <p:cNvPr id="87" name="Text 85"/>
          <p:cNvSpPr/>
          <p:nvPr/>
        </p:nvSpPr>
        <p:spPr>
          <a:xfrm>
            <a:off x="7708392" y="3287268"/>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In 55-lang, no per-lang score</a:t>
            </a:r>
            <a:endParaRPr lang="en-US" sz="620" dirty="0"/>
          </a:p>
        </p:txBody>
      </p:sp>
      <p:sp>
        <p:nvSpPr>
          <p:cNvPr id="88" name="Shape 86"/>
          <p:cNvSpPr/>
          <p:nvPr/>
        </p:nvSpPr>
        <p:spPr>
          <a:xfrm>
            <a:off x="3703320" y="3483864"/>
            <a:ext cx="5120640" cy="224028"/>
          </a:xfrm>
          <a:prstGeom prst="rect">
            <a:avLst/>
          </a:prstGeom>
          <a:solidFill>
            <a:srgbClr val="FFFFFF"/>
          </a:solidFill>
          <a:ln w="3810">
            <a:solidFill>
              <a:srgbClr val="D0DAE6"/>
            </a:solidFill>
            <a:prstDash val="solid"/>
          </a:ln>
        </p:spPr>
      </p:sp>
      <p:sp>
        <p:nvSpPr>
          <p:cNvPr id="89" name="Text 87"/>
          <p:cNvSpPr/>
          <p:nvPr/>
        </p:nvSpPr>
        <p:spPr>
          <a:xfrm>
            <a:off x="3749040" y="3511296"/>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Filipino (fil-PH)</a:t>
            </a:r>
            <a:endParaRPr lang="en-US" sz="720" dirty="0"/>
          </a:p>
        </p:txBody>
      </p:sp>
      <p:sp>
        <p:nvSpPr>
          <p:cNvPr id="90" name="Shape 88"/>
          <p:cNvSpPr/>
          <p:nvPr/>
        </p:nvSpPr>
        <p:spPr>
          <a:xfrm>
            <a:off x="5394960" y="3557016"/>
            <a:ext cx="1920240" cy="91440"/>
          </a:xfrm>
          <a:prstGeom prst="rect">
            <a:avLst/>
          </a:prstGeom>
          <a:solidFill>
            <a:srgbClr val="E8EDF2"/>
          </a:solidFill>
          <a:ln w="12700">
            <a:solidFill>
              <a:srgbClr val="D0DAE6"/>
            </a:solidFill>
            <a:prstDash val="solid"/>
          </a:ln>
        </p:spPr>
      </p:sp>
      <p:sp>
        <p:nvSpPr>
          <p:cNvPr id="91" name="Shape 89"/>
          <p:cNvSpPr/>
          <p:nvPr/>
        </p:nvSpPr>
        <p:spPr>
          <a:xfrm>
            <a:off x="5394960" y="3557016"/>
            <a:ext cx="1190549" cy="91440"/>
          </a:xfrm>
          <a:prstGeom prst="rect">
            <a:avLst/>
          </a:prstGeom>
          <a:solidFill>
            <a:srgbClr val="E8963A"/>
          </a:solidFill>
          <a:ln w="12700">
            <a:solidFill>
              <a:srgbClr val="E8963A"/>
            </a:solidFill>
            <a:prstDash val="solid"/>
          </a:ln>
        </p:spPr>
      </p:sp>
      <p:sp>
        <p:nvSpPr>
          <p:cNvPr id="92" name="Text 90"/>
          <p:cNvSpPr/>
          <p:nvPr/>
        </p:nvSpPr>
        <p:spPr>
          <a:xfrm>
            <a:off x="7360920" y="3511296"/>
            <a:ext cx="320040" cy="187452"/>
          </a:xfrm>
          <a:prstGeom prst="rect">
            <a:avLst/>
          </a:prstGeom>
          <a:noFill/>
          <a:ln/>
        </p:spPr>
        <p:txBody>
          <a:bodyPr wrap="square" rtlCol="0" anchor="ctr"/>
          <a:lstStyle/>
          <a:p>
            <a:pPr algn="r" indent="0" marL="0">
              <a:buNone/>
            </a:pPr>
            <a:r>
              <a:rPr lang="en-US" sz="720" b="1" dirty="0">
                <a:solidFill>
                  <a:srgbClr val="E8963A"/>
                </a:solidFill>
                <a:latin typeface="Calibri" pitchFamily="34" charset="0"/>
                <a:ea typeface="Calibri" pitchFamily="34" charset="-122"/>
                <a:cs typeface="Calibri" pitchFamily="34" charset="-120"/>
              </a:rPr>
              <a:t>62%</a:t>
            </a:r>
            <a:endParaRPr lang="en-US" sz="720" dirty="0"/>
          </a:p>
        </p:txBody>
      </p:sp>
      <p:sp>
        <p:nvSpPr>
          <p:cNvPr id="93" name="Text 91"/>
          <p:cNvSpPr/>
          <p:nvPr/>
        </p:nvSpPr>
        <p:spPr>
          <a:xfrm>
            <a:off x="7708392" y="3511296"/>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Tagalog incl., domain untested</a:t>
            </a:r>
            <a:endParaRPr lang="en-US" sz="620" dirty="0"/>
          </a:p>
        </p:txBody>
      </p:sp>
      <p:sp>
        <p:nvSpPr>
          <p:cNvPr id="94" name="Text 92"/>
          <p:cNvSpPr/>
          <p:nvPr/>
        </p:nvSpPr>
        <p:spPr>
          <a:xfrm>
            <a:off x="3749040" y="3735324"/>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Telugu (te-IN)</a:t>
            </a:r>
            <a:endParaRPr lang="en-US" sz="720" dirty="0"/>
          </a:p>
        </p:txBody>
      </p:sp>
      <p:sp>
        <p:nvSpPr>
          <p:cNvPr id="95" name="Shape 93"/>
          <p:cNvSpPr/>
          <p:nvPr/>
        </p:nvSpPr>
        <p:spPr>
          <a:xfrm>
            <a:off x="5394960" y="3781044"/>
            <a:ext cx="1920240" cy="91440"/>
          </a:xfrm>
          <a:prstGeom prst="rect">
            <a:avLst/>
          </a:prstGeom>
          <a:solidFill>
            <a:srgbClr val="E8EDF2"/>
          </a:solidFill>
          <a:ln w="12700">
            <a:solidFill>
              <a:srgbClr val="D0DAE6"/>
            </a:solidFill>
            <a:prstDash val="solid"/>
          </a:ln>
        </p:spPr>
      </p:sp>
      <p:sp>
        <p:nvSpPr>
          <p:cNvPr id="96" name="Shape 94"/>
          <p:cNvSpPr/>
          <p:nvPr/>
        </p:nvSpPr>
        <p:spPr>
          <a:xfrm>
            <a:off x="5394960" y="3781044"/>
            <a:ext cx="921715" cy="91440"/>
          </a:xfrm>
          <a:prstGeom prst="rect">
            <a:avLst/>
          </a:prstGeom>
          <a:solidFill>
            <a:srgbClr val="C0392B"/>
          </a:solidFill>
          <a:ln w="12700">
            <a:solidFill>
              <a:srgbClr val="C0392B"/>
            </a:solidFill>
            <a:prstDash val="solid"/>
          </a:ln>
        </p:spPr>
      </p:sp>
      <p:sp>
        <p:nvSpPr>
          <p:cNvPr id="97" name="Text 95"/>
          <p:cNvSpPr/>
          <p:nvPr/>
        </p:nvSpPr>
        <p:spPr>
          <a:xfrm>
            <a:off x="7360920" y="3735324"/>
            <a:ext cx="320040" cy="187452"/>
          </a:xfrm>
          <a:prstGeom prst="rect">
            <a:avLst/>
          </a:prstGeom>
          <a:noFill/>
          <a:ln/>
        </p:spPr>
        <p:txBody>
          <a:bodyPr wrap="square" rtlCol="0" anchor="ctr"/>
          <a:lstStyle/>
          <a:p>
            <a:pPr algn="r" indent="0" marL="0">
              <a:buNone/>
            </a:pPr>
            <a:r>
              <a:rPr lang="en-US" sz="720" b="1" dirty="0">
                <a:solidFill>
                  <a:srgbClr val="C0392B"/>
                </a:solidFill>
                <a:latin typeface="Calibri" pitchFamily="34" charset="0"/>
                <a:ea typeface="Calibri" pitchFamily="34" charset="-122"/>
                <a:cs typeface="Calibri" pitchFamily="34" charset="-120"/>
              </a:rPr>
              <a:t>48%</a:t>
            </a:r>
            <a:endParaRPr lang="en-US" sz="720" dirty="0"/>
          </a:p>
        </p:txBody>
      </p:sp>
      <p:sp>
        <p:nvSpPr>
          <p:cNvPr id="98" name="Text 96"/>
          <p:cNvSpPr/>
          <p:nvPr/>
        </p:nvSpPr>
        <p:spPr>
          <a:xfrm>
            <a:off x="7708392" y="3735324"/>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Extended set — no eval metrics</a:t>
            </a:r>
            <a:endParaRPr lang="en-US" sz="620" dirty="0"/>
          </a:p>
        </p:txBody>
      </p:sp>
      <p:sp>
        <p:nvSpPr>
          <p:cNvPr id="99" name="Shape 97"/>
          <p:cNvSpPr/>
          <p:nvPr/>
        </p:nvSpPr>
        <p:spPr>
          <a:xfrm>
            <a:off x="3703320" y="3931920"/>
            <a:ext cx="5120640" cy="224028"/>
          </a:xfrm>
          <a:prstGeom prst="rect">
            <a:avLst/>
          </a:prstGeom>
          <a:solidFill>
            <a:srgbClr val="FFFFFF"/>
          </a:solidFill>
          <a:ln w="3810">
            <a:solidFill>
              <a:srgbClr val="D0DAE6"/>
            </a:solidFill>
            <a:prstDash val="solid"/>
          </a:ln>
        </p:spPr>
      </p:sp>
      <p:sp>
        <p:nvSpPr>
          <p:cNvPr id="100" name="Text 98"/>
          <p:cNvSpPr/>
          <p:nvPr/>
        </p:nvSpPr>
        <p:spPr>
          <a:xfrm>
            <a:off x="3749040" y="3959352"/>
            <a:ext cx="1600200" cy="187452"/>
          </a:xfrm>
          <a:prstGeom prst="rect">
            <a:avLst/>
          </a:prstGeom>
          <a:noFill/>
          <a:ln/>
        </p:spPr>
        <p:txBody>
          <a:bodyPr wrap="square" rtlCol="0" anchor="ctr"/>
          <a:lstStyle/>
          <a:p>
            <a:pPr indent="0" marL="0">
              <a:buNone/>
            </a:pPr>
            <a:r>
              <a:rPr lang="en-US" sz="720" dirty="0">
                <a:solidFill>
                  <a:srgbClr val="0D1B40"/>
                </a:solidFill>
                <a:latin typeface="Calibri" pitchFamily="34" charset="0"/>
                <a:ea typeface="Calibri" pitchFamily="34" charset="-122"/>
                <a:cs typeface="Calibri" pitchFamily="34" charset="-120"/>
              </a:rPr>
              <a:t>Haitian Creole (ht-HT)</a:t>
            </a:r>
            <a:endParaRPr lang="en-US" sz="720" dirty="0"/>
          </a:p>
        </p:txBody>
      </p:sp>
      <p:sp>
        <p:nvSpPr>
          <p:cNvPr id="101" name="Shape 99"/>
          <p:cNvSpPr/>
          <p:nvPr/>
        </p:nvSpPr>
        <p:spPr>
          <a:xfrm>
            <a:off x="5394960" y="4005072"/>
            <a:ext cx="1920240" cy="91440"/>
          </a:xfrm>
          <a:prstGeom prst="rect">
            <a:avLst/>
          </a:prstGeom>
          <a:solidFill>
            <a:srgbClr val="E8EDF2"/>
          </a:solidFill>
          <a:ln w="12700">
            <a:solidFill>
              <a:srgbClr val="D0DAE6"/>
            </a:solidFill>
            <a:prstDash val="solid"/>
          </a:ln>
        </p:spPr>
      </p:sp>
      <p:sp>
        <p:nvSpPr>
          <p:cNvPr id="102" name="Shape 100"/>
          <p:cNvSpPr/>
          <p:nvPr/>
        </p:nvSpPr>
        <p:spPr>
          <a:xfrm>
            <a:off x="5394960" y="4005072"/>
            <a:ext cx="768096" cy="91440"/>
          </a:xfrm>
          <a:prstGeom prst="rect">
            <a:avLst/>
          </a:prstGeom>
          <a:solidFill>
            <a:srgbClr val="C0392B"/>
          </a:solidFill>
          <a:ln w="12700">
            <a:solidFill>
              <a:srgbClr val="C0392B"/>
            </a:solidFill>
            <a:prstDash val="solid"/>
          </a:ln>
        </p:spPr>
      </p:sp>
      <p:sp>
        <p:nvSpPr>
          <p:cNvPr id="103" name="Text 101"/>
          <p:cNvSpPr/>
          <p:nvPr/>
        </p:nvSpPr>
        <p:spPr>
          <a:xfrm>
            <a:off x="7360920" y="3959352"/>
            <a:ext cx="320040" cy="187452"/>
          </a:xfrm>
          <a:prstGeom prst="rect">
            <a:avLst/>
          </a:prstGeom>
          <a:noFill/>
          <a:ln/>
        </p:spPr>
        <p:txBody>
          <a:bodyPr wrap="square" rtlCol="0" anchor="ctr"/>
          <a:lstStyle/>
          <a:p>
            <a:pPr algn="r" indent="0" marL="0">
              <a:buNone/>
            </a:pPr>
            <a:r>
              <a:rPr lang="en-US" sz="720" b="1" dirty="0">
                <a:solidFill>
                  <a:srgbClr val="C0392B"/>
                </a:solidFill>
                <a:latin typeface="Calibri" pitchFamily="34" charset="0"/>
                <a:ea typeface="Calibri" pitchFamily="34" charset="-122"/>
                <a:cs typeface="Calibri" pitchFamily="34" charset="-120"/>
              </a:rPr>
              <a:t>40%</a:t>
            </a:r>
            <a:endParaRPr lang="en-US" sz="720" dirty="0"/>
          </a:p>
        </p:txBody>
      </p:sp>
      <p:sp>
        <p:nvSpPr>
          <p:cNvPr id="104" name="Text 102"/>
          <p:cNvSpPr/>
          <p:nvPr/>
        </p:nvSpPr>
        <p:spPr>
          <a:xfrm>
            <a:off x="7708392" y="3959352"/>
            <a:ext cx="1115568" cy="187452"/>
          </a:xfrm>
          <a:prstGeom prst="rect">
            <a:avLst/>
          </a:prstGeom>
          <a:noFill/>
          <a:ln/>
        </p:spPr>
        <p:txBody>
          <a:bodyPr wrap="square" rtlCol="0" anchor="ctr"/>
          <a:lstStyle/>
          <a:p>
            <a:pPr indent="0" marL="0">
              <a:buNone/>
            </a:pPr>
            <a:r>
              <a:rPr lang="en-US" sz="620" i="1" dirty="0">
                <a:solidFill>
                  <a:srgbClr val="8A9BB0"/>
                </a:solidFill>
                <a:latin typeface="Calibri" pitchFamily="34" charset="0"/>
                <a:ea typeface="Calibri" pitchFamily="34" charset="-122"/>
                <a:cs typeface="Calibri" pitchFamily="34" charset="-120"/>
              </a:rPr>
              <a:t>Extended set — no eval metrics</a:t>
            </a:r>
            <a:endParaRPr lang="en-US" sz="620" dirty="0"/>
          </a:p>
        </p:txBody>
      </p:sp>
      <p:sp>
        <p:nvSpPr>
          <p:cNvPr id="105" name="Shape 103"/>
          <p:cNvSpPr/>
          <p:nvPr/>
        </p:nvSpPr>
        <p:spPr>
          <a:xfrm>
            <a:off x="0" y="4352544"/>
            <a:ext cx="9144000" cy="868680"/>
          </a:xfrm>
          <a:prstGeom prst="rect">
            <a:avLst/>
          </a:prstGeom>
          <a:solidFill>
            <a:srgbClr val="0D1B40"/>
          </a:solidFill>
          <a:ln w="12700">
            <a:solidFill>
              <a:srgbClr val="0D1B40"/>
            </a:solidFill>
            <a:prstDash val="solid"/>
          </a:ln>
        </p:spPr>
      </p:sp>
      <p:sp>
        <p:nvSpPr>
          <p:cNvPr id="106" name="Text 104"/>
          <p:cNvSpPr/>
          <p:nvPr/>
        </p:nvSpPr>
        <p:spPr>
          <a:xfrm>
            <a:off x="274320" y="4398264"/>
            <a:ext cx="2286000" cy="182880"/>
          </a:xfrm>
          <a:prstGeom prst="rect">
            <a:avLst/>
          </a:prstGeom>
          <a:noFill/>
          <a:ln/>
        </p:spPr>
        <p:txBody>
          <a:bodyPr wrap="square" rtlCol="0" anchor="ctr"/>
          <a:lstStyle/>
          <a:p>
            <a:pPr indent="0" marL="0">
              <a:buNone/>
            </a:pPr>
            <a:r>
              <a:rPr lang="en-US" sz="700" b="1" spc="150" kern="0" dirty="0">
                <a:solidFill>
                  <a:srgbClr val="028090"/>
                </a:solidFill>
                <a:latin typeface="Calibri" pitchFamily="34" charset="0"/>
                <a:ea typeface="Calibri" pitchFamily="34" charset="-122"/>
                <a:cs typeface="Calibri" pitchFamily="34" charset="-120"/>
              </a:rPr>
              <a:t>EVALUATION DIMENSIONS</a:t>
            </a:r>
            <a:endParaRPr lang="en-US" sz="700" dirty="0"/>
          </a:p>
        </p:txBody>
      </p:sp>
      <p:sp>
        <p:nvSpPr>
          <p:cNvPr id="107" name="Text 105"/>
          <p:cNvSpPr/>
          <p:nvPr/>
        </p:nvSpPr>
        <p:spPr>
          <a:xfrm>
            <a:off x="5120640" y="4398264"/>
            <a:ext cx="1828800" cy="182880"/>
          </a:xfrm>
          <a:prstGeom prst="rect">
            <a:avLst/>
          </a:prstGeom>
          <a:noFill/>
          <a:ln/>
        </p:spPr>
        <p:txBody>
          <a:bodyPr wrap="square" rtlCol="0" anchor="ctr"/>
          <a:lstStyle/>
          <a:p>
            <a:pPr indent="0" marL="0">
              <a:buNone/>
            </a:pPr>
            <a:r>
              <a:rPr lang="en-US" sz="700" b="1" spc="150" kern="0" dirty="0">
                <a:solidFill>
                  <a:srgbClr val="C0392B"/>
                </a:solidFill>
                <a:latin typeface="Calibri" pitchFamily="34" charset="0"/>
                <a:ea typeface="Calibri" pitchFamily="34" charset="-122"/>
                <a:cs typeface="Calibri" pitchFamily="34" charset="-120"/>
              </a:rPr>
              <a:t>TWO HARD GAPS</a:t>
            </a:r>
            <a:endParaRPr lang="en-US" sz="700" dirty="0"/>
          </a:p>
        </p:txBody>
      </p:sp>
      <p:sp>
        <p:nvSpPr>
          <p:cNvPr id="108" name="Text 106"/>
          <p:cNvSpPr/>
          <p:nvPr/>
        </p:nvSpPr>
        <p:spPr>
          <a:xfrm>
            <a:off x="256032" y="4590288"/>
            <a:ext cx="1133856" cy="164592"/>
          </a:xfrm>
          <a:prstGeom prst="rect">
            <a:avLst/>
          </a:prstGeom>
          <a:noFill/>
          <a:ln/>
        </p:spPr>
        <p:txBody>
          <a:bodyPr wrap="square" rtlCol="0" anchor="ctr"/>
          <a:lstStyle/>
          <a:p>
            <a:pPr indent="0" marL="0">
              <a:buNone/>
            </a:pPr>
            <a:r>
              <a:rPr lang="en-US" sz="700" b="1" dirty="0">
                <a:solidFill>
                  <a:srgbClr val="E8963A"/>
                </a:solidFill>
                <a:latin typeface="Calibri" pitchFamily="34" charset="0"/>
                <a:ea typeface="Calibri" pitchFamily="34" charset="-122"/>
                <a:cs typeface="Calibri" pitchFamily="34" charset="-120"/>
              </a:rPr>
              <a:t>D1 Benchmark coverage</a:t>
            </a:r>
            <a:endParaRPr lang="en-US" sz="700" dirty="0"/>
          </a:p>
        </p:txBody>
      </p:sp>
      <p:sp>
        <p:nvSpPr>
          <p:cNvPr id="109" name="Text 107"/>
          <p:cNvSpPr/>
          <p:nvPr/>
        </p:nvSpPr>
        <p:spPr>
          <a:xfrm>
            <a:off x="256032" y="4754880"/>
            <a:ext cx="1133856"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55 of 15 target langs in WMT24++. MQM covers 10 pairs. Coverage gap widens for low-resource languages.</a:t>
            </a:r>
            <a:endParaRPr lang="en-US" sz="650" dirty="0"/>
          </a:p>
        </p:txBody>
      </p:sp>
      <p:sp>
        <p:nvSpPr>
          <p:cNvPr id="110" name="Text 108"/>
          <p:cNvSpPr/>
          <p:nvPr/>
        </p:nvSpPr>
        <p:spPr>
          <a:xfrm>
            <a:off x="1444752" y="4590288"/>
            <a:ext cx="1133856" cy="164592"/>
          </a:xfrm>
          <a:prstGeom prst="rect">
            <a:avLst/>
          </a:prstGeom>
          <a:noFill/>
          <a:ln/>
        </p:spPr>
        <p:txBody>
          <a:bodyPr wrap="square" rtlCol="0" anchor="ctr"/>
          <a:lstStyle/>
          <a:p>
            <a:pPr indent="0" marL="0">
              <a:buNone/>
            </a:pPr>
            <a:r>
              <a:rPr lang="en-US" sz="700" b="1" dirty="0">
                <a:solidFill>
                  <a:srgbClr val="E8963A"/>
                </a:solidFill>
                <a:latin typeface="Calibri" pitchFamily="34" charset="0"/>
                <a:ea typeface="Calibri" pitchFamily="34" charset="-122"/>
                <a:cs typeface="Calibri" pitchFamily="34" charset="-120"/>
              </a:rPr>
              <a:t>D2 Domain specificity</a:t>
            </a:r>
            <a:endParaRPr lang="en-US" sz="700" dirty="0"/>
          </a:p>
        </p:txBody>
      </p:sp>
      <p:sp>
        <p:nvSpPr>
          <p:cNvPr id="111" name="Text 109"/>
          <p:cNvSpPr/>
          <p:nvPr/>
        </p:nvSpPr>
        <p:spPr>
          <a:xfrm>
            <a:off x="1444752" y="4754880"/>
            <a:ext cx="1133856"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Benchmarks use news/web text only. Banking terminology not evaluated — fine-tuning on financial corpus required.</a:t>
            </a:r>
            <a:endParaRPr lang="en-US" sz="650" dirty="0"/>
          </a:p>
        </p:txBody>
      </p:sp>
      <p:sp>
        <p:nvSpPr>
          <p:cNvPr id="112" name="Text 110"/>
          <p:cNvSpPr/>
          <p:nvPr/>
        </p:nvSpPr>
        <p:spPr>
          <a:xfrm>
            <a:off x="2633472" y="4590288"/>
            <a:ext cx="1133856" cy="164592"/>
          </a:xfrm>
          <a:prstGeom prst="rect">
            <a:avLst/>
          </a:prstGeom>
          <a:noFill/>
          <a:ln/>
        </p:spPr>
        <p:txBody>
          <a:bodyPr wrap="square" rtlCol="0" anchor="ctr"/>
          <a:lstStyle/>
          <a:p>
            <a:pPr indent="0" marL="0">
              <a:buNone/>
            </a:pPr>
            <a:r>
              <a:rPr lang="en-US" sz="700" b="1" dirty="0">
                <a:solidFill>
                  <a:srgbClr val="E8963A"/>
                </a:solidFill>
                <a:latin typeface="Calibri" pitchFamily="34" charset="0"/>
                <a:ea typeface="Calibri" pitchFamily="34" charset="-122"/>
                <a:cs typeface="Calibri" pitchFamily="34" charset="-120"/>
              </a:rPr>
              <a:t>D3 Japanese register</a:t>
            </a:r>
            <a:endParaRPr lang="en-US" sz="700" dirty="0"/>
          </a:p>
        </p:txBody>
      </p:sp>
      <p:sp>
        <p:nvSpPr>
          <p:cNvPr id="113" name="Text 111"/>
          <p:cNvSpPr/>
          <p:nvPr/>
        </p:nvSpPr>
        <p:spPr>
          <a:xfrm>
            <a:off x="2633472" y="4754880"/>
            <a:ext cx="1133856"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Honorifics &amp; formal register not covered by MetricX. Human eval flagged as partial — banking QA needed.</a:t>
            </a:r>
            <a:endParaRPr lang="en-US" sz="650" dirty="0"/>
          </a:p>
        </p:txBody>
      </p:sp>
      <p:sp>
        <p:nvSpPr>
          <p:cNvPr id="114" name="Text 112"/>
          <p:cNvSpPr/>
          <p:nvPr/>
        </p:nvSpPr>
        <p:spPr>
          <a:xfrm>
            <a:off x="3822192" y="4590288"/>
            <a:ext cx="1133856" cy="164592"/>
          </a:xfrm>
          <a:prstGeom prst="rect">
            <a:avLst/>
          </a:prstGeom>
          <a:noFill/>
          <a:ln/>
        </p:spPr>
        <p:txBody>
          <a:bodyPr wrap="square" rtlCol="0" anchor="ctr"/>
          <a:lstStyle/>
          <a:p>
            <a:pPr indent="0" marL="0">
              <a:buNone/>
            </a:pPr>
            <a:r>
              <a:rPr lang="en-US" sz="700" b="1" dirty="0">
                <a:solidFill>
                  <a:srgbClr val="E8963A"/>
                </a:solidFill>
                <a:latin typeface="Calibri" pitchFamily="34" charset="0"/>
                <a:ea typeface="Calibri" pitchFamily="34" charset="-122"/>
                <a:cs typeface="Calibri" pitchFamily="34" charset="-120"/>
              </a:rPr>
              <a:t>D4 zh-TW variant</a:t>
            </a:r>
            <a:endParaRPr lang="en-US" sz="700" dirty="0"/>
          </a:p>
        </p:txBody>
      </p:sp>
      <p:sp>
        <p:nvSpPr>
          <p:cNvPr id="115" name="Text 113"/>
          <p:cNvSpPr/>
          <p:nvPr/>
        </p:nvSpPr>
        <p:spPr>
          <a:xfrm>
            <a:off x="3822192" y="4754880"/>
            <a:ext cx="1133856"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Benchmarked as zh-CN. Traditional script + Taiwan-specific banking terms untested — treat as moderate-risk.</a:t>
            </a:r>
            <a:endParaRPr lang="en-US" sz="650" dirty="0"/>
          </a:p>
        </p:txBody>
      </p:sp>
      <p:sp>
        <p:nvSpPr>
          <p:cNvPr id="116" name="Shape 114"/>
          <p:cNvSpPr/>
          <p:nvPr/>
        </p:nvSpPr>
        <p:spPr>
          <a:xfrm>
            <a:off x="5029200" y="4517136"/>
            <a:ext cx="0" cy="594360"/>
          </a:xfrm>
          <a:prstGeom prst="line">
            <a:avLst/>
          </a:prstGeom>
          <a:noFill/>
          <a:ln w="6350">
            <a:solidFill>
              <a:srgbClr val="028090"/>
            </a:solidFill>
            <a:prstDash val="solid"/>
          </a:ln>
        </p:spPr>
      </p:sp>
      <p:sp>
        <p:nvSpPr>
          <p:cNvPr id="117" name="Text 115"/>
          <p:cNvSpPr/>
          <p:nvPr/>
        </p:nvSpPr>
        <p:spPr>
          <a:xfrm>
            <a:off x="5138928" y="4590288"/>
            <a:ext cx="1920240" cy="164592"/>
          </a:xfrm>
          <a:prstGeom prst="rect">
            <a:avLst/>
          </a:prstGeom>
          <a:noFill/>
          <a:ln/>
        </p:spPr>
        <p:txBody>
          <a:bodyPr wrap="square"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G1 No eval for Telugu &amp; Haitian Creole</a:t>
            </a:r>
            <a:endParaRPr lang="en-US" sz="700" dirty="0"/>
          </a:p>
        </p:txBody>
      </p:sp>
      <p:sp>
        <p:nvSpPr>
          <p:cNvPr id="118" name="Text 116"/>
          <p:cNvSpPr/>
          <p:nvPr/>
        </p:nvSpPr>
        <p:spPr>
          <a:xfrm>
            <a:off x="5138928" y="4754880"/>
            <a:ext cx="1920240"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Extended set only. No MetricX or MQM score published. Human validation is the only acceptable path to production.</a:t>
            </a:r>
            <a:endParaRPr lang="en-US" sz="650" dirty="0"/>
          </a:p>
        </p:txBody>
      </p:sp>
      <p:sp>
        <p:nvSpPr>
          <p:cNvPr id="119" name="Text 117"/>
          <p:cNvSpPr/>
          <p:nvPr/>
        </p:nvSpPr>
        <p:spPr>
          <a:xfrm>
            <a:off x="7132320" y="4590288"/>
            <a:ext cx="1920240" cy="164592"/>
          </a:xfrm>
          <a:prstGeom prst="rect">
            <a:avLst/>
          </a:prstGeom>
          <a:noFill/>
          <a:ln/>
        </p:spPr>
        <p:txBody>
          <a:bodyPr wrap="square" rtlCol="0" anchor="ctr"/>
          <a:lstStyle/>
          <a:p>
            <a:pPr indent="0" marL="0">
              <a:buNone/>
            </a:pPr>
            <a:r>
              <a:rPr lang="en-US" sz="700" b="1" dirty="0">
                <a:solidFill>
                  <a:srgbClr val="C0392B"/>
                </a:solidFill>
                <a:latin typeface="Calibri" pitchFamily="34" charset="0"/>
                <a:ea typeface="Calibri" pitchFamily="34" charset="-122"/>
                <a:cs typeface="Calibri" pitchFamily="34" charset="-120"/>
              </a:rPr>
              <a:t>G2 No banking-domain benchmark exists</a:t>
            </a:r>
            <a:endParaRPr lang="en-US" sz="700" dirty="0"/>
          </a:p>
        </p:txBody>
      </p:sp>
      <p:sp>
        <p:nvSpPr>
          <p:cNvPr id="120" name="Text 118"/>
          <p:cNvSpPr/>
          <p:nvPr/>
        </p:nvSpPr>
        <p:spPr>
          <a:xfrm>
            <a:off x="7132320" y="4754880"/>
            <a:ext cx="1920240" cy="347472"/>
          </a:xfrm>
          <a:prstGeom prst="rect">
            <a:avLst/>
          </a:prstGeom>
          <a:noFill/>
          <a:ln/>
        </p:spPr>
        <p:txBody>
          <a:bodyPr wrap="square" rtlCol="0" anchor="ctr"/>
          <a:lstStyle/>
          <a:p>
            <a:pPr indent="0" marL="0">
              <a:buNone/>
            </a:pPr>
            <a:r>
              <a:rPr lang="en-US" sz="650" dirty="0">
                <a:solidFill>
                  <a:srgbClr val="8A9BB0"/>
                </a:solidFill>
                <a:latin typeface="Calibri" pitchFamily="34" charset="0"/>
                <a:ea typeface="Calibri" pitchFamily="34" charset="-122"/>
                <a:cs typeface="Calibri" pitchFamily="34" charset="-120"/>
              </a:rPr>
              <a:t>Zero published data on any model — including TranslateGemma — tested on financial VA utterances. Internal QA corpus is mandatory.</a:t>
            </a:r>
            <a:endParaRPr lang="en-US" sz="650" dirty="0"/>
          </a:p>
        </p:txBody>
      </p:sp>
      <p:sp>
        <p:nvSpPr>
          <p:cNvPr id="121" name="Text 119"/>
          <p:cNvSpPr/>
          <p:nvPr/>
        </p:nvSpPr>
        <p:spPr>
          <a:xfrm>
            <a:off x="274320" y="4992624"/>
            <a:ext cx="8595360" cy="164592"/>
          </a:xfrm>
          <a:prstGeom prst="rect">
            <a:avLst/>
          </a:prstGeom>
          <a:noFill/>
          <a:ln/>
        </p:spPr>
        <p:txBody>
          <a:bodyPr wrap="square" rtlCol="0" anchor="ctr"/>
          <a:lstStyle/>
          <a:p>
            <a:pPr algn="r" indent="0" marL="0">
              <a:buNone/>
            </a:pPr>
            <a:r>
              <a:rPr lang="en-US" sz="750" i="1" dirty="0">
                <a:solidFill>
                  <a:srgbClr val="8A9BB0"/>
                </a:solidFill>
                <a:latin typeface="Calibri" pitchFamily="34" charset="0"/>
                <a:ea typeface="Calibri" pitchFamily="34" charset="-122"/>
                <a:cs typeface="Calibri" pitchFamily="34" charset="-120"/>
              </a:rPr>
              <a:t>Confidential — for internal review</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VA — Analysis Summary</dc:title>
  <dc:subject>PptxGenJS Presentation</dc:subject>
  <dc:creator>PptxGenJS</dc:creator>
  <cp:lastModifiedBy>PptxGenJS</cp:lastModifiedBy>
  <cp:revision>1</cp:revision>
  <dcterms:created xsi:type="dcterms:W3CDTF">2026-03-29T06:31:46Z</dcterms:created>
  <dcterms:modified xsi:type="dcterms:W3CDTF">2026-03-29T06:31:46Z</dcterms:modified>
</cp:coreProperties>
</file>