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23888"/>
            <a:ext cx="95250" cy="95250"/>
          </a:xfrm>
          <a:prstGeom prst="ellipse">
            <a:avLst/>
          </a:prstGeom>
          <a:solidFill>
            <a:srgbClr val="B85432"/>
          </a:solidFill>
          <a:ln/>
        </p:spPr>
      </p:sp>
      <p:sp>
        <p:nvSpPr>
          <p:cNvPr id="3" name="Text 1"/>
          <p:cNvSpPr/>
          <p:nvPr/>
        </p:nvSpPr>
        <p:spPr>
          <a:xfrm>
            <a:off x="1162050" y="533400"/>
            <a:ext cx="3962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ANSWERHUB · EXECUTIVE BRIEF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376154" y="533400"/>
            <a:ext cx="10736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FB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02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47161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1116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Eliminating the “I’m still learning” dead‑end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1866900"/>
            <a:ext cx="1471612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spc="-30" kern="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Curated content tops out at 15 intents. Tests show the public‑site datastore can answer the unsupported topics safely — keeping conversations fluid instead of breaking them.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5283101" cy="670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552825"/>
            <a:ext cx="47155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6825" y="4038600"/>
            <a:ext cx="72509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116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030016" y="4286250"/>
            <a:ext cx="2145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intents in production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6825" y="4991100"/>
            <a:ext cx="4715598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Curated answers are high quality and compliance‑reviewed. Every new topic requires LOB and compliance collaboration — a multi‑week build per intent that can’t keep pace with user demand.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6825" y="8963025"/>
            <a:ext cx="47155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Completeness, governance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6825" y="9277350"/>
            <a:ext cx="47155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Throughput, coverage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02301" y="3200400"/>
            <a:ext cx="5283250" cy="6705600"/>
          </a:xfrm>
          <a:prstGeom prst="rect">
            <a:avLst/>
          </a:prstGeom>
          <a:ln w="9525">
            <a:solidFill>
              <a:srgbClr val="B854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4726" y="3552825"/>
            <a:ext cx="47157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85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DEAD‑END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4726" y="4038600"/>
            <a:ext cx="471575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spc="-72" kern="0" dirty="0">
                <a:solidFill>
                  <a:srgbClr val="B8543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“I’m still learning.”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4726" y="4943475"/>
            <a:ext cx="4715752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unsupported intent ends here. The conversation drops, trust erodes, and the user is forced to leave the assistant to find their answer elsewhere.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4726" y="9277350"/>
            <a:ext cx="47157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B85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Containment loss, NPS drag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90350" y="3200400"/>
            <a:ext cx="5283101" cy="6705600"/>
          </a:xfrm>
          <a:prstGeom prst="rect">
            <a:avLst/>
          </a:prstGeom>
          <a:solidFill>
            <a:srgbClr val="11161C"/>
          </a:solidFill>
          <a:ln w="9525">
            <a:solidFill>
              <a:srgbClr val="11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42775" y="3552825"/>
            <a:ext cx="471559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F7F5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PUBLIC‑SITE DATASTORE PROVES THE OPPORTUNITY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42775" y="4333875"/>
            <a:ext cx="30821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7F5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UNSUPPORTED INTENTS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442775" y="4591050"/>
            <a:ext cx="308210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17" kern="0" dirty="0">
                <a:solidFill>
                  <a:srgbClr val="F7F5F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4.6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117" kern="0" dirty="0">
                <a:solidFill>
                  <a:srgbClr val="F7F5F0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5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2442775" y="5124450"/>
            <a:ext cx="30821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7F5F0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442775" y="5705475"/>
            <a:ext cx="2455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7F5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BANKING QUESTIONS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442775" y="5962650"/>
            <a:ext cx="245506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17" kern="0" dirty="0">
                <a:solidFill>
                  <a:srgbClr val="F7F5F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4.3</a:t>
            </a:r>
            <a:pPr algn="l" indent="0" marL="0">
              <a:lnSpc>
                <a:spcPct val="100000"/>
              </a:lnSpc>
              <a:buNone/>
            </a:pPr>
            <a:r>
              <a:rPr lang="en-US" sz="1650" spc="-117" kern="0" dirty="0">
                <a:solidFill>
                  <a:srgbClr val="F7F5F0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5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442775" y="6496050"/>
            <a:ext cx="24550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7F5F0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accuracy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442775" y="7115175"/>
            <a:ext cx="4715598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7F5F0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Across previously‑unsupported topics, public‑site‑grounded answers scored ≥4.3 on accuracy and ≥4.8 on safety — turning dead‑ends into useful, on‑brand responses.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42775" y="8963025"/>
            <a:ext cx="47155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F7F5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Breadth, speed‑to‑launch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42775" y="9277350"/>
            <a:ext cx="47155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72" kern="0" dirty="0">
                <a:solidFill>
                  <a:srgbClr val="F7F5F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BRIDGE Completeness, grounding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23888"/>
            <a:ext cx="95250" cy="95250"/>
          </a:xfrm>
          <a:prstGeom prst="ellipse">
            <a:avLst/>
          </a:prstGeom>
          <a:solidFill>
            <a:srgbClr val="B85432"/>
          </a:solidFill>
          <a:ln/>
        </p:spPr>
      </p:sp>
      <p:sp>
        <p:nvSpPr>
          <p:cNvPr id="3" name="Text 1"/>
          <p:cNvSpPr/>
          <p:nvPr/>
        </p:nvSpPr>
        <p:spPr>
          <a:xfrm>
            <a:off x="1162050" y="533400"/>
            <a:ext cx="3962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ANSWERHUB · EXECUTIVE BRIEF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376154" y="533400"/>
            <a:ext cx="10736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FB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02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1038225"/>
            <a:ext cx="1471612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1116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Recommendation: expand the www datastore broadly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1866900"/>
            <a:ext cx="16952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spc="-30" kern="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Apples‑to‑apples evaluation confirms the residual gap is in completeness and grounding only — both addressable with operational guardrails. Safety is at parity.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57498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VS PUBLIC‑SITE · SAME INTENTS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83426" y="3238500"/>
            <a:ext cx="16255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out of 5.0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648075"/>
            <a:ext cx="8518327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925" y="4000500"/>
            <a:ext cx="10987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594223" y="4000500"/>
            <a:ext cx="13366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Public‑site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4925" y="4562475"/>
            <a:ext cx="1790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9925" y="44577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9925" y="4457700"/>
            <a:ext cx="4260652" cy="20955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9925" y="47244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9925" y="4724400"/>
            <a:ext cx="4066877" cy="209550"/>
          </a:xfrm>
          <a:prstGeom prst="rect">
            <a:avLst/>
          </a:prstGeom>
          <a:solidFill>
            <a:srgbClr val="B85432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902" y="4572000"/>
            <a:ext cx="876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04925" y="5210175"/>
            <a:ext cx="1790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Completeness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9925" y="51054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9925" y="5105400"/>
            <a:ext cx="3776365" cy="20955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9925" y="53721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9925" y="5372100"/>
            <a:ext cx="3195489" cy="209550"/>
          </a:xfrm>
          <a:prstGeom prst="rect">
            <a:avLst/>
          </a:prstGeom>
          <a:solidFill>
            <a:srgbClr val="B85432"/>
          </a:solidFill>
          <a:ln/>
        </p:spPr>
      </p:sp>
      <p:sp>
        <p:nvSpPr>
          <p:cNvPr id="23" name="Text 21"/>
          <p:cNvSpPr/>
          <p:nvPr/>
        </p:nvSpPr>
        <p:spPr>
          <a:xfrm>
            <a:off x="8165902" y="5205413"/>
            <a:ext cx="876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−0.6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04925" y="5857875"/>
            <a:ext cx="1790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Safety / no‑harm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9925" y="57531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9925" y="5753100"/>
            <a:ext cx="4841677" cy="20955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9925" y="60198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9925" y="6019800"/>
            <a:ext cx="4841677" cy="209550"/>
          </a:xfrm>
          <a:prstGeom prst="rect">
            <a:avLst/>
          </a:prstGeom>
          <a:solidFill>
            <a:srgbClr val="B85432"/>
          </a:solidFill>
          <a:ln/>
        </p:spPr>
      </p:sp>
      <p:sp>
        <p:nvSpPr>
          <p:cNvPr id="29" name="Text 27"/>
          <p:cNvSpPr/>
          <p:nvPr/>
        </p:nvSpPr>
        <p:spPr>
          <a:xfrm>
            <a:off x="8165902" y="5867400"/>
            <a:ext cx="876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04925" y="6505575"/>
            <a:ext cx="1790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Grounding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09925" y="64008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9925" y="6400800"/>
            <a:ext cx="4066877" cy="209550"/>
          </a:xfrm>
          <a:prstGeom prst="rect">
            <a:avLst/>
          </a:prstGeom>
          <a:solidFill>
            <a:srgbClr val="11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9925" y="6667500"/>
            <a:ext cx="4841677" cy="209550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9925" y="6667500"/>
            <a:ext cx="3292227" cy="209550"/>
          </a:xfrm>
          <a:prstGeom prst="rect">
            <a:avLst/>
          </a:prstGeom>
          <a:solidFill>
            <a:srgbClr val="B85432"/>
          </a:solidFill>
          <a:ln/>
        </p:spPr>
      </p:sp>
      <p:sp>
        <p:nvSpPr>
          <p:cNvPr id="35" name="Text 33"/>
          <p:cNvSpPr/>
          <p:nvPr/>
        </p:nvSpPr>
        <p:spPr>
          <a:xfrm>
            <a:off x="8165902" y="6500813"/>
            <a:ext cx="876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B85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966127" y="3200400"/>
            <a:ext cx="23394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GAP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358318" y="3238500"/>
            <a:ext cx="20914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guardrails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9966127" y="3648075"/>
            <a:ext cx="7407473" cy="9525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39" name="Text 37"/>
          <p:cNvSpPr/>
          <p:nvPr/>
        </p:nvSpPr>
        <p:spPr>
          <a:xfrm>
            <a:off x="9966127" y="3800475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709077" y="3762375"/>
            <a:ext cx="6864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116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 thresholding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709077" y="4105275"/>
            <a:ext cx="68644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Below threshold, the assistant degrades gracefully to a hand‑off rather than a low‑completeness answer — protects perceived quality and lifts effective grounding.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966127" y="5143500"/>
            <a:ext cx="7407473" cy="9525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43" name="Text 41"/>
          <p:cNvSpPr/>
          <p:nvPr/>
        </p:nvSpPr>
        <p:spPr>
          <a:xfrm>
            <a:off x="9966127" y="5295900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709077" y="5257800"/>
            <a:ext cx="6864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116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Periodic re‑crawl &amp; freshness checks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709077" y="5600700"/>
            <a:ext cx="68644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Scheduled crawls aligned to LOB publishing cadence keep responses current and citations valid — without re‑running the curated build cycle.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966127" y="7467600"/>
            <a:ext cx="7407473" cy="9525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47" name="Shape 45"/>
          <p:cNvSpPr/>
          <p:nvPr/>
        </p:nvSpPr>
        <p:spPr>
          <a:xfrm>
            <a:off x="9966127" y="6372225"/>
            <a:ext cx="7407473" cy="9525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48" name="Text 46"/>
          <p:cNvSpPr/>
          <p:nvPr/>
        </p:nvSpPr>
        <p:spPr>
          <a:xfrm>
            <a:off x="9966127" y="6524625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0709077" y="6486525"/>
            <a:ext cx="68644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116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Human‑in‑loop review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709077" y="6829425"/>
            <a:ext cx="68644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A3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Sampled review of low‑confidence responses feeds prompt and retrieval tuning, closing the residual completeness gap intent by intent.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2026-05-06T06:31:09Z</dcterms:created>
  <dcterms:modified xsi:type="dcterms:W3CDTF">2026-05-06T06:31:09Z</dcterms:modified>
</cp:coreProperties>
</file>