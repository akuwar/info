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3a vs 3b: Two Hybrid Architectures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hybrid model splits work between the internal LLM system and Google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394960" cy="5074920"/>
          </a:xfrm>
          <a:prstGeom prst="roundRect">
            <a:avLst>
              <a:gd name="adj" fmla="val 1441"/>
            </a:avLst>
          </a:prstGeom>
          <a:solidFill>
            <a:srgbClr val="F4F6FB"/>
          </a:solidFill>
          <a:ln w="12700">
            <a:solidFill>
              <a:srgbClr val="DCE2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09360" y="1325880"/>
            <a:ext cx="5394960" cy="5074920"/>
          </a:xfrm>
          <a:prstGeom prst="roundRect">
            <a:avLst>
              <a:gd name="adj" fmla="val 1441"/>
            </a:avLst>
          </a:prstGeom>
          <a:solidFill>
            <a:srgbClr val="F4F6FB"/>
          </a:solidFill>
          <a:ln w="12700">
            <a:solidFill>
              <a:srgbClr val="DCE2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3a — Flow-Based Hybrid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562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flow — each flow runs fully on one platform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48840" y="224028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2148840" y="2240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Channel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2697480"/>
            <a:ext cx="274320" cy="256032"/>
          </a:xfrm>
          <a:prstGeom prst="downArrow">
            <a:avLst/>
          </a:prstGeom>
          <a:solidFill>
            <a:srgbClr val="5B6B8C"/>
          </a:solidFill>
          <a:ln/>
        </p:spPr>
      </p:sp>
      <p:sp>
        <p:nvSpPr>
          <p:cNvPr id="11" name="Shape 9"/>
          <p:cNvSpPr/>
          <p:nvPr/>
        </p:nvSpPr>
        <p:spPr>
          <a:xfrm>
            <a:off x="1965960" y="3017520"/>
            <a:ext cx="2377440" cy="411480"/>
          </a:xfrm>
          <a:prstGeom prst="roundRect">
            <a:avLst>
              <a:gd name="adj" fmla="val 13333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65960" y="3017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Router (per-flow policy)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 flipH="1">
            <a:off x="1851660" y="3429000"/>
            <a:ext cx="1303020" cy="32004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154680" y="3429000"/>
            <a:ext cx="1303020" cy="320040"/>
          </a:xfrm>
          <a:prstGeom prst="line">
            <a:avLst/>
          </a:prstGeom>
          <a:noFill/>
          <a:ln w="1905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5800" y="374904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84048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Dialogflow CX — full stack
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NLU + dialogue mgmt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Voice &amp; avatar (native)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Deterministic execution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91840" y="374904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3840480"/>
            <a:ext cx="2057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LLM — full stack
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NLU + dialogue mgmt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Voice &amp; avatar (self-built)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LLM-driven execution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5257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flows: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transfers, cards, limits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91840" y="52578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/ ambiguous flows: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insights, multi-intent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8368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3b — Capability-Based Hybrid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18562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layer — one brain; Google sourced only for voice/avatar infra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01000" y="2240280"/>
            <a:ext cx="2011680" cy="41148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8001000" y="22402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/ Channel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69680" y="2697480"/>
            <a:ext cx="274320" cy="256032"/>
          </a:xfrm>
          <a:prstGeom prst="downArrow">
            <a:avLst/>
          </a:prstGeom>
          <a:solidFill>
            <a:srgbClr val="5B6B8C"/>
          </a:solidFill>
          <a:ln/>
        </p:spPr>
      </p:sp>
      <p:sp>
        <p:nvSpPr>
          <p:cNvPr id="26" name="Shape 24"/>
          <p:cNvSpPr/>
          <p:nvPr/>
        </p:nvSpPr>
        <p:spPr>
          <a:xfrm>
            <a:off x="6629400" y="3017520"/>
            <a:ext cx="4754880" cy="1234440"/>
          </a:xfrm>
          <a:prstGeom prst="roundRect">
            <a:avLst>
              <a:gd name="adj" fmla="val 5185"/>
            </a:avLst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3127248"/>
            <a:ext cx="429768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LLM System
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ALL conversation logic &amp; execution — across every flow (informational + transactional)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869680" y="4325112"/>
            <a:ext cx="274320" cy="274320"/>
          </a:xfrm>
          <a:prstGeom prst="downArrow">
            <a:avLst/>
          </a:prstGeom>
          <a:solidFill>
            <a:srgbClr val="5B6B8C"/>
          </a:solidFill>
          <a:ln/>
        </p:spPr>
      </p:sp>
      <p:sp>
        <p:nvSpPr>
          <p:cNvPr id="29" name="Shape 27"/>
          <p:cNvSpPr/>
          <p:nvPr/>
        </p:nvSpPr>
        <p:spPr>
          <a:xfrm>
            <a:off x="6629400" y="4709160"/>
            <a:ext cx="4754880" cy="1005840"/>
          </a:xfrm>
          <a:prstGeom prst="roundRect">
            <a:avLst>
              <a:gd name="adj" fmla="val 6364"/>
            </a:avLst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4818888"/>
            <a:ext cx="42976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Speech &amp; Avatar APIs
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/ TTS (multilingual)  •  avatar rendering  •  interruption / barge-in handling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29400" y="57881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as discrete component services — not the full CX platform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3a vs 3b: Pros, Cons &amp; Caveats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5394960" cy="4251960"/>
          </a:xfrm>
          <a:prstGeom prst="roundRect">
            <a:avLst>
              <a:gd name="adj" fmla="val 1720"/>
            </a:avLst>
          </a:prstGeom>
          <a:solidFill>
            <a:srgbClr val="F4F6FB"/>
          </a:solidFill>
          <a:ln w="12700">
            <a:solidFill>
              <a:srgbClr val="DCE2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309360" y="960120"/>
            <a:ext cx="5394960" cy="4251960"/>
          </a:xfrm>
          <a:prstGeom prst="roundRect">
            <a:avLst>
              <a:gd name="adj" fmla="val 1720"/>
            </a:avLst>
          </a:prstGeom>
          <a:solidFill>
            <a:srgbClr val="F4F6FB"/>
          </a:solidFill>
          <a:ln w="12700">
            <a:solidFill>
              <a:srgbClr val="DCE2F0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4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247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3a — Flow-Based Hybrid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4846320" cy="1691640"/>
          </a:xfrm>
          <a:prstGeom prst="roundRect">
            <a:avLst>
              <a:gd name="adj" fmla="val 2703"/>
            </a:avLst>
          </a:prstGeom>
          <a:solidFill>
            <a:srgbClr val="E7F3E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938528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stay on proven, deterministic rails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Lower-risk, incremental migration path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Flow-by-flow rollback if internal system underperforms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builds trust before touching high-risk flows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31520" y="3429000"/>
            <a:ext cx="4846320" cy="1691640"/>
          </a:xfrm>
          <a:prstGeom prst="roundRect">
            <a:avLst>
              <a:gd name="adj" fmla="val 2703"/>
            </a:avLst>
          </a:prstGeom>
          <a:solidFill>
            <a:srgbClr val="FBEDE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813048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full stacks to build and operate long-term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Context/handoff complexity across platform boundaries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UX across flow boundaries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lock-in only partially addressed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83680" y="11247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3b — Capability-Based Hybrid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0" y="1554480"/>
            <a:ext cx="4846320" cy="1691640"/>
          </a:xfrm>
          <a:prstGeom prst="roundRect">
            <a:avLst>
              <a:gd name="adj" fmla="val 2703"/>
            </a:avLst>
          </a:prstGeom>
          <a:solidFill>
            <a:srgbClr val="E7F3EE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0" y="1645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0" y="1938528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consistent conversational brain and UX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De-risks the differentiator, not the commodity layer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lower licensing cost (narrower Google API use)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reversibility of the voice/avatar vendor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583680" y="3429000"/>
            <a:ext cx="4846320" cy="1691640"/>
          </a:xfrm>
          <a:prstGeom prst="roundRect">
            <a:avLst>
              <a:gd name="adj" fmla="val 2703"/>
            </a:avLst>
          </a:prstGeom>
          <a:solidFill>
            <a:srgbClr val="FBEDED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A63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0" y="3813048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validation: are Google's APIs usable standalone?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latency &amp; barge-in engineering complexity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risk fully in-house — no deterministic rails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two vendors to coordinate technically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5349240"/>
            <a:ext cx="11247120" cy="777240"/>
          </a:xfrm>
          <a:prstGeom prst="roundRect">
            <a:avLst>
              <a:gd name="adj" fmla="val 7059"/>
            </a:avLst>
          </a:prstGeom>
          <a:solidFill>
            <a:srgbClr val="FFF3E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4223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CAVEATS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85800" y="57150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classification policy for which flows/capabilities go where  •  </a:t>
            </a:r>
            <a:pPr indent="0" marL="0">
              <a:buNone/>
            </a:pPr>
            <a:r>
              <a:rPr lang="en-US" sz="10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Google's speech/avatar APIs decouple from CX before committing  •  </a:t>
            </a:r>
            <a:pPr indent="0" marL="0">
              <a:buNone/>
            </a:pPr>
            <a:r>
              <a:rPr lang="en-US" sz="1000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adds an operational tax regardless of variant — it's a hedge, not free insurance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2026-07-29T21:43:22Z</dcterms:created>
  <dcterms:modified xsi:type="dcterms:W3CDTF">2026-07-29T21:43:22Z</dcterms:modified>
</cp:coreProperties>
</file>