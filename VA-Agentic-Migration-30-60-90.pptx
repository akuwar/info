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36543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 · AGENTIC MIGRATION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862263"/>
            <a:ext cx="30661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· 60 · 90 DAY 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424238"/>
            <a:ext cx="16678275" cy="2152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700" b="1" spc="-261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deterministic dialog flow to a supervised agentic system.</a:t>
            </a:r>
            <a:endParaRPr lang="en-US" sz="8700" dirty="0"/>
          </a:p>
        </p:txBody>
      </p:sp>
      <p:sp>
        <p:nvSpPr>
          <p:cNvPr id="7" name="Text 5"/>
          <p:cNvSpPr/>
          <p:nvPr/>
        </p:nvSpPr>
        <p:spPr>
          <a:xfrm>
            <a:off x="1047750" y="5843588"/>
            <a:ext cx="10791825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3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focused 90-day migration: stand up the supervisor, ship a 3-domain MVP, then take all 7 domains into a pilot behind the apperian flag.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8772525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010650"/>
            <a:ext cx="30661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WINDOW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9344025"/>
            <a:ext cx="30661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22 — Aug 19,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25307" y="9010650"/>
            <a:ext cx="48183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25307" y="9344025"/>
            <a:ext cx="48182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· Architecture 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03969" y="9010650"/>
            <a:ext cx="46723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703969" y="9344025"/>
            <a:ext cx="46722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apperian flag · Pilot ~100 users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13610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14500"/>
            <a:ext cx="166782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shift in a single picture.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609850"/>
            <a:ext cx="166782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300" spc="-33" kern="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Hard-coded routing &amp; static intents give way to a supervisor agent, probabilistic intent, and per-domain sub-agents calling Tools.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47750" y="4876800"/>
            <a:ext cx="79467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· DETERMINISTIC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5400675"/>
            <a:ext cx="79467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Dialog-flow VA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34390" y="6162675"/>
            <a:ext cx="8004810" cy="2676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Rule-based intent matching &amp; rigid follow-ups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Monolithic dialog flows per experience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FAPI endpoints called directly from flows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Hard-coded UI &amp; copy per turn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deploy path; no parallel routing</a:t>
            </a:r>
            <a:endParaRPr lang="en-US" sz="2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0" y="6800850"/>
            <a:ext cx="533400" cy="533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25000" y="4876800"/>
            <a:ext cx="79467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· AGENTIC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525000" y="5400675"/>
            <a:ext cx="79467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Supervisor + 7 domain sub-agents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9311640" y="6162675"/>
            <a:ext cx="8004810" cy="3457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Probabilistic intent (ML + LLM) with follow-ups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sub-agents: Transactions, Cards, Insights, Rates / Fees / Limits, Answer Hub, Advice, Money Movement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FAPI endpoints wrapped as Tools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builders per experience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chat-api &amp; orchestrator route via apperian flag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19645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WORKSTREAMS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14500"/>
            <a:ext cx="166782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parallel tracks land the migration.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609850"/>
            <a:ext cx="166782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300" spc="-33" kern="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Sub-agents &amp; prompts are days of work; Tools and Widget builders are the heavy lift — Devin playbooks accelerate both.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4343400"/>
            <a:ext cx="16192500" cy="5791200"/>
          </a:xfrm>
          <a:prstGeom prst="rect">
            <a:avLst/>
          </a:prstGeom>
          <a:solidFill>
            <a:srgbClr val="D6D3D1"/>
          </a:solidFill>
          <a:ln w="9525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7275" y="4352925"/>
            <a:ext cx="4036219" cy="287655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9" name="Text 7"/>
          <p:cNvSpPr/>
          <p:nvPr/>
        </p:nvSpPr>
        <p:spPr>
          <a:xfrm>
            <a:off x="1323975" y="4581525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3975" y="5129213"/>
            <a:ext cx="36079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Supervisor agent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23975" y="5538788"/>
            <a:ext cx="360790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instance. Intent routing to sub-agents; conversation &amp; tool-call orchestration.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23975" y="68008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03019" y="4352925"/>
            <a:ext cx="4036219" cy="287655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5369719" y="4581525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69719" y="4972050"/>
            <a:ext cx="360790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 &amp; follow-up classifier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369719" y="5695950"/>
            <a:ext cx="360790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Probabilistic. ML + LLM combined for intent resolution and follow-up disambiguation.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369719" y="68008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8763" y="4352925"/>
            <a:ext cx="4036219" cy="287655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9" name="Text 17"/>
          <p:cNvSpPr/>
          <p:nvPr/>
        </p:nvSpPr>
        <p:spPr>
          <a:xfrm>
            <a:off x="9415463" y="4581525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5463" y="4972050"/>
            <a:ext cx="360790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sub-agents &amp; prompts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415463" y="5695950"/>
            <a:ext cx="360790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domains. Per-agent prompts &amp; tool bindings. ~5 days of focused build.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415463" y="68008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 DAYS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194506" y="4352925"/>
            <a:ext cx="4036219" cy="287655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4" name="Text 22"/>
          <p:cNvSpPr/>
          <p:nvPr/>
        </p:nvSpPr>
        <p:spPr>
          <a:xfrm>
            <a:off x="13461206" y="4581525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461206" y="5129213"/>
            <a:ext cx="36079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(FAPI → Tools)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461206" y="5538788"/>
            <a:ext cx="360790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 existing FAPI endpoints into typed Tools consumable by sub-agents.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461206" y="68008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 · DEVIN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57275" y="7239000"/>
            <a:ext cx="4036219" cy="2886075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9" name="Text 27"/>
          <p:cNvSpPr/>
          <p:nvPr/>
        </p:nvSpPr>
        <p:spPr>
          <a:xfrm>
            <a:off x="1323975" y="7467600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3975" y="8020050"/>
            <a:ext cx="36079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builders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23975" y="8429625"/>
            <a:ext cx="360790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per experience. Renders the structured response from each sub-agent.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23975" y="96964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 · DEVIN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103019" y="7239000"/>
            <a:ext cx="4036219" cy="2886075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4" name="Text 32"/>
          <p:cNvSpPr/>
          <p:nvPr/>
        </p:nvSpPr>
        <p:spPr>
          <a:xfrm>
            <a:off x="5369719" y="7467600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69719" y="8020050"/>
            <a:ext cx="36079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chat-api &amp; orchestrator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5369719" y="8429625"/>
            <a:ext cx="360790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Apperian-flag-aware routing to the parallel agentic stack; response shape parity.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5369719" y="96964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148763" y="7239000"/>
            <a:ext cx="4036219" cy="2886075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9" name="Text 37"/>
          <p:cNvSpPr/>
          <p:nvPr/>
        </p:nvSpPr>
        <p:spPr>
          <a:xfrm>
            <a:off x="9415463" y="7467600"/>
            <a:ext cx="36079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415463" y="7858125"/>
            <a:ext cx="36079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harness &amp; rollout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9415463" y="8267700"/>
            <a:ext cx="3607903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Fargo agent builder + test harness automate most coverage. Pilot via apperian flag.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415463" y="96964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194506" y="7239000"/>
            <a:ext cx="4036219" cy="2886075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44" name="Text 42"/>
          <p:cNvSpPr/>
          <p:nvPr/>
        </p:nvSpPr>
        <p:spPr>
          <a:xfrm>
            <a:off x="13461206" y="7858125"/>
            <a:ext cx="36079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Accelerators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3461206" y="8267700"/>
            <a:ext cx="3607903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Devin playbooks for Tool / Widget scaffolds. Fargo for harnessing. ACE, Tachyon, ECM partner support.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3461206" y="9696450"/>
            <a:ext cx="3607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CROSS-CUTTING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27218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30 · 60 · 90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14500"/>
            <a:ext cx="166782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90-day path, by workstream.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990850"/>
            <a:ext cx="54219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DAYS 1–30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343275"/>
            <a:ext cx="542197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50" b="1" spc="-29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Enablement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047750" y="3810000"/>
            <a:ext cx="54219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22 → Jun 20, 2026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45151" y="2990850"/>
            <a:ext cx="54221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DAYS 31–60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5151" y="3343275"/>
            <a:ext cx="54221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50" b="1" spc="-29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· 3 domains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445151" y="3810000"/>
            <a:ext cx="54221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21 → Jul 20, 2026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842700" y="2990850"/>
            <a:ext cx="54219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DAYS 61–90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42700" y="3343275"/>
            <a:ext cx="542197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50" b="1" spc="-29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coverage &amp; pilot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1842700" y="3810000"/>
            <a:ext cx="54219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21 → Aug 19, 2026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47750" y="4448175"/>
            <a:ext cx="16192500" cy="1905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7750" y="4429125"/>
            <a:ext cx="16192500" cy="57150"/>
          </a:xfrm>
          <a:prstGeom prst="roundRect">
            <a:avLst>
              <a:gd name="adj" fmla="val 50000"/>
            </a:avLst>
          </a:prstGeom>
          <a:solidFill>
            <a:srgbClr val="1C1917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4362450"/>
            <a:ext cx="190500" cy="19050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49454" y="4371975"/>
            <a:ext cx="171450" cy="1714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6409" y="4371975"/>
            <a:ext cx="171450" cy="171450"/>
          </a:xfrm>
          <a:prstGeom prst="ellipse">
            <a:avLst/>
          </a:prstGeom>
          <a:solidFill>
            <a:srgbClr val="FAFAF9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145000" y="4362450"/>
            <a:ext cx="190500" cy="19050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4695825"/>
            <a:ext cx="41695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 · May 22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035153" y="4695825"/>
            <a:ext cx="41695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D30 · Jun 20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083278" y="4695825"/>
            <a:ext cx="41695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D60 · Jul 20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070681" y="4695825"/>
            <a:ext cx="41695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D90 · Aug 19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47750" y="5295900"/>
            <a:ext cx="33356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Supervisor agent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14850" y="553402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7" name="Shape 25"/>
          <p:cNvSpPr/>
          <p:nvPr/>
        </p:nvSpPr>
        <p:spPr>
          <a:xfrm>
            <a:off x="4514850" y="52959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8" name="Shape 26"/>
          <p:cNvSpPr/>
          <p:nvPr/>
        </p:nvSpPr>
        <p:spPr>
          <a:xfrm>
            <a:off x="4769346" y="5353050"/>
            <a:ext cx="3817590" cy="152400"/>
          </a:xfrm>
          <a:prstGeom prst="roundRect">
            <a:avLst>
              <a:gd name="adj" fmla="val 12500"/>
            </a:avLst>
          </a:prstGeom>
          <a:solidFill>
            <a:srgbClr val="1C1917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596" y="5334000"/>
            <a:ext cx="624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586936" y="5353050"/>
            <a:ext cx="8398669" cy="152400"/>
          </a:xfrm>
          <a:prstGeom prst="roundRect">
            <a:avLst>
              <a:gd name="adj" fmla="val 12500"/>
            </a:avLst>
          </a:prstGeom>
          <a:solidFill>
            <a:srgbClr val="78716C">
              <a:alpha val="5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5791200"/>
            <a:ext cx="33356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 &amp; follow-up (ML + LLM)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514850" y="602932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3" name="Shape 31"/>
          <p:cNvSpPr/>
          <p:nvPr/>
        </p:nvSpPr>
        <p:spPr>
          <a:xfrm>
            <a:off x="4514850" y="57912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3842" y="5848350"/>
            <a:ext cx="3563094" cy="152400"/>
          </a:xfrm>
          <a:prstGeom prst="roundRect">
            <a:avLst>
              <a:gd name="adj" fmla="val 12500"/>
            </a:avLst>
          </a:prstGeom>
          <a:solidFill>
            <a:srgbClr val="1C1917"/>
          </a:solidFill>
          <a:ln/>
        </p:spPr>
      </p:sp>
      <p:sp>
        <p:nvSpPr>
          <p:cNvPr id="35" name="Text 33"/>
          <p:cNvSpPr/>
          <p:nvPr/>
        </p:nvSpPr>
        <p:spPr>
          <a:xfrm>
            <a:off x="5119092" y="5829300"/>
            <a:ext cx="9542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v0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714184" y="5848350"/>
            <a:ext cx="3563094" cy="152400"/>
          </a:xfrm>
          <a:prstGeom prst="roundRect">
            <a:avLst>
              <a:gd name="adj" fmla="val 12500"/>
            </a:avLst>
          </a:prstGeom>
          <a:solidFill>
            <a:srgbClr val="6B5849"/>
          </a:solidFill>
          <a:ln/>
        </p:spPr>
      </p:sp>
      <p:sp>
        <p:nvSpPr>
          <p:cNvPr id="37" name="Text 35"/>
          <p:cNvSpPr/>
          <p:nvPr/>
        </p:nvSpPr>
        <p:spPr>
          <a:xfrm>
            <a:off x="8809434" y="5829300"/>
            <a:ext cx="5152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2404527" y="5848350"/>
            <a:ext cx="4072086" cy="152400"/>
          </a:xfrm>
          <a:prstGeom prst="roundRect">
            <a:avLst>
              <a:gd name="adj" fmla="val 12500"/>
            </a:avLst>
          </a:prstGeom>
          <a:solidFill>
            <a:srgbClr val="44403C"/>
          </a:solidFill>
          <a:ln/>
        </p:spPr>
      </p:sp>
      <p:sp>
        <p:nvSpPr>
          <p:cNvPr id="39" name="Text 37"/>
          <p:cNvSpPr/>
          <p:nvPr/>
        </p:nvSpPr>
        <p:spPr>
          <a:xfrm>
            <a:off x="12499777" y="5829300"/>
            <a:ext cx="7347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47750" y="6286500"/>
            <a:ext cx="33356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Sub-agents &amp; prompts (7)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14850" y="652462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2" name="Shape 40"/>
          <p:cNvSpPr/>
          <p:nvPr/>
        </p:nvSpPr>
        <p:spPr>
          <a:xfrm>
            <a:off x="4514850" y="62865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3" name="Shape 41"/>
          <p:cNvSpPr/>
          <p:nvPr/>
        </p:nvSpPr>
        <p:spPr>
          <a:xfrm>
            <a:off x="9350425" y="6343650"/>
            <a:ext cx="1526977" cy="152400"/>
          </a:xfrm>
          <a:prstGeom prst="roundRect">
            <a:avLst>
              <a:gd name="adj" fmla="val 12500"/>
            </a:avLst>
          </a:prstGeom>
          <a:solidFill>
            <a:srgbClr val="6B5849"/>
          </a:solidFill>
          <a:ln/>
        </p:spPr>
      </p:sp>
      <p:sp>
        <p:nvSpPr>
          <p:cNvPr id="44" name="Text 42"/>
          <p:cNvSpPr/>
          <p:nvPr/>
        </p:nvSpPr>
        <p:spPr>
          <a:xfrm>
            <a:off x="9445675" y="6324600"/>
            <a:ext cx="8444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· 3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3168015" y="6343650"/>
            <a:ext cx="1781473" cy="152400"/>
          </a:xfrm>
          <a:prstGeom prst="roundRect">
            <a:avLst>
              <a:gd name="adj" fmla="val 12500"/>
            </a:avLst>
          </a:prstGeom>
          <a:solidFill>
            <a:srgbClr val="44403C"/>
          </a:solidFill>
          <a:ln/>
        </p:spPr>
      </p:sp>
      <p:sp>
        <p:nvSpPr>
          <p:cNvPr id="46" name="Text 44"/>
          <p:cNvSpPr/>
          <p:nvPr/>
        </p:nvSpPr>
        <p:spPr>
          <a:xfrm>
            <a:off x="13263265" y="6324600"/>
            <a:ext cx="4055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047750" y="6777038"/>
            <a:ext cx="33356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· FAPI → Tools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(Devin)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514850" y="701992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9" name="Shape 47"/>
          <p:cNvSpPr/>
          <p:nvPr/>
        </p:nvSpPr>
        <p:spPr>
          <a:xfrm>
            <a:off x="4514850" y="67818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0" name="Shape 48"/>
          <p:cNvSpPr/>
          <p:nvPr/>
        </p:nvSpPr>
        <p:spPr>
          <a:xfrm>
            <a:off x="5532834" y="6838950"/>
            <a:ext cx="3053953" cy="152400"/>
          </a:xfrm>
          <a:prstGeom prst="roundRect">
            <a:avLst>
              <a:gd name="adj" fmla="val 12500"/>
            </a:avLst>
          </a:prstGeom>
          <a:solidFill>
            <a:srgbClr val="1C1917"/>
          </a:solidFill>
          <a:ln/>
        </p:spPr>
      </p:sp>
      <p:sp>
        <p:nvSpPr>
          <p:cNvPr id="51" name="Text 49"/>
          <p:cNvSpPr/>
          <p:nvPr/>
        </p:nvSpPr>
        <p:spPr>
          <a:xfrm>
            <a:off x="5628084" y="6819900"/>
            <a:ext cx="10639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8714184" y="6838950"/>
            <a:ext cx="3563094" cy="152400"/>
          </a:xfrm>
          <a:prstGeom prst="roundRect">
            <a:avLst>
              <a:gd name="adj" fmla="val 12500"/>
            </a:avLst>
          </a:prstGeom>
          <a:solidFill>
            <a:srgbClr val="6B5849"/>
          </a:solidFill>
          <a:ln/>
        </p:spPr>
      </p:sp>
      <p:sp>
        <p:nvSpPr>
          <p:cNvPr id="53" name="Text 51"/>
          <p:cNvSpPr/>
          <p:nvPr/>
        </p:nvSpPr>
        <p:spPr>
          <a:xfrm>
            <a:off x="8809434" y="6819900"/>
            <a:ext cx="10639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TOOLS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2404527" y="6838950"/>
            <a:ext cx="4072086" cy="152400"/>
          </a:xfrm>
          <a:prstGeom prst="roundRect">
            <a:avLst>
              <a:gd name="adj" fmla="val 12500"/>
            </a:avLst>
          </a:prstGeom>
          <a:solidFill>
            <a:srgbClr val="44403C"/>
          </a:solidFill>
          <a:ln/>
        </p:spPr>
      </p:sp>
      <p:sp>
        <p:nvSpPr>
          <p:cNvPr id="55" name="Text 53"/>
          <p:cNvSpPr/>
          <p:nvPr/>
        </p:nvSpPr>
        <p:spPr>
          <a:xfrm>
            <a:off x="12499777" y="6819900"/>
            <a:ext cx="17223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TOOLS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47750" y="7272338"/>
            <a:ext cx="33356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builders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(Devin)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4514850" y="751522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8" name="Shape 56"/>
          <p:cNvSpPr/>
          <p:nvPr/>
        </p:nvSpPr>
        <p:spPr>
          <a:xfrm>
            <a:off x="4514850" y="72771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9" name="Shape 57"/>
          <p:cNvSpPr/>
          <p:nvPr/>
        </p:nvSpPr>
        <p:spPr>
          <a:xfrm>
            <a:off x="5787330" y="7334250"/>
            <a:ext cx="2799457" cy="152400"/>
          </a:xfrm>
          <a:prstGeom prst="roundRect">
            <a:avLst>
              <a:gd name="adj" fmla="val 12500"/>
            </a:avLst>
          </a:prstGeom>
          <a:solidFill>
            <a:srgbClr val="1C1917"/>
          </a:solidFill>
          <a:ln/>
        </p:spPr>
      </p:sp>
      <p:sp>
        <p:nvSpPr>
          <p:cNvPr id="60" name="Text 58"/>
          <p:cNvSpPr/>
          <p:nvPr/>
        </p:nvSpPr>
        <p:spPr>
          <a:xfrm>
            <a:off x="5882580" y="7315200"/>
            <a:ext cx="10639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8714184" y="7334250"/>
            <a:ext cx="3563094" cy="152400"/>
          </a:xfrm>
          <a:prstGeom prst="roundRect">
            <a:avLst>
              <a:gd name="adj" fmla="val 12500"/>
            </a:avLst>
          </a:prstGeom>
          <a:solidFill>
            <a:srgbClr val="6B5849"/>
          </a:solidFill>
          <a:ln/>
        </p:spPr>
      </p:sp>
      <p:sp>
        <p:nvSpPr>
          <p:cNvPr id="62" name="Text 60"/>
          <p:cNvSpPr/>
          <p:nvPr/>
        </p:nvSpPr>
        <p:spPr>
          <a:xfrm>
            <a:off x="8809434" y="7315200"/>
            <a:ext cx="12834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WIDGETS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2404527" y="7334250"/>
            <a:ext cx="4072086" cy="152400"/>
          </a:xfrm>
          <a:prstGeom prst="roundRect">
            <a:avLst>
              <a:gd name="adj" fmla="val 12500"/>
            </a:avLst>
          </a:prstGeom>
          <a:solidFill>
            <a:srgbClr val="44403C"/>
          </a:solidFill>
          <a:ln/>
        </p:spPr>
      </p:sp>
      <p:sp>
        <p:nvSpPr>
          <p:cNvPr id="64" name="Text 62"/>
          <p:cNvSpPr/>
          <p:nvPr/>
        </p:nvSpPr>
        <p:spPr>
          <a:xfrm>
            <a:off x="12499777" y="7315200"/>
            <a:ext cx="10639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047750" y="7715250"/>
            <a:ext cx="333565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chat-api &amp; orchestrator (apperian)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514850" y="80772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7" name="Shape 65"/>
          <p:cNvSpPr/>
          <p:nvPr/>
        </p:nvSpPr>
        <p:spPr>
          <a:xfrm>
            <a:off x="4514850" y="783907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8" name="Shape 66"/>
          <p:cNvSpPr/>
          <p:nvPr/>
        </p:nvSpPr>
        <p:spPr>
          <a:xfrm>
            <a:off x="6041827" y="7896225"/>
            <a:ext cx="2544961" cy="152400"/>
          </a:xfrm>
          <a:prstGeom prst="roundRect">
            <a:avLst>
              <a:gd name="adj" fmla="val 12500"/>
            </a:avLst>
          </a:prstGeom>
          <a:solidFill>
            <a:srgbClr val="1C1917"/>
          </a:solidFill>
          <a:ln/>
        </p:spPr>
      </p:sp>
      <p:sp>
        <p:nvSpPr>
          <p:cNvPr id="69" name="Text 67"/>
          <p:cNvSpPr/>
          <p:nvPr/>
        </p:nvSpPr>
        <p:spPr>
          <a:xfrm>
            <a:off x="6137077" y="7877175"/>
            <a:ext cx="12834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WIRING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8714184" y="7896225"/>
            <a:ext cx="2799457" cy="152400"/>
          </a:xfrm>
          <a:prstGeom prst="roundRect">
            <a:avLst>
              <a:gd name="adj" fmla="val 12500"/>
            </a:avLst>
          </a:prstGeom>
          <a:solidFill>
            <a:srgbClr val="6B5849"/>
          </a:solidFill>
          <a:ln/>
        </p:spPr>
      </p:sp>
      <p:sp>
        <p:nvSpPr>
          <p:cNvPr id="71" name="Text 69"/>
          <p:cNvSpPr/>
          <p:nvPr/>
        </p:nvSpPr>
        <p:spPr>
          <a:xfrm>
            <a:off x="8809434" y="7877175"/>
            <a:ext cx="13931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PARITY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11641038" y="7896225"/>
            <a:ext cx="5344567" cy="152400"/>
          </a:xfrm>
          <a:prstGeom prst="roundRect">
            <a:avLst>
              <a:gd name="adj" fmla="val 12500"/>
            </a:avLst>
          </a:prstGeom>
          <a:solidFill>
            <a:srgbClr val="78716C">
              <a:alpha val="5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47750" y="8267700"/>
            <a:ext cx="33356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harness (Fargo) &amp; rollout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4514850" y="8505825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5" name="Shape 73"/>
          <p:cNvSpPr/>
          <p:nvPr/>
        </p:nvSpPr>
        <p:spPr>
          <a:xfrm>
            <a:off x="4514850" y="8267700"/>
            <a:ext cx="12725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6" name="Shape 74"/>
          <p:cNvSpPr/>
          <p:nvPr/>
        </p:nvSpPr>
        <p:spPr>
          <a:xfrm>
            <a:off x="6805315" y="8324850"/>
            <a:ext cx="1781473" cy="152400"/>
          </a:xfrm>
          <a:prstGeom prst="roundRect">
            <a:avLst>
              <a:gd name="adj" fmla="val 12500"/>
            </a:avLst>
          </a:prstGeom>
          <a:solidFill>
            <a:srgbClr val="1C1917"/>
          </a:solidFill>
          <a:ln/>
        </p:spPr>
      </p:sp>
      <p:sp>
        <p:nvSpPr>
          <p:cNvPr id="77" name="Text 75"/>
          <p:cNvSpPr/>
          <p:nvPr/>
        </p:nvSpPr>
        <p:spPr>
          <a:xfrm>
            <a:off x="6900565" y="8305800"/>
            <a:ext cx="10639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</a:t>
            </a:r>
            <a:endParaRPr lang="en-US" sz="1350" dirty="0"/>
          </a:p>
        </p:txBody>
      </p:sp>
      <p:sp>
        <p:nvSpPr>
          <p:cNvPr id="78" name="Shape 76"/>
          <p:cNvSpPr/>
          <p:nvPr/>
        </p:nvSpPr>
        <p:spPr>
          <a:xfrm>
            <a:off x="8714184" y="8324850"/>
            <a:ext cx="3563094" cy="152400"/>
          </a:xfrm>
          <a:prstGeom prst="roundRect">
            <a:avLst>
              <a:gd name="adj" fmla="val 12500"/>
            </a:avLst>
          </a:prstGeom>
          <a:solidFill>
            <a:srgbClr val="6B5849"/>
          </a:solidFill>
          <a:ln/>
        </p:spPr>
      </p:sp>
      <p:sp>
        <p:nvSpPr>
          <p:cNvPr id="79" name="Text 77"/>
          <p:cNvSpPr/>
          <p:nvPr/>
        </p:nvSpPr>
        <p:spPr>
          <a:xfrm>
            <a:off x="8809434" y="8305800"/>
            <a:ext cx="13931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COVERAGE</a:t>
            </a:r>
            <a:endParaRPr lang="en-US" sz="1350" dirty="0"/>
          </a:p>
        </p:txBody>
      </p:sp>
      <p:sp>
        <p:nvSpPr>
          <p:cNvPr id="80" name="Shape 78"/>
          <p:cNvSpPr/>
          <p:nvPr/>
        </p:nvSpPr>
        <p:spPr>
          <a:xfrm>
            <a:off x="12404527" y="8324850"/>
            <a:ext cx="2799457" cy="152400"/>
          </a:xfrm>
          <a:prstGeom prst="roundRect">
            <a:avLst>
              <a:gd name="adj" fmla="val 12500"/>
            </a:avLst>
          </a:prstGeom>
          <a:solidFill>
            <a:srgbClr val="44403C"/>
          </a:solidFill>
          <a:ln/>
        </p:spPr>
      </p:sp>
      <p:sp>
        <p:nvSpPr>
          <p:cNvPr id="81" name="Text 79"/>
          <p:cNvSpPr/>
          <p:nvPr/>
        </p:nvSpPr>
        <p:spPr>
          <a:xfrm>
            <a:off x="12499777" y="8305800"/>
            <a:ext cx="1503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COVERAGE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15331380" y="8324850"/>
            <a:ext cx="1654225" cy="152400"/>
          </a:xfrm>
          <a:prstGeom prst="roundRect">
            <a:avLst>
              <a:gd name="adj" fmla="val 12500"/>
            </a:avLst>
          </a:prstGeom>
          <a:solidFill>
            <a:srgbClr val="44403C">
              <a:alpha val="92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5426630" y="8305800"/>
            <a:ext cx="624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33434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ENABLEMENT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38300"/>
            <a:ext cx="899707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 up the agentic plumbing.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570047" y="1943100"/>
            <a:ext cx="58403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45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– D30 · May 22 → Jun 20, 2026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2514600"/>
            <a:ext cx="147161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Goal: every foundational piece is in place so MVP build in Phase 2 can move at full speed. No new domain experiences ship yet.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4305300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9700" y="4781550"/>
            <a:ext cx="70164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Supervisor agent v0 — new instance, intent → sub-agent routing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54768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9700" y="5857875"/>
            <a:ext cx="51610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 &amp; follow-up classifier v0 (ML + LLM)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09700" y="62198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PROBABILISTIC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09700" y="6600825"/>
            <a:ext cx="76380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framework + Devin playbook for FAPI → Tool conversion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09700" y="69627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09700" y="7343775"/>
            <a:ext cx="53797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builder framework + Devin playbook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09700" y="77057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09700" y="8086725"/>
            <a:ext cx="72015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chat-api &amp; orchestrator: apperian-flag routing design + dev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09700" y="84486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9700" y="8829675"/>
            <a:ext cx="58346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Fargo agent builder + test harness wired into CI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09700" y="91916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10700" y="4305300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 ENABLEMENT (IN-FLIGHT)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72650" y="4781550"/>
            <a:ext cx="49454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 — repos &amp; CI/CD pipeline stood up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772650" y="51435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WEEKS DEDICATED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72650" y="5524500"/>
            <a:ext cx="57511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Tachyon — keys + Arise spaces for each agent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72650" y="588645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AGENTS · ALL ENVS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72650" y="6267450"/>
            <a:ext cx="52110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ECM — data ingestion pipelines kicked off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772650" y="66294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FEEDS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72650" y="7010400"/>
            <a:ext cx="73169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 Ops — expedited deploy path aligned (hard-gate only)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72650" y="737235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PRE-NEGOTIATED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10700" y="7915275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CRITERIA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72650" y="8391525"/>
            <a:ext cx="67919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 green, agent skeletons deployable to lower envs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772650" y="87534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TO PHASE 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22662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MVP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38300"/>
            <a:ext cx="78688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domains, end to end.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392793" y="1943100"/>
            <a:ext cx="60228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45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D31 – D60 · Jun 21 → Jul 20, 2026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2514600"/>
            <a:ext cx="147161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 the architecture with Advice, Answer Hub, and Transactions — the lowest-risk, highest-traffic mix. Internal-only behind the apperian flag.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4305300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DOMAINS LIVE (LOWER ENVS)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9700" y="4781550"/>
            <a:ext cx="8861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51435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9700" y="5524500"/>
            <a:ext cx="15379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Hub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09700" y="588645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09700" y="6267450"/>
            <a:ext cx="15827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09700" y="66294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7750" y="7172325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09700" y="7648575"/>
            <a:ext cx="54003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End-to-end coverage via Fargo test harness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09700" y="80105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 + EVAL SETS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09700" y="8391525"/>
            <a:ext cx="54654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 classifier tuned on MVP-domain traffic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09700" y="87534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≥ DIALOG PARITY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10700" y="4305300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72650" y="4781550"/>
            <a:ext cx="6771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chat-api / orchestrator route via apperian flag — parity-checked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72650" y="54768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+ LATENCY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72650" y="5857875"/>
            <a:ext cx="713343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framework hardened, MVP Tools production-shaped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772650" y="62198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CONTRACTS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72650" y="6600825"/>
            <a:ext cx="60445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builders meet design parity for MVP turns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772650" y="69627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REVIEW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0700" y="7505700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CRITERIA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72650" y="7981950"/>
            <a:ext cx="481413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3-domain MVP soak-tested in pre-prod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72650" y="83439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TO PHASE 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72650" y="8715375"/>
            <a:ext cx="77024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Hard-gate requirements drafted for expedited prod path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38097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FULL COVERAGE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38300"/>
            <a:ext cx="1026296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Remaining four domains, then pilot.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392793" y="1943100"/>
            <a:ext cx="60228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45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D61 – D90 · Jul 21 → Aug 19, 2026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2514600"/>
            <a:ext cx="1471612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Bring the rest of the surface online and take all seven domains into a pilot — ~100 users behind the apperian flag, parity-tested against the top-50 intents.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4791075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DOMAINS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9700" y="5267325"/>
            <a:ext cx="7874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Cards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56292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9700" y="6010275"/>
            <a:ext cx="10048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09700" y="63722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09700" y="6753225"/>
            <a:ext cx="25213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Rates / Fees / Limits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09700" y="711517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09700" y="7496175"/>
            <a:ext cx="222553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Money Movement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09700" y="7858125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 · TOOLS · WIDGETS · HIGH-RISK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0700" y="4791075"/>
            <a:ext cx="8064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72650" y="5267325"/>
            <a:ext cx="7144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Expedited prod deploys via hard-gate path, no dark-mode release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72650" y="596265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72650" y="6343650"/>
            <a:ext cx="48811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live on apperian flag — ~100 users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772650" y="67056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STAR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72650" y="7086600"/>
            <a:ext cx="72913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Top-50 intent parity validated against deterministic baseline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772650" y="744855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HARNESS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72650" y="7829550"/>
            <a:ext cx="618214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Monitoring, drift detection, &amp; rollback plan in place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72650" y="8191500"/>
            <a:ext cx="76916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9082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14500"/>
            <a:ext cx="166782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Partner team support — what we need, when.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609850"/>
            <a:ext cx="166782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300" spc="-33" kern="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partner teams sit on the critical path. The earliest two (ACE, Tachyon) must be confirmed before Day 1.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434340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87680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486275"/>
            <a:ext cx="2552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05250" y="4486275"/>
            <a:ext cx="66713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63250" y="4486275"/>
            <a:ext cx="35318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573250" y="4486275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DELAYED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6124575"/>
            <a:ext cx="16192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319713"/>
            <a:ext cx="2552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05250" y="5172075"/>
            <a:ext cx="6671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Dedicated support to enable repos and the CI/CD pipeline for supervisor + 7 sub-agents.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63250" y="5376863"/>
            <a:ext cx="35318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– D21 · 2–3 weeks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573250" y="5076825"/>
            <a:ext cx="274701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Blocks every build track. Phase 1 slips immediately.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7372350"/>
            <a:ext cx="16192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567488"/>
            <a:ext cx="2552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Tachyon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05250" y="6419850"/>
            <a:ext cx="6671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Keys provisioned for each agent and Arise spaces across all environments.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763250" y="6624638"/>
            <a:ext cx="35318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– D28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573250" y="6324600"/>
            <a:ext cx="274701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Sub-agents cannot be exercised end-to-end without keys.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8620125"/>
            <a:ext cx="16192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7815263"/>
            <a:ext cx="2552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905250" y="7667625"/>
            <a:ext cx="6671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ingestion support for sub-agent grounding sources and evaluation sets.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763250" y="7872413"/>
            <a:ext cx="35318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 – D45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573250" y="7572375"/>
            <a:ext cx="274701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Hub and Advice quality regress without grounding.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7750" y="9677400"/>
            <a:ext cx="16192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8967788"/>
            <a:ext cx="2552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 Ops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905250" y="8820150"/>
            <a:ext cx="6671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Expedited prod deploys after hard-gate sign-off — without the standard dark-mode release.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763250" y="9024938"/>
            <a:ext cx="35318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D75 – D90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573250" y="8867775"/>
            <a:ext cx="27470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push slips past the Aug 19 north star.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18136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14500"/>
            <a:ext cx="166782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team is pointed.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2609850"/>
            <a:ext cx="166782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300" spc="-33" kern="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workstreams running in parallel. Devin and Fargo absorb the most repetitive scaffolding so human effort goes to integration and quality.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4381500"/>
            <a:ext cx="5143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562475"/>
            <a:ext cx="52978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AGENTS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4914900"/>
            <a:ext cx="52978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Supervisor &amp; Intent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7750" y="5581650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75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supervisor instance, intent &amp; follow-up classifier, sub-agent prompts.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47750" y="6543675"/>
            <a:ext cx="5143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6648450"/>
            <a:ext cx="5297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ENG · ML PARTNER (PART-TIME)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72250" y="4381500"/>
            <a:ext cx="5143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250" y="4562475"/>
            <a:ext cx="52978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 LIFT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72250" y="4914900"/>
            <a:ext cx="52978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&amp; Widgets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572250" y="5581650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75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FAPI → Tool conversions and per-experience widget builders. Devin playbooks accelerate.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572250" y="6543675"/>
            <a:ext cx="5143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8" name="Text 16"/>
          <p:cNvSpPr/>
          <p:nvPr/>
        </p:nvSpPr>
        <p:spPr>
          <a:xfrm>
            <a:off x="6572250" y="6648450"/>
            <a:ext cx="5297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ENG · DEVIN PLAYBOOKS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96750" y="4381500"/>
            <a:ext cx="5143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96750" y="4562475"/>
            <a:ext cx="52978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096750" y="4914900"/>
            <a:ext cx="52978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chat-api &amp; orchestrator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096750" y="5581650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75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Apperian-flag routing, response-shape parity, latency &amp; observability work.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096750" y="6543675"/>
            <a:ext cx="5143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4" name="Text 22"/>
          <p:cNvSpPr/>
          <p:nvPr/>
        </p:nvSpPr>
        <p:spPr>
          <a:xfrm>
            <a:off x="12096750" y="6648450"/>
            <a:ext cx="5297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47750" y="7172325"/>
            <a:ext cx="5143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7353300"/>
            <a:ext cx="52978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47750" y="7705725"/>
            <a:ext cx="52978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harness &amp; eval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47750" y="8372475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75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Fargo agent-builder harness, eval sets, regression coverage, drift checks.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750" y="9334500"/>
            <a:ext cx="5143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9439275"/>
            <a:ext cx="5297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ENG · QA PARTNER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72250" y="7172325"/>
            <a:ext cx="5143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2" name="Text 30"/>
          <p:cNvSpPr/>
          <p:nvPr/>
        </p:nvSpPr>
        <p:spPr>
          <a:xfrm>
            <a:off x="6572250" y="7353300"/>
            <a:ext cx="52978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572250" y="7705725"/>
            <a:ext cx="52978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 &amp; partner ops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6572250" y="8372475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75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Drives ACE / Tachyon / ECM / Prod Ops. Owns the apperian flag plan and pilot.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6572250" y="9334500"/>
            <a:ext cx="5143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36" name="Text 34"/>
          <p:cNvSpPr/>
          <p:nvPr/>
        </p:nvSpPr>
        <p:spPr>
          <a:xfrm>
            <a:off x="6572250" y="9439275"/>
            <a:ext cx="5297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 · 1 TPM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096750" y="7172325"/>
            <a:ext cx="5143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8" name="Text 36"/>
          <p:cNvSpPr/>
          <p:nvPr/>
        </p:nvSpPr>
        <p:spPr>
          <a:xfrm>
            <a:off x="12096750" y="7353300"/>
            <a:ext cx="52978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CROSS-CUTTING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096750" y="7705725"/>
            <a:ext cx="52978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review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2096750" y="8372475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75" dirty="0">
                <a:solidFill>
                  <a:srgbClr val="292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Reviews, design alignment, security &amp; risk sign-off across all workstreams.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2096750" y="9334500"/>
            <a:ext cx="5143500" cy="9525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42" name="Text 40"/>
          <p:cNvSpPr/>
          <p:nvPr/>
        </p:nvSpPr>
        <p:spPr>
          <a:xfrm>
            <a:off x="12096750" y="9439275"/>
            <a:ext cx="5297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ARCHITECT · PART-TIME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81050"/>
            <a:ext cx="1619250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000125"/>
            <a:ext cx="33434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&amp; DEPENDENCIES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51870" y="10382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14500"/>
            <a:ext cx="166782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6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could move the Day-90 date.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00350"/>
            <a:ext cx="782955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019425"/>
            <a:ext cx="990600" cy="1857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28850" y="3019425"/>
            <a:ext cx="68479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 bandwidth slip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228850" y="3448050"/>
            <a:ext cx="68479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 / CI-CD enablement takes longer than the requested 2–3 weeks.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28850" y="4133850"/>
            <a:ext cx="31634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 · LOCK ACE BEFORE D1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0700" y="2800350"/>
            <a:ext cx="782955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12" name="Text 10"/>
          <p:cNvSpPr/>
          <p:nvPr/>
        </p:nvSpPr>
        <p:spPr>
          <a:xfrm>
            <a:off x="9410700" y="3019425"/>
            <a:ext cx="990600" cy="1857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91800" y="3019425"/>
            <a:ext cx="68479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effort underestimated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591800" y="3448050"/>
            <a:ext cx="68479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FAPI surface is larger / less typed than expected; per-Tool conversion cost rises.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91800" y="4133850"/>
            <a:ext cx="45018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 · DEVIN PLAYBOOK + SCOPE FREEZE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47750" y="5181600"/>
            <a:ext cx="782955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400675"/>
            <a:ext cx="990600" cy="1857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28850" y="5400675"/>
            <a:ext cx="68479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 classifier quality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2228850" y="5829300"/>
            <a:ext cx="68479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Probabilistic ML+LLM misroutes top-50 intents under live traffic patterns.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28850" y="6515100"/>
            <a:ext cx="40151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 · EVAL HARNESS + GUARDRAILS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410700" y="5181600"/>
            <a:ext cx="782955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22" name="Text 20"/>
          <p:cNvSpPr/>
          <p:nvPr/>
        </p:nvSpPr>
        <p:spPr>
          <a:xfrm>
            <a:off x="9410700" y="5400675"/>
            <a:ext cx="990600" cy="1857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91800" y="5400675"/>
            <a:ext cx="68479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builder fan-out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591800" y="5829300"/>
            <a:ext cx="68479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Per-experience widgets multiply quickly across the 7 domains.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91800" y="6219825"/>
            <a:ext cx="38935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 · SHARED BUILDER FRAMEWORK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47750" y="7562850"/>
            <a:ext cx="782955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7781925"/>
            <a:ext cx="990600" cy="1857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228850" y="7781925"/>
            <a:ext cx="68479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Expedited deploy denied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2228850" y="8210550"/>
            <a:ext cx="68479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 dark-mode release imposed despite hard-gate readiness.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228850" y="8896350"/>
            <a:ext cx="40151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 · PROD OPS ALIGNMENT BY D60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410700" y="7562850"/>
            <a:ext cx="7829550" cy="9525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32" name="Text 30"/>
          <p:cNvSpPr/>
          <p:nvPr/>
        </p:nvSpPr>
        <p:spPr>
          <a:xfrm>
            <a:off x="9410700" y="7781925"/>
            <a:ext cx="990600" cy="1857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91800" y="7781925"/>
            <a:ext cx="68479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spc="-22" kern="0" dirty="0">
                <a:solidFill>
                  <a:srgbClr val="1C19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Money Movement complexity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0591800" y="8210550"/>
            <a:ext cx="68479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78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Highest-risk domain compresses into the last two weeks of Phase 3.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591800" y="8896350"/>
            <a:ext cx="413686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 · KICK OFF DESIGN IN PHASE 2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733550"/>
            <a:ext cx="4183707" cy="9525"/>
          </a:xfrm>
          <a:prstGeom prst="rect">
            <a:avLst/>
          </a:prstGeom>
          <a:solidFill>
            <a:srgbClr val="3F3A35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952625"/>
            <a:ext cx="31881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90 · NORTH STAR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43077" y="19907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4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590800"/>
            <a:ext cx="1569720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400" b="1" spc="-210" kern="0" dirty="0">
                <a:solidFill>
                  <a:srgbClr val="FAFA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seven domains live behind the apperian flag. </a:t>
            </a:r>
            <a:pPr algn="l" indent="0" marL="0">
              <a:lnSpc>
                <a:spcPct val="96000"/>
              </a:lnSpc>
              <a:buNone/>
            </a:pPr>
            <a:r>
              <a:rPr lang="en-US" sz="8400" b="1" spc="-210" kern="0" dirty="0">
                <a:solidFill>
                  <a:srgbClr val="A8A2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~100 users. Parity on top-50 intents.</a:t>
            </a:r>
            <a:endParaRPr lang="en-US" sz="8400" dirty="0"/>
          </a:p>
        </p:txBody>
      </p:sp>
      <p:sp>
        <p:nvSpPr>
          <p:cNvPr id="6" name="Shape 4"/>
          <p:cNvSpPr/>
          <p:nvPr/>
        </p:nvSpPr>
        <p:spPr>
          <a:xfrm>
            <a:off x="1047750" y="7277100"/>
            <a:ext cx="14287500" cy="9525"/>
          </a:xfrm>
          <a:prstGeom prst="rect">
            <a:avLst/>
          </a:prstGeom>
          <a:solidFill>
            <a:srgbClr val="3F3A3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7553325"/>
            <a:ext cx="45914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 DATE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7924800"/>
            <a:ext cx="45914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AFA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 19, 2026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62650" y="7553325"/>
            <a:ext cx="45914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62650" y="7924800"/>
            <a:ext cx="459143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AFA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sub-agents · supervisor · probabilistic intent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877550" y="7553325"/>
            <a:ext cx="45914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 AGAINST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77550" y="7924800"/>
            <a:ext cx="459143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AFA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Top-50 intents · deterministic baseline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2026-05-22T14:28:12Z</dcterms:created>
  <dcterms:modified xsi:type="dcterms:W3CDTF">2026-05-22T14:28:12Z</dcterms:modified>
</cp:coreProperties>
</file>