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91440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972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DEMO OVERVIEW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150876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Virtual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48640" y="32918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Customer Scenarios · Agentic AI Capabilities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3794760"/>
            <a:ext cx="10972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deterministic flows to intelligent, context-aware conversations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4480560"/>
            <a:ext cx="2560320" cy="502920"/>
          </a:xfrm>
          <a:prstGeom prst="rect">
            <a:avLst/>
          </a:prstGeom>
          <a:solidFill>
            <a:srgbClr val="151D4A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48640" y="4480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</a:t>
            </a:r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Retail Banking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83280" y="4480560"/>
            <a:ext cx="2560320" cy="502920"/>
          </a:xfrm>
          <a:prstGeom prst="rect">
            <a:avLst/>
          </a:prstGeom>
          <a:solidFill>
            <a:srgbClr val="151D4A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383280" y="4480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</a:t>
            </a:r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Credit Card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17920" y="4480560"/>
            <a:ext cx="2560320" cy="502920"/>
          </a:xfrm>
          <a:prstGeom prst="rect">
            <a:avLst/>
          </a:prstGeom>
          <a:solidFill>
            <a:srgbClr val="151D4A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17920" y="4480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Fraud &amp; Security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Migration: What Changed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flows  →  Agentic intelligence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384048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Deterministic Bot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menu-driven flows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follow-up questions supported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lost on every new question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domain per session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queries → escalation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repeats themselves constantly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92040" y="118872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188720"/>
            <a:ext cx="384048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188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Agentic System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74920" y="173736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— any phrasing works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follow-up question support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retained across the session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cross-domain pivots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resolved intelligently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fluid, continuous conversation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79392" y="2606040"/>
            <a:ext cx="54864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24528" y="2423160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Demo Personas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scenario is designed to show a different dimension of agentic capability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43200" cy="3749040"/>
          </a:xfrm>
          <a:prstGeom prst="rect">
            <a:avLst/>
          </a:prstGeom>
          <a:solidFill>
            <a:srgbClr val="151D4A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618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" y="16276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  ·  Retail Banking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9933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11480" y="21762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Morning Check-In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542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11480" y="27249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feels off on her account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1272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COVERED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11480" y="33101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· Spending · Accounts · Money Movement · Fees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3822192"/>
            <a:ext cx="2468880" cy="82296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82219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Multi-account ambiguity resolution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18688" y="1143000"/>
            <a:ext cx="2743200" cy="3749040"/>
          </a:xfrm>
          <a:prstGeom prst="rect">
            <a:avLst/>
          </a:prstGeom>
          <a:solidFill>
            <a:srgbClr val="151D4A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18688" y="1143000"/>
            <a:ext cx="27432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12618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355848" y="16276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 ·  Credit Card User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55848" y="19933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355848" y="21762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Pre-Trip Card Check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55848" y="2542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355848" y="27249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ahead before travel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55848" y="31272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COVERED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355848" y="33101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· Transactions · Cards · Fees · Spending · Payments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55848" y="3822192"/>
            <a:ext cx="2468880" cy="822960"/>
          </a:xfrm>
          <a:prstGeom prst="rect">
            <a:avLst/>
          </a:prstGeom>
          <a:solidFill>
            <a:srgbClr val="F4A261">
              <a:alpha val="2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5848" y="382219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Forward-looking intent &amp; proactive disclosure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63056" y="1143000"/>
            <a:ext cx="2743200" cy="3749040"/>
          </a:xfrm>
          <a:prstGeom prst="rect">
            <a:avLst/>
          </a:prstGeom>
          <a:solidFill>
            <a:srgbClr val="151D4A"/>
          </a:solidFill>
          <a:ln w="19050">
            <a:solidFill>
              <a:srgbClr val="E05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63056" y="1143000"/>
            <a:ext cx="2743200" cy="54864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0216" y="12618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300216" y="16276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 ·  Credit Card User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00216" y="19933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300216" y="21762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Discovery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0216" y="2542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300216" y="27249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transaction notification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00216" y="31272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COVERED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300216" y="33101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· Cards · Dispute · Policy · Payments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00216" y="3822192"/>
            <a:ext cx="2468880" cy="822960"/>
          </a:xfrm>
          <a:prstGeom prst="rect">
            <a:avLst/>
          </a:prstGeom>
          <a:solidFill>
            <a:srgbClr val="E05A5A">
              <a:alpha val="20000"/>
            </a:srgbClr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0216" y="382219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High-stakes, emotionally charged session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"Sunday Morning Check-In"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8961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Utterance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94960" y="8961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Capability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859536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170432"/>
            <a:ext cx="8778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170432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49240" y="1234440"/>
            <a:ext cx="0" cy="0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170432"/>
            <a:ext cx="4663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"Did anything come out of my checking account this weekend?"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257800" y="1261872"/>
            <a:ext cx="36576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9240" y="1170432"/>
            <a:ext cx="3520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time inference — no date range prompt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82880" y="1682496"/>
            <a:ext cx="877824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168249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49240" y="1746504"/>
            <a:ext cx="0" cy="0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1682496"/>
            <a:ext cx="4663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"That $94 one — I don't recognize it. What's the full name of that merchant?"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257800" y="1773936"/>
            <a:ext cx="36576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9240" y="1682496"/>
            <a:ext cx="3520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Pronoun resolution — 'that one' understood without restatement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82880" y="2194560"/>
            <a:ext cx="8778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219456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49240" y="2258568"/>
            <a:ext cx="0" cy="0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2194560"/>
            <a:ext cx="4663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"Okay that's fine. How much have I spent on groceries this month overall?"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257800" y="2286000"/>
            <a:ext cx="36576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9240" y="2194560"/>
            <a:ext cx="3520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switch — account context carries forward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82880" y="2706624"/>
            <a:ext cx="877824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2706624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349240" y="2770632"/>
            <a:ext cx="0" cy="0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2706624"/>
            <a:ext cx="4663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"That's way more than I thought. Can I move $200 from savings to checking right now?"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257800" y="2798064"/>
            <a:ext cx="36576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2706624"/>
            <a:ext cx="3520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 → action transition within same session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82880" y="3218688"/>
            <a:ext cx="8778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3218688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349240" y="3282696"/>
            <a:ext cx="0" cy="0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" y="3218688"/>
            <a:ext cx="4663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will my savings balance be after that?"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257800" y="3310128"/>
            <a:ext cx="36576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49240" y="3218688"/>
            <a:ext cx="3520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calculation — uses amount already established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82880" y="3730752"/>
            <a:ext cx="877824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" y="3730752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349240" y="3794760"/>
            <a:ext cx="0" cy="0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" y="3730752"/>
            <a:ext cx="4663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"Also — I got charged a fee last month. I think it was on my card?"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257800" y="3822192"/>
            <a:ext cx="36576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49240" y="3730752"/>
            <a:ext cx="3520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cross-account query resolved without 'which account?' prompt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82880" y="4242816"/>
            <a:ext cx="8778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8600" y="424281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349240" y="4306824"/>
            <a:ext cx="0" cy="0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0352" y="4242816"/>
            <a:ext cx="4663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I get that waived? And how do I set up autopay so it doesn't happen again?"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257800" y="4334256"/>
            <a:ext cx="36576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49240" y="4242816"/>
            <a:ext cx="3520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intent — two actions resolved in one turn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"Pre-Trip Card Check"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8961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Utterance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94960" y="8961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Capability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8595360" cy="274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170432"/>
            <a:ext cx="8778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170432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49240" y="1234440"/>
            <a:ext cx="0" cy="0"/>
          </a:xfrm>
          <a:prstGeom prst="rect">
            <a:avLst/>
          </a:prstGeom>
          <a:solidFill>
            <a:srgbClr val="F4A261">
              <a:alpha val="1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170432"/>
            <a:ext cx="4663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many points do I have on my credit card?"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257800" y="1261872"/>
            <a:ext cx="36576" cy="2926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9240" y="1170432"/>
            <a:ext cx="3520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account inference — no card selection needed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82880" y="1682496"/>
            <a:ext cx="877824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168249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49240" y="1746504"/>
            <a:ext cx="0" cy="0"/>
          </a:xfrm>
          <a:prstGeom prst="rect">
            <a:avLst/>
          </a:prstGeom>
          <a:solidFill>
            <a:srgbClr val="F4A261">
              <a:alpha val="1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1682496"/>
            <a:ext cx="4663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purchases this month earned me the most points?"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257800" y="1773936"/>
            <a:ext cx="36576" cy="2926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9240" y="1682496"/>
            <a:ext cx="3520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retention — card and billing cycle carry forward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82880" y="2194560"/>
            <a:ext cx="8778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219456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49240" y="2258568"/>
            <a:ext cx="0" cy="0"/>
          </a:xfrm>
          <a:prstGeom prst="rect">
            <a:avLst/>
          </a:prstGeom>
          <a:solidFill>
            <a:srgbClr val="F4A261">
              <a:alpha val="1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2194560"/>
            <a:ext cx="4663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"I'm about to book a flight and hotel — around $3,000. Do I have enough credit?"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257800" y="2286000"/>
            <a:ext cx="36576" cy="2926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9240" y="2194560"/>
            <a:ext cx="3520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mapping — 'enough credit' resolved to available limit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82880" y="2706624"/>
            <a:ext cx="877824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2706624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349240" y="2770632"/>
            <a:ext cx="0" cy="0"/>
          </a:xfrm>
          <a:prstGeom prst="rect">
            <a:avLst/>
          </a:prstGeom>
          <a:solidFill>
            <a:srgbClr val="F4A261">
              <a:alpha val="1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2706624"/>
            <a:ext cx="4663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"Does this card charge foreign transaction fees?"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257800" y="2798064"/>
            <a:ext cx="36576" cy="2926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2706624"/>
            <a:ext cx="3520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within same card context — no re-identification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82880" y="3218688"/>
            <a:ext cx="8778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3218688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349240" y="3282696"/>
            <a:ext cx="0" cy="0"/>
          </a:xfrm>
          <a:prstGeom prst="rect">
            <a:avLst/>
          </a:prstGeom>
          <a:solidFill>
            <a:srgbClr val="F4A261">
              <a:alpha val="1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" y="3218688"/>
            <a:ext cx="4663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much have I spent on travel this year on this card?"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257800" y="3310128"/>
            <a:ext cx="36576" cy="2926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49240" y="3218688"/>
            <a:ext cx="3520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Time-horizon shift — expands from billing cycle to YTD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82880" y="3730752"/>
            <a:ext cx="877824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" y="3730752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349240" y="3794760"/>
            <a:ext cx="0" cy="0"/>
          </a:xfrm>
          <a:prstGeom prst="rect">
            <a:avLst/>
          </a:prstGeom>
          <a:solidFill>
            <a:srgbClr val="F4A261">
              <a:alpha val="1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" y="3730752"/>
            <a:ext cx="4663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"Actually, I just noticed a charge I don't recognize from last week — it's $47."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257800" y="3822192"/>
            <a:ext cx="36576" cy="2926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49240" y="3730752"/>
            <a:ext cx="3520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lookup — resolved by recency + amount alone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82880" y="4242816"/>
            <a:ext cx="8778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8600" y="424281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349240" y="4306824"/>
            <a:ext cx="0" cy="0"/>
          </a:xfrm>
          <a:prstGeom prst="rect">
            <a:avLst/>
          </a:prstGeom>
          <a:solidFill>
            <a:srgbClr val="F4A261">
              <a:alpha val="1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0352" y="4242816"/>
            <a:ext cx="4663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I schedule a payment of $500 toward my card balance for the 15th?"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257800" y="4334256"/>
            <a:ext cx="36576" cy="2926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49240" y="4242816"/>
            <a:ext cx="3520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account linking — funding account known from session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82880" y="4754880"/>
            <a:ext cx="877824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8600" y="475488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349240" y="4818888"/>
            <a:ext cx="0" cy="0"/>
          </a:xfrm>
          <a:prstGeom prst="rect">
            <a:avLst/>
          </a:prstGeom>
          <a:solidFill>
            <a:srgbClr val="F4A261">
              <a:alpha val="1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0352" y="4754880"/>
            <a:ext cx="4663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will my remaining balance be after that payment goes through?"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257800" y="4846320"/>
            <a:ext cx="36576" cy="2926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49240" y="4754880"/>
            <a:ext cx="3520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calculation — uses payment amount from prior turn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"Fraud Discovery"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8961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Utterance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94960" y="8961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Capability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8595360" cy="27432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170432"/>
            <a:ext cx="8778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170432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49240" y="1234440"/>
            <a:ext cx="0" cy="0"/>
          </a:xfrm>
          <a:prstGeom prst="rect">
            <a:avLst/>
          </a:prstGeom>
          <a:solidFill>
            <a:srgbClr val="E05A5A">
              <a:alpha val="15000"/>
            </a:srgbClr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170432"/>
            <a:ext cx="4663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just got a notification for a charge I didn't make — $138 at some electronics store."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257800" y="1261872"/>
            <a:ext cx="36576" cy="292608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9240" y="1170432"/>
            <a:ext cx="3520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recognition under stress — routed to fraud context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82880" y="1682496"/>
            <a:ext cx="877824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168249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49240" y="1746504"/>
            <a:ext cx="0" cy="0"/>
          </a:xfrm>
          <a:prstGeom prst="rect">
            <a:avLst/>
          </a:prstGeom>
          <a:solidFill>
            <a:srgbClr val="E05A5A">
              <a:alpha val="15000"/>
            </a:srgbClr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1682496"/>
            <a:ext cx="4663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"Yeah that's not me. Are there any other charges today I should know about?"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257800" y="1773936"/>
            <a:ext cx="36576" cy="292608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9240" y="1682496"/>
            <a:ext cx="3520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proactive scan — 'I should know about' interpreted in fraud context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82880" y="2194560"/>
            <a:ext cx="8778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219456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49240" y="2258568"/>
            <a:ext cx="0" cy="0"/>
          </a:xfrm>
          <a:prstGeom prst="rect">
            <a:avLst/>
          </a:prstGeom>
          <a:solidFill>
            <a:srgbClr val="E05A5A">
              <a:alpha val="15000"/>
            </a:srgbClr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2194560"/>
            <a:ext cx="4663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want to lock my card right now so nothing else goes through."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257800" y="2286000"/>
            <a:ext cx="36576" cy="292608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9240" y="2194560"/>
            <a:ext cx="3520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action execution — direct intent to immediate action, no menus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82880" y="2706624"/>
            <a:ext cx="877824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2706624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349240" y="2770632"/>
            <a:ext cx="0" cy="0"/>
          </a:xfrm>
          <a:prstGeom prst="rect">
            <a:avLst/>
          </a:prstGeom>
          <a:solidFill>
            <a:srgbClr val="E05A5A">
              <a:alpha val="15000"/>
            </a:srgbClr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2706624"/>
            <a:ext cx="4663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I dispute that charge — the $138 one?"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257800" y="2798064"/>
            <a:ext cx="36576" cy="292608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2706624"/>
            <a:ext cx="3520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Cross-turn reference resolution — 'that charge' tied back to utterance 1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82880" y="3218688"/>
            <a:ext cx="8778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3218688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349240" y="3282696"/>
            <a:ext cx="0" cy="0"/>
          </a:xfrm>
          <a:prstGeom prst="rect">
            <a:avLst/>
          </a:prstGeom>
          <a:solidFill>
            <a:srgbClr val="E05A5A">
              <a:alpha val="15000"/>
            </a:srgbClr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" y="3218688"/>
            <a:ext cx="4663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long will the dispute take and will I get my money back in the meantime?"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257800" y="3310128"/>
            <a:ext cx="36576" cy="292608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49240" y="3218688"/>
            <a:ext cx="3520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surfacing in context — answers the emotional subtext too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82880" y="3730752"/>
            <a:ext cx="877824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" y="3730752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349240" y="3794760"/>
            <a:ext cx="0" cy="0"/>
          </a:xfrm>
          <a:prstGeom prst="rect">
            <a:avLst/>
          </a:prstGeom>
          <a:solidFill>
            <a:srgbClr val="E05A5A">
              <a:alpha val="15000"/>
            </a:srgbClr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" y="3730752"/>
            <a:ext cx="4663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think my card was physically stolen. Can I get a new one sent to me?"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257800" y="3822192"/>
            <a:ext cx="36576" cy="292608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49240" y="3730752"/>
            <a:ext cx="3520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awareness — card already frozen; no repeated steps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82880" y="4242816"/>
            <a:ext cx="8778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8600" y="424281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349240" y="4306824"/>
            <a:ext cx="0" cy="0"/>
          </a:xfrm>
          <a:prstGeom prst="rect">
            <a:avLst/>
          </a:prstGeom>
          <a:solidFill>
            <a:srgbClr val="E05A5A">
              <a:alpha val="15000"/>
            </a:srgbClr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0352" y="4242816"/>
            <a:ext cx="4663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there any way to still use my card for online purchases while I wait?"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257800" y="4334256"/>
            <a:ext cx="36576" cy="292608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49240" y="4242816"/>
            <a:ext cx="3520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mobile-native solution — surfaces digital wallet option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82880" y="4754880"/>
            <a:ext cx="877824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8600" y="475488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349240" y="4818888"/>
            <a:ext cx="0" cy="0"/>
          </a:xfrm>
          <a:prstGeom prst="rect">
            <a:avLst/>
          </a:prstGeom>
          <a:solidFill>
            <a:srgbClr val="E05A5A">
              <a:alpha val="15000"/>
            </a:srgbClr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0352" y="4754880"/>
            <a:ext cx="4663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much have I spent on this card this month, just so I know what to expect?"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257800" y="4846320"/>
            <a:ext cx="36576" cy="292608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49240" y="4754880"/>
            <a:ext cx="35204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Full-circle coherence — disputed charge reflected in spending summary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Capabilities — At a Glance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capability is demonstrated at least once across the three scenarios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827532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7899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892040" y="10789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72200" y="10789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52360" y="10789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426464"/>
            <a:ext cx="8275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426464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Time Inference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00600" y="1426464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80760" y="1426464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60920" y="1426464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1728216"/>
            <a:ext cx="8275320" cy="301752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1728216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/ Reference Resolution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00600" y="1728216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80760" y="1728216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60920" y="1728216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2029968"/>
            <a:ext cx="8275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2029968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Context Switch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00600" y="2029968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80760" y="2029968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60920" y="2029968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11480" y="2331720"/>
            <a:ext cx="8275320" cy="301752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" y="2331720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 → Action Transition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00600" y="233172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80760" y="233172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60920" y="233172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11480" y="2633472"/>
            <a:ext cx="8275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" y="2633472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In-Session Calculation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00600" y="2633472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080760" y="2633472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60920" y="2633472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11480" y="2935224"/>
            <a:ext cx="8275320" cy="301752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" y="2935224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Disclosure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00600" y="2935224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080760" y="2935224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360920" y="2935224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11480" y="3236976"/>
            <a:ext cx="8275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1208" y="3236976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Multi-Account Resolution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00600" y="3236976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080760" y="3236976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360920" y="3236976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11480" y="3538728"/>
            <a:ext cx="8275320" cy="301752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1208" y="3538728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Intent Handling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800600" y="3538728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080760" y="3538728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360920" y="3538728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411480" y="3840480"/>
            <a:ext cx="8275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208" y="3840480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Action Execution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800600" y="384048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080760" y="384048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7360920" y="384048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411480" y="4142232"/>
            <a:ext cx="8275320" cy="301752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1208" y="4142232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Awareness Across Actions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800600" y="4142232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6080760" y="4142232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7360920" y="4142232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411480" y="4443984"/>
            <a:ext cx="8275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1208" y="4443984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Full-Circle Session Coherence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800600" y="4443984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6080760" y="4443984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7360920" y="4443984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Notes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sequencing &amp; talking points for the live demo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8321040" cy="1078992"/>
          </a:xfrm>
          <a:prstGeom prst="rect">
            <a:avLst/>
          </a:prstGeom>
          <a:solidFill>
            <a:srgbClr val="151D4A"/>
          </a:solidFill>
          <a:ln w="12700">
            <a:solidFill>
              <a:srgbClr val="E05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9844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234440" y="1417320"/>
            <a:ext cx="36576" cy="594360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2801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Sam (Fraud)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60020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with the highest-stakes scenario. Fraud is universally understood — every executive grasps the urgency immediately, regardless of technical background.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423160"/>
            <a:ext cx="8321040" cy="1078992"/>
          </a:xfrm>
          <a:prstGeom prst="rect">
            <a:avLst/>
          </a:prstGeom>
          <a:solidFill>
            <a:srgbClr val="151D4A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53288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234440" y="2651760"/>
            <a:ext cx="36576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5146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at the pivot moments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28346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utterances where context switches domain or a follow-up references a prior turn, pause briefly: "In the previous system, this is where the conversation would have broken."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657600"/>
            <a:ext cx="8321040" cy="1078992"/>
          </a:xfrm>
          <a:prstGeom prst="rect">
            <a:avLst/>
          </a:prstGeom>
          <a:solidFill>
            <a:srgbClr val="151D4A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376732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234440" y="3886200"/>
            <a:ext cx="36576" cy="5943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37490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with Maya (Resolution)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406908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Maya's fee waiver + autopay setup closes the loop on a relatable customer frustration. Leaves the audience with a tangible retention story.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Banking Virtual Assistant — Demo Scripts</dc:title>
  <dc:subject>PptxGenJS Presentation</dc:subject>
  <dc:creator>PptxGenJS</dc:creator>
  <cp:lastModifiedBy>PptxGenJS</cp:lastModifiedBy>
  <cp:revision>1</cp:revision>
  <dcterms:created xsi:type="dcterms:W3CDTF">2026-06-08T00:29:48Z</dcterms:created>
  <dcterms:modified xsi:type="dcterms:W3CDTF">2026-06-08T00:29:48Z</dcterms:modified>
</cp:coreProperties>
</file>